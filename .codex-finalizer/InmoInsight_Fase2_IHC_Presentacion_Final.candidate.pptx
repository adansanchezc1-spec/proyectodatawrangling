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1c3b99f5514de2" /><Relationship Type="http://schemas.openxmlformats.org/officeDocument/2006/relationships/extended-properties" Target="/docProps/app.xml" Id="Ra415fe6c98644096" /><Relationship Type="http://schemas.openxmlformats.org/officeDocument/2006/relationships/officeDocument" Target="/ppt/presentation.xml" Id="Rcef67883e2e04f71" /></Relationships>
</file>

<file path=ppt/presentation.xml><?xml version="1.0" encoding="utf-8"?>
<p:presentation xmlns:p="http://schemas.openxmlformats.org/presentationml/2006/main">
  <p:sldMasterIdLst>
    <p:sldMasterId xmlns:r="http://schemas.openxmlformats.org/officeDocument/2006/relationships" id="2147483648" r:id="Rd7c4b8f3f05e4fa5"/>
  </p:sldMasterIdLst>
  <p:notesMasterIdLst>
    <p:notesMasterId xmlns:r="http://schemas.openxmlformats.org/officeDocument/2006/relationships" r:id="R6a3da3fd280d4541"/>
  </p:notesMasterIdLst>
  <p:sldIdLst>
    <p:sldId xmlns:r="http://schemas.openxmlformats.org/officeDocument/2006/relationships" id="256" r:id="Rda4bc7fe53784614"/>
    <p:sldId xmlns:r="http://schemas.openxmlformats.org/officeDocument/2006/relationships" id="257" r:id="Rf892b67d5d16422e"/>
    <p:sldId xmlns:r="http://schemas.openxmlformats.org/officeDocument/2006/relationships" id="258" r:id="Rd1ab740d8b864007"/>
    <p:sldId xmlns:r="http://schemas.openxmlformats.org/officeDocument/2006/relationships" id="259" r:id="R0d62fc4452ff4a54"/>
    <p:sldId xmlns:r="http://schemas.openxmlformats.org/officeDocument/2006/relationships" id="260" r:id="Raa9c9f290f3f42af"/>
    <p:sldId xmlns:r="http://schemas.openxmlformats.org/officeDocument/2006/relationships" id="261" r:id="Rc6ce03484f71438f"/>
    <p:sldId xmlns:r="http://schemas.openxmlformats.org/officeDocument/2006/relationships" id="262" r:id="Ra3909e6132024752"/>
    <p:sldId xmlns:r="http://schemas.openxmlformats.org/officeDocument/2006/relationships" id="263" r:id="Re720a34f93dc45dc"/>
    <p:sldId xmlns:r="http://schemas.openxmlformats.org/officeDocument/2006/relationships" id="264" r:id="R7d375333eb5c48ee"/>
    <p:sldId xmlns:r="http://schemas.openxmlformats.org/officeDocument/2006/relationships" id="265" r:id="R0a251afabc5d4ede"/>
    <p:sldId xmlns:r="http://schemas.openxmlformats.org/officeDocument/2006/relationships" id="266" r:id="R14da814f13134034"/>
    <p:sldId xmlns:r="http://schemas.openxmlformats.org/officeDocument/2006/relationships" id="267" r:id="R6142847807384f35"/>
    <p:sldId xmlns:r="http://schemas.openxmlformats.org/officeDocument/2006/relationships" id="268" r:id="R55d2cf22d67946fe"/>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db73461806c4fd0" /><Relationship Type="http://schemas.openxmlformats.org/officeDocument/2006/relationships/slideMaster" Target="/ppt/slideMasters/slideMaster1.xml" Id="Rd7c4b8f3f05e4fa5" /><Relationship Type="http://schemas.openxmlformats.org/officeDocument/2006/relationships/notesMaster" Target="/ppt/notesMasters/notesMaster1.xml" Id="R6a3da3fd280d4541" /><Relationship Type="http://schemas.openxmlformats.org/officeDocument/2006/relationships/presProps" Target="/ppt/presProps.xml" Id="Ra3550b0b502f49d8" /><Relationship Type="http://schemas.openxmlformats.org/officeDocument/2006/relationships/viewProps" Target="/ppt/viewProps.xml" Id="R1f55d95aa96a420d" /><Relationship Type="http://schemas.openxmlformats.org/officeDocument/2006/relationships/tableStyles" Target="/ppt/tableStyles.xml" Id="R4c9ca1e0cd524896" /><Relationship Type="http://schemas.openxmlformats.org/officeDocument/2006/relationships/slide" Target="/ppt/slides/slide1.xml" Id="Rda4bc7fe53784614" /><Relationship Type="http://schemas.openxmlformats.org/officeDocument/2006/relationships/slide" Target="/ppt/slides/slide2.xml" Id="Rf892b67d5d16422e" /><Relationship Type="http://schemas.openxmlformats.org/officeDocument/2006/relationships/slide" Target="/ppt/slides/slide3.xml" Id="Rd1ab740d8b864007" /><Relationship Type="http://schemas.openxmlformats.org/officeDocument/2006/relationships/slide" Target="/ppt/slides/slide4.xml" Id="R0d62fc4452ff4a54" /><Relationship Type="http://schemas.openxmlformats.org/officeDocument/2006/relationships/slide" Target="/ppt/slides/slide5.xml" Id="Raa9c9f290f3f42af" /><Relationship Type="http://schemas.openxmlformats.org/officeDocument/2006/relationships/slide" Target="/ppt/slides/slide6.xml" Id="Rc6ce03484f71438f" /><Relationship Type="http://schemas.openxmlformats.org/officeDocument/2006/relationships/slide" Target="/ppt/slides/slide7.xml" Id="Ra3909e6132024752" /><Relationship Type="http://schemas.openxmlformats.org/officeDocument/2006/relationships/slide" Target="/ppt/slides/slide8.xml" Id="Re720a34f93dc45dc" /><Relationship Type="http://schemas.openxmlformats.org/officeDocument/2006/relationships/slide" Target="/ppt/slides/slide9.xml" Id="R7d375333eb5c48ee" /><Relationship Type="http://schemas.openxmlformats.org/officeDocument/2006/relationships/slide" Target="/ppt/slides/slide10.xml" Id="R0a251afabc5d4ede" /><Relationship Type="http://schemas.openxmlformats.org/officeDocument/2006/relationships/slide" Target="/ppt/slides/slide11.xml" Id="R14da814f13134034" /><Relationship Type="http://schemas.openxmlformats.org/officeDocument/2006/relationships/slide" Target="/ppt/slides/slide12.xml" Id="R6142847807384f35" /><Relationship Type="http://schemas.openxmlformats.org/officeDocument/2006/relationships/slide" Target="/ppt/slides/slide13.xml" Id="R55d2cf22d67946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926ce7282946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064fd1ab904d1c" /><Relationship Type="http://schemas.openxmlformats.org/officeDocument/2006/relationships/notesMaster" Target="/ppt/notesMasters/notesMaster1.xml" Id="R0481d399820c4f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e8a5d4ff6f40fd" /><Relationship Type="http://schemas.openxmlformats.org/officeDocument/2006/relationships/notesMaster" Target="/ppt/notesMasters/notesMaster1.xml" Id="Raf5e7f31385f42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b0b211495148b7" /><Relationship Type="http://schemas.openxmlformats.org/officeDocument/2006/relationships/notesMaster" Target="/ppt/notesMasters/notesMaster1.xml" Id="R0629ce28ba9441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41e0b8161e4f61" /><Relationship Type="http://schemas.openxmlformats.org/officeDocument/2006/relationships/notesMaster" Target="/ppt/notesMasters/notesMaster1.xml" Id="R66ca9749c0cd47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eca8cc036b4c79" /><Relationship Type="http://schemas.openxmlformats.org/officeDocument/2006/relationships/notesMaster" Target="/ppt/notesMasters/notesMaster1.xml" Id="R0cec1719d09243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5b7b18490d451b" /><Relationship Type="http://schemas.openxmlformats.org/officeDocument/2006/relationships/notesMaster" Target="/ppt/notesMasters/notesMaster1.xml" Id="Rbb8ec61f3b7c48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1c092e88f44ddc" /><Relationship Type="http://schemas.openxmlformats.org/officeDocument/2006/relationships/notesMaster" Target="/ppt/notesMasters/notesMaster1.xml" Id="R35356c6c5f914e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2d8dff8fe64976" /><Relationship Type="http://schemas.openxmlformats.org/officeDocument/2006/relationships/notesMaster" Target="/ppt/notesMasters/notesMaster1.xml" Id="R09adadcb60ad4e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d0a4307d4c4a99" /><Relationship Type="http://schemas.openxmlformats.org/officeDocument/2006/relationships/notesMaster" Target="/ppt/notesMasters/notesMaster1.xml" Id="Rdd2f22e6c74c42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d28b5b657043d1" /><Relationship Type="http://schemas.openxmlformats.org/officeDocument/2006/relationships/notesMaster" Target="/ppt/notesMasters/notesMaster1.xml" Id="R1092234161a041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c49757199c4c34" /><Relationship Type="http://schemas.openxmlformats.org/officeDocument/2006/relationships/notesMaster" Target="/ppt/notesMasters/notesMaster1.xml" Id="R583fca5726654e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d6b7cd6fa7489e" /><Relationship Type="http://schemas.openxmlformats.org/officeDocument/2006/relationships/notesMaster" Target="/ppt/notesMasters/notesMaster1.xml" Id="Rfd50ddd447104e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f4a23216e24a01" /><Relationship Type="http://schemas.openxmlformats.org/officeDocument/2006/relationships/notesMaster" Target="/ppt/notesMasters/notesMaster1.xml" Id="R42a8badfc64140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Buenos días. Presentamos la Fase 2 de InmoInsight Bogotá: el diseño de la interfaz bajo ISO 9241-210. En la Fase 1 se construyó el pipeline que valida y cura datos inmobiliarios; aquí diseñamos cómo una persona lo usa. Aclaración de honestidad desde el inicio: el prototipo y la evaluación heurística están hechos; las entrevistas y la prueba con usuarios están preparadas y pendientes, y así lo mostramos.</a:t>
            </a:r>
            <a:br/>
            <a:br/>
            <a:r>
              <a:t>Pregunta probable: ¿por qué un prototipo web si la interfaz actual es Tkinter? Respuesta: el prototipo es una herramienta de diseño para validar interacción antes de invertir en implementación; la decisión de arquitectura cliente queda para la Fase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Adoptamos ISO 9241-210: comprender el contexto, derivar requisitos, producir soluciones y evaluar, con retorno a cualquier etapa si la evidencia no basta. Estado real: contexto y requisitos se derivaron de documentos y código del proyecto; el prototipo está hecho; la evaluación es heurística de escritorio. Falta la evidencia humana: entrevistas y prueba con tres personas.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plan original mostraba respuestas de tres usuarios. El informe vigente aclara que esas sesiones no están respaldadas por registros, por eso no se usan. Lo que sí existe: una entrevista semiestructurada de 15 preguntas y un protocolo ético con consentimiento, anonimato (P01 a P03) y retiro libre. El siguiente paso es reclutar a tres voluntarios.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Estos perfiles salen de la propuesta de Fase 1 y del flujo de carga en Tkinter, no de entrevistas. Por eso no afirmamos frecuencia, nivel técnico, dispositivo ni entorno: son preguntas para las entrevistas. Lo que sí sabemos: la interfaz actual es de escritorio, con archivos locales, y no hay explorador facetado.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requisito se derivó de una regla verificable del código o de la vista actual, por ejemplo IngestionService.REQUIRED_COLUMNS con los seis atributos obligatorios. Cada uno trae un criterio de verificación que se probará con participantes. Ninguno se declara satisfecho todavía.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T1 es cargar y procesar: seleccionar, verificar archivo, configurar, confirmar, observar progreso y ver resultado, con ramas de error que conservan la selección. T2 es entender un rechazo: abrir detalle, leer etapa, regla y motivo, y decidir corregir en el origen, reintentar o dejar registro. Las frecuencias son estimaciones del equipo, por validar.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modelo conecta Archivo, Lote, Etapa, Registro, Hallazgo e Inventario maestro. Aplicamos la heurística 2 de Nielsen: reemplazamos los códigos G1 a G4 por nombres de etapa comprensibles. Advertencia: MDM y calidad siguen siendo términos por validar con participantes.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son capturas reales del prototipo HTML, que abre localmente en Chrome o Edge sin dependencias. Muestran el resumen, la selección de archivo, la asignación de columnas, la confirmación y el progreso en cuatro etapas. Los datos son de ejemplo y están marcados con la etiqueta Prototipo interactivo. No llama al pipeline, no lee filas reales ni guarda en el inventario.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Aplicamos las 10 heurísticas de Nielsen al prototipo con escala de 0 a 4. Resultado: 2 hallazgos graves, 6 menores y 2 cosméticos. H5 (prevención de errores) es el más importante: el prototipo comprueba extensión y tamaño, no que el contenido sea legible, y la casilla de mapeo no valida asignaciones. H8: los datos ficticios podrían confundirse con métricas reales. Esta inspección no sustituye la prueba con personas.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plan original incluía tasas y tiempos de una prueba con tres usuarios. El informe vigente aclara que no hay sesiones observadas, así que no presentamos esas cifras. Lo que sí presentamos es el diseño de la prueba: tres tareas, métricas con numerador y denominador, roles de facilitador y observador, y una hoja de resultados vacía a propósito. Con tres personas, los resultados serán indicios cualitativos, no estadística.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nombres de etapa legibles en lugar de G1 a G4. M2: los seis campos reales del servicio, incluidos baños, con los alias que el cargador reconoce; la versión anterior omitía baños y usaba alias no soportados. M3: el mensaje dice formato admitido, contenido aún sin validar, en vez de archivo legible. Estas son mejoras verificables en el artefacto, no mejoras medidas en eficacia ni satisfacción. Pendientes: M4 validar el mapeo obligatorio, M5 búsqueda y filtros guardados, M6 ruta de reintento.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 cierre de la Fase 2 estamos en prototipado y evaluación inicial. No afirmamos que la implementación esté terminada: existe una interfaz Tkinter y el prototipo web no está conectado al pipeline. Próximos pasos: entrevistas, tres pruebas moderadas, iterar los cambios de mayor prioridad y decidir qué pantallas pasan a la interfaz productiva.</a:t>
            </a:r>
            <a:br/>
            <a:br/>
            <a:r>
              <a:t>Pregunta probable: ¿el prototipo procesa datos reales? Respuesta: no; en esta fase valida interacción antes de gastar recursos de desarrollo. La integración es de la Fase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una buena arquitectura de datos pierde valor si la interfaz no dialoga con las personas. Lo aprendido: el prototipo debe coincidir con las reglas reales del cargador. Lo que falta: la evidencia con usuarios. No presentamos cifras de usabilidad porque aún no hay sesiones.</a:t>
            </a:r>
            <a:br/>
            <a:br/>
            <a:r>
              <a:t>Defensa. Heurística vs prueba: la heurística es una inspección analítica del equipo con los principios de Nielsen; la prueba es empírica con tareas y personas, y aún está pendiente. ¿Por qué iterativo si hay una sola vuelta? Porque la inspección ya cambió el prototipo (M1 a M3) y define M4 a M6 para el siguiente ciclo. Muchas gracias.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623543d77d49d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aec105d19b481e" /><Relationship Type="http://schemas.openxmlformats.org/officeDocument/2006/relationships/slideLayout" Target="/ppt/slideLayouts/slideLayout1.xml" Id="R6cc2ff432999432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c2ff432999432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300e52a62640b4" /><Relationship Type="http://schemas.openxmlformats.org/officeDocument/2006/relationships/notesSlide" Target="/ppt/notesSlides/notesSlide1.xml" Id="R1c20181563f244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83c55e1028448e" /><Relationship Type="http://schemas.openxmlformats.org/officeDocument/2006/relationships/notesSlide" Target="/ppt/notesSlides/notesSlide2.xml" Id="Rd79baf9d1c6f48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f379a941844867" /><Relationship Type="http://schemas.openxmlformats.org/officeDocument/2006/relationships/notesSlide" Target="/ppt/notesSlides/notesSlide3.xml" Id="R27153e1a8a8b4e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5a480a41bf4b9b" /><Relationship Type="http://schemas.openxmlformats.org/officeDocument/2006/relationships/notesSlide" Target="/ppt/notesSlides/notesSlide4.xml" Id="R9710cebf4cf248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d0e429af97470a" /><Relationship Type="http://schemas.openxmlformats.org/officeDocument/2006/relationships/notesSlide" Target="/ppt/notesSlides/notesSlide5.xml" Id="R0b8d87e6bdb140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7fcbce080a47c2" /><Relationship Type="http://schemas.openxmlformats.org/officeDocument/2006/relationships/notesSlide" Target="/ppt/notesSlides/notesSlide6.xml" Id="Rdd7c19fac35946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634d1aabb44571" /><Relationship Type="http://schemas.openxmlformats.org/officeDocument/2006/relationships/notesSlide" Target="/ppt/notesSlides/notesSlide7.xml" Id="R6f2cade2c53f40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c9ded666bf4a37" /><Relationship Type="http://schemas.openxmlformats.org/officeDocument/2006/relationships/image" Target="/ppt/media/image.png" Id="R6cb3d75581bb4473" /><Relationship Type="http://schemas.openxmlformats.org/officeDocument/2006/relationships/image" Target="/ppt/media/image2.png" Id="R5f0f6b23ddc1483f" /><Relationship Type="http://schemas.openxmlformats.org/officeDocument/2006/relationships/image" Target="/ppt/media/image3.png" Id="R6f07d7002e5d41a0" /><Relationship Type="http://schemas.openxmlformats.org/officeDocument/2006/relationships/image" Target="/ppt/media/image4.png" Id="R919bc9ff3883435f" /><Relationship Type="http://schemas.openxmlformats.org/officeDocument/2006/relationships/image" Target="/ppt/media/image5.png" Id="R92d9b350c3db4676" /><Relationship Type="http://schemas.openxmlformats.org/officeDocument/2006/relationships/notesSlide" Target="/ppt/notesSlides/notesSlide8.xml" Id="R8434cfa8773b47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dda29bbd9640ad" /><Relationship Type="http://schemas.openxmlformats.org/officeDocument/2006/relationships/chart" Target="/ppt/slides/charts/chart1.xml" Id="Rdd8273d42ab444e2" /><Relationship Type="http://schemas.openxmlformats.org/officeDocument/2006/relationships/notesSlide" Target="/ppt/notesSlides/notesSlide9.xml" Id="R124551160d1d40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4de623ad9614eb7" /><Relationship Type="http://schemas.openxmlformats.org/officeDocument/2006/relationships/notesSlide" Target="/ppt/notesSlides/notesSlide10.xml" Id="R2f5d731ae53c40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d671f8aa6ef4265" /><Relationship Type="http://schemas.openxmlformats.org/officeDocument/2006/relationships/image" Target="/ppt/media/image6.png" Id="R68303928637b4a9f" /><Relationship Type="http://schemas.openxmlformats.org/officeDocument/2006/relationships/image" Target="/ppt/media/image7.png" Id="Rd9ded97845774285" /><Relationship Type="http://schemas.openxmlformats.org/officeDocument/2006/relationships/image" Target="/ppt/media/image8.png" Id="Rd24a513d0b774677" /><Relationship Type="http://schemas.openxmlformats.org/officeDocument/2006/relationships/notesSlide" Target="/ppt/notesSlides/notesSlide11.xml" Id="R4df7cd3fd73a46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b0d927126a4f75" /><Relationship Type="http://schemas.openxmlformats.org/officeDocument/2006/relationships/notesSlide" Target="/ppt/notesSlides/notesSlide12.xml" Id="Rae55215e8a844a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5f2e3f660c4ea1" /><Relationship Type="http://schemas.openxmlformats.org/officeDocument/2006/relationships/notesSlide" Target="/ppt/notesSlides/notesSlide13.xml" Id="R85bbd4905cbf4b8e" /></Relationships>
</file>

<file path=ppt/slides/charts/chart1.xml><?xml version="1.0" encoding="utf-8"?>
<c:chartSpace xmlns:c="http://schemas.openxmlformats.org/drawingml/2006/chart">
  <c:lang val="en-US"/>
  <c:roundedCorners val="1"/>
  <c:chart>
    <c:title>
      <c:tx>
        <c:rich>
          <a:bodyPr xmlns:a="http://schemas.openxmlformats.org/drawingml/2006/main"/>
          <a:lstStyle xmlns:a="http://schemas.openxmlformats.org/drawingml/2006/main"/>
          <a:p xmlns:a="http://schemas.openxmlformats.org/drawingml/2006/main">
            <a:r>
              <a:rPr sz="1400" b="0" i="0" u="none" strike="noStrike">
                <a:solidFill>
                  <a:srgbClr val="1E2925"/>
                </a:solidFill>
                <a:latin typeface="Arial"/>
                <a:ea typeface="Arial"/>
                <a:cs typeface="Arial"/>
              </a:rPr>
              <a:t>Hallazgos por gravedad</a:t>
            </a:r>
          </a:p>
        </c:rich>
      </c:tx>
      <c:overlay val="0"/>
      <c:txPr>
        <a:bodyPr xmlns:a="http://schemas.openxmlformats.org/drawingml/2006/main" anchorCtr="1"/>
        <a:lstStyle xmlns:a="http://schemas.openxmlformats.org/drawingml/2006/main"/>
        <a:p xmlns:a="http://schemas.openxmlformats.org/drawingml/2006/main">
          <a:pPr>
            <a:defRPr sz="1400" b="0" i="0" u="none" strike="noStrike">
              <a:solidFill>
                <a:srgbClr val="1E2925"/>
              </a:solidFill>
              <a:latin typeface="Arial"/>
              <a:ea typeface="Arial"/>
              <a:cs typeface="Arial"/>
            </a:defRPr>
          </a:pPr>
        </a:p>
      </c:txPr>
    </c:title>
    <c:autoTitleDeleted val="0"/>
    <c:plotArea>
      <c:barChart>
        <c:barDir val="col"/>
        <c:grouping val="clustered"/>
        <c:varyColors val="0"/>
        <c:ser>
          <c:idx val="0"/>
          <c:order val="0"/>
          <c:tx>
            <c:strRef>
              <c:f>Sheet1!$B$1</c:f>
              <c:strCache>
                <c:ptCount val="1"/>
                <c:pt idx="0">
                  <c:v>Hallazgos</c:v>
                </c:pt>
              </c:strCache>
            </c:strRef>
          </c:tx>
          <c:spPr>
            <a:solidFill xmlns:a="http://schemas.openxmlformats.org/drawingml/2006/main">
              <a:srgbClr val="176B4B"/>
            </a:solidFill>
          </c:spPr>
          <c:invertIfNegative val="0"/>
          <c:dLbls>
            <c:numFmt formatCode="#,##0" sourceLinked="0"/>
            <c:txPr>
              <a:bodyPr xmlns:a="http://schemas.openxmlformats.org/drawingml/2006/main" anchorCtr="1"/>
              <a:lstStyle xmlns:a="http://schemas.openxmlformats.org/drawingml/2006/main"/>
              <a:p xmlns:a="http://schemas.openxmlformats.org/drawingml/2006/main">
                <a:pPr>
                  <a:defRPr sz="1400" b="0" i="0" u="none" strike="noStrike">
                    <a:solidFill>
                      <a:srgbClr val="000000"/>
                    </a:solidFill>
                    <a:latin typeface="Arial"/>
                    <a:ea typeface="Arial"/>
                    <a:cs typeface="Arial"/>
                  </a:defRPr>
                </a:pPr>
              </a:p>
            </c:txPr>
            <c:showLegendKey val="0"/>
            <c:showVal val="1"/>
            <c:showCatName val="0"/>
            <c:showSerName val="0"/>
            <c:showPercent val="0"/>
            <c:showBubbleSize val="0"/>
            <c:showLeaderLines val="0"/>
          </c:dLbls>
          <c:cat>
            <c:strRef>
              <c:f>Sheet1!$A$2:$A$4</c:f>
              <c:strCache>
                <c:ptCount val="3"/>
                <c:pt idx="0">
                  <c:v>Gravedad 1 (cosmético)</c:v>
                </c:pt>
                <c:pt idx="1">
                  <c:v>Gravedad 2 (menor)</c:v>
                </c:pt>
                <c:pt idx="2">
                  <c:v>Gravedad 3 (grave)</c:v>
                </c:pt>
              </c:strCache>
            </c:strRef>
          </c:cat>
          <c:val>
            <c:numRef>
              <c:f>Sheet1!$B$2:$B$4</c:f>
              <c:numCache>
                <c:formatCode>General</c:formatCode>
                <c:ptCount val="3"/>
                <c:pt idx="0">
                  <c:v>2</c:v>
                </c:pt>
                <c:pt idx="1">
                  <c:v>6</c:v>
                </c:pt>
                <c:pt idx="2">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00" b="0" i="0" u="none" strike="noStrike">
                  <a:solidFill>
                    <a:srgbClr val="000000"/>
                  </a:solidFill>
                  <a:latin typeface="Arial"/>
                  <a:ea typeface="Arial"/>
                  <a:cs typeface="Arial"/>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100" b="0" i="0" u="none" strike="noStrike">
                <a:solidFill>
                  <a:srgbClr val="000000"/>
                </a:solidFill>
                <a:latin typeface="Arial"/>
                <a:ea typeface="Arial"/>
                <a:cs typeface="Arial"/>
              </a:defRPr>
            </a:pPr>
          </a:p>
        </c:txPr>
        <c:crossAx val="2094734552"/>
        <c:crosses val="autoZero"/>
        <c:lblAlgn val="ctr"/>
        <c:noMultiLvlLbl val="1"/>
      </c:catAx>
      <c:valAx>
        <c:axId val="2094734552"/>
        <c:scaling>
          <c:orientation val="minMax"/>
        </c:scaling>
        <c:delete val="1"/>
        <c:axPos val="l"/>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strike="noStrike">
                <a:solidFill>
                  <a:srgbClr val="000000"/>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dispBlanksAs val="span"/>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18392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8A345C2-0346-441D-ABAA-98872524224D}"/>
              </a:ext>
            </a:extLst>
          </p:cNvPr>
          <p:cNvSpPr>
            <a:spLocks xmlns:a="http://schemas.openxmlformats.org/drawingml/2006/main" noGrp="1"/>
          </p:cNvSpPr>
          <p:nvPr/>
        </p:nvSpPr>
        <p:spPr>
          <a:xfrm xmlns:a="http://schemas.openxmlformats.org/drawingml/2006/main">
            <a:off x="640080" y="640080"/>
            <a:ext cx="640080" cy="640080"/>
          </a:xfrm>
          <a:prstGeom xmlns:a="http://schemas.openxmlformats.org/drawingml/2006/main" prst="roundRect">
            <a:avLst>
              <a:gd name="adj" fmla="val 21429"/>
            </a:avLst>
          </a:prstGeom>
          <a:solidFill xmlns:a="http://schemas.openxmlformats.org/drawingml/2006/main">
            <a:srgbClr val="D6A64A"/>
          </a:solidFill>
          <a:ln xmlns:a="http://schemas.openxmlformats.org/drawingml/2006/main" w="12700">
            <a:solidFill>
              <a:srgbClr val="D6A64A"/>
            </a:solidFill>
            <a:prstDash val="solid"/>
          </a:ln>
        </p:spPr>
      </p:sp>
      <p:sp>
        <p:nvSpPr>
          <p:cNvPr id="3" name="Text 1">
            <a:extLst xmlns:a="http://schemas.openxmlformats.org/drawingml/2006/main">
              <a:ext uri="{FF2B5EF4-FFF2-40B4-BE49-F238E27FC236}">
                <a16:creationId xmlns:a16="http://schemas.microsoft.com/office/drawing/2014/main" id="{7F9C5620-6972-43AC-B658-0C658872BE9D}"/>
              </a:ext>
            </a:extLst>
          </p:cNvPr>
          <p:cNvSpPr>
            <a:spLocks xmlns:a="http://schemas.openxmlformats.org/drawingml/2006/main" noGrp="1"/>
          </p:cNvSpPr>
          <p:nvPr/>
        </p:nvSpPr>
        <p:spPr>
          <a:xfrm xmlns:a="http://schemas.openxmlformats.org/drawingml/2006/main">
            <a:off x="640080" y="640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8392D"/>
                </a:solidFill>
                <a:latin typeface="Cambria"/>
                <a:ea typeface="Cambria"/>
                <a:cs typeface="Cambria"/>
              </a:rPr>
              <a:t>I</a:t>
            </a:r>
            <a:endParaRPr sz="3000"/>
          </a:p>
        </p:txBody>
      </p:sp>
      <p:sp>
        <p:nvSpPr>
          <p:cNvPr id="4" name="Text 2">
            <a:extLst xmlns:a="http://schemas.openxmlformats.org/drawingml/2006/main">
              <a:ext uri="{FF2B5EF4-FFF2-40B4-BE49-F238E27FC236}">
                <a16:creationId xmlns:a16="http://schemas.microsoft.com/office/drawing/2014/main" id="{DF22A4D1-2F2D-40B0-B07C-5284F1B865B9}"/>
              </a:ext>
            </a:extLst>
          </p:cNvPr>
          <p:cNvSpPr>
            <a:spLocks xmlns:a="http://schemas.openxmlformats.org/drawingml/2006/main" noGrp="1"/>
          </p:cNvSpPr>
          <p:nvPr/>
        </p:nvSpPr>
        <p:spPr>
          <a:xfrm xmlns:a="http://schemas.openxmlformats.org/drawingml/2006/main">
            <a:off x="1463040" y="7772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B7C9BF"/>
                </a:solidFill>
                <a:latin typeface="Calibri"/>
                <a:ea typeface="Calibri"/>
                <a:cs typeface="Calibri"/>
              </a:rPr>
              <a:t>Sustentación Fase 2 · Diseño centrado en las personas</a:t>
            </a:r>
            <a:endParaRPr sz="1600"/>
          </a:p>
        </p:txBody>
      </p:sp>
      <p:sp>
        <p:nvSpPr>
          <p:cNvPr id="5" name="Text 3">
            <a:extLst xmlns:a="http://schemas.openxmlformats.org/drawingml/2006/main">
              <a:ext uri="{FF2B5EF4-FFF2-40B4-BE49-F238E27FC236}">
                <a16:creationId xmlns:a16="http://schemas.microsoft.com/office/drawing/2014/main" id="{BE1DA1C3-582F-4051-A388-C2110E312812}"/>
              </a:ext>
            </a:extLst>
          </p:cNvPr>
          <p:cNvSpPr>
            <a:spLocks xmlns:a="http://schemas.openxmlformats.org/drawingml/2006/main" noGrp="1"/>
          </p:cNvSpPr>
          <p:nvPr/>
        </p:nvSpPr>
        <p:spPr>
          <a:xfrm xmlns:a="http://schemas.openxmlformats.org/drawingml/2006/main">
            <a:off x="640080" y="2011680"/>
            <a:ext cx="105156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5400" b="1">
                <a:solidFill>
                  <a:srgbClr val="FFFFFF"/>
                </a:solidFill>
                <a:latin typeface="Cambria"/>
                <a:ea typeface="Cambria"/>
                <a:cs typeface="Cambria"/>
              </a:rPr>
              <a:t>InmoInsight Bogotá</a:t>
            </a:r>
            <a:endParaRPr sz="5400"/>
          </a:p>
        </p:txBody>
      </p:sp>
      <p:sp>
        <p:nvSpPr>
          <p:cNvPr id="6" name="Text 4">
            <a:extLst xmlns:a="http://schemas.openxmlformats.org/drawingml/2006/main">
              <a:ext uri="{FF2B5EF4-FFF2-40B4-BE49-F238E27FC236}">
                <a16:creationId xmlns:a16="http://schemas.microsoft.com/office/drawing/2014/main" id="{91EA0269-7EAC-40A4-81E4-01D208B1DB72}"/>
              </a:ext>
            </a:extLst>
          </p:cNvPr>
          <p:cNvSpPr>
            <a:spLocks xmlns:a="http://schemas.openxmlformats.org/drawingml/2006/main" noGrp="1"/>
          </p:cNvSpPr>
          <p:nvPr/>
        </p:nvSpPr>
        <p:spPr>
          <a:xfrm xmlns:a="http://schemas.openxmlformats.org/drawingml/2006/main">
            <a:off x="640080" y="3108960"/>
            <a:ext cx="86868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DBE8E0"/>
                </a:solidFill>
                <a:latin typeface="Calibri"/>
                <a:ea typeface="Calibri"/>
                <a:cs typeface="Calibri"/>
              </a:rPr>
              <a:t>Interfaz para curar y consultar datos inmobiliarios: del pipeline técnico a una experiencia comprensible</a:t>
            </a:r>
            <a:endParaRPr sz="2200"/>
          </a:p>
        </p:txBody>
      </p:sp>
      <p:sp>
        <p:nvSpPr>
          <p:cNvPr id="7" name="Text 5">
            <a:extLst xmlns:a="http://schemas.openxmlformats.org/drawingml/2006/main">
              <a:ext uri="{FF2B5EF4-FFF2-40B4-BE49-F238E27FC236}">
                <a16:creationId xmlns:a16="http://schemas.microsoft.com/office/drawing/2014/main" id="{40296811-0041-4C0D-8D14-B0D7646F3592}"/>
              </a:ext>
            </a:extLst>
          </p:cNvPr>
          <p:cNvSpPr>
            <a:spLocks xmlns:a="http://schemas.openxmlformats.org/drawingml/2006/main" noGrp="1"/>
          </p:cNvSpPr>
          <p:nvPr/>
        </p:nvSpPr>
        <p:spPr>
          <a:xfrm xmlns:a="http://schemas.openxmlformats.org/drawingml/2006/main">
            <a:off x="640080" y="4480560"/>
            <a:ext cx="2560320" cy="365760"/>
          </a:xfrm>
          <a:prstGeom xmlns:a="http://schemas.openxmlformats.org/drawingml/2006/main" prst="roundRect">
            <a:avLst>
              <a:gd name="adj" fmla="val 50000"/>
            </a:avLst>
          </a:prstGeom>
          <a:solidFill xmlns:a="http://schemas.openxmlformats.org/drawingml/2006/main">
            <a:srgbClr val="2A514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FFFFFF"/>
                </a:solidFill>
                <a:latin typeface="Calibri"/>
                <a:ea typeface="Calibri"/>
                <a:cs typeface="Calibri"/>
              </a:rPr>
              <a:t>ISO 9241-210</a:t>
            </a:r>
            <a:endParaRPr sz="1300"/>
          </a:p>
        </p:txBody>
      </p:sp>
      <p:sp>
        <p:nvSpPr>
          <p:cNvPr id="8" name="Text 6">
            <a:extLst xmlns:a="http://schemas.openxmlformats.org/drawingml/2006/main">
              <a:ext uri="{FF2B5EF4-FFF2-40B4-BE49-F238E27FC236}">
                <a16:creationId xmlns:a16="http://schemas.microsoft.com/office/drawing/2014/main" id="{0D165E95-C99C-43CB-9AB4-600D0437A980}"/>
              </a:ext>
            </a:extLst>
          </p:cNvPr>
          <p:cNvSpPr>
            <a:spLocks xmlns:a="http://schemas.openxmlformats.org/drawingml/2006/main" noGrp="1"/>
          </p:cNvSpPr>
          <p:nvPr/>
        </p:nvSpPr>
        <p:spPr>
          <a:xfrm xmlns:a="http://schemas.openxmlformats.org/drawingml/2006/main">
            <a:off x="3383280" y="4480560"/>
            <a:ext cx="2560320" cy="365760"/>
          </a:xfrm>
          <a:prstGeom xmlns:a="http://schemas.openxmlformats.org/drawingml/2006/main" prst="roundRect">
            <a:avLst>
              <a:gd name="adj" fmla="val 50000"/>
            </a:avLst>
          </a:prstGeom>
          <a:solidFill xmlns:a="http://schemas.openxmlformats.org/drawingml/2006/main">
            <a:srgbClr val="2A514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FFFFFF"/>
                </a:solidFill>
                <a:latin typeface="Calibri"/>
                <a:ea typeface="Calibri"/>
                <a:cs typeface="Calibri"/>
              </a:rPr>
              <a:t>Prototipo navegable · 10 pantallas</a:t>
            </a:r>
            <a:endParaRPr sz="1300"/>
          </a:p>
        </p:txBody>
      </p:sp>
      <p:sp>
        <p:nvSpPr>
          <p:cNvPr id="9" name="Text 7">
            <a:extLst xmlns:a="http://schemas.openxmlformats.org/drawingml/2006/main">
              <a:ext uri="{FF2B5EF4-FFF2-40B4-BE49-F238E27FC236}">
                <a16:creationId xmlns:a16="http://schemas.microsoft.com/office/drawing/2014/main" id="{4000D2A4-1518-4508-8252-CEA10FAFF493}"/>
              </a:ext>
            </a:extLst>
          </p:cNvPr>
          <p:cNvSpPr>
            <a:spLocks xmlns:a="http://schemas.openxmlformats.org/drawingml/2006/main" noGrp="1"/>
          </p:cNvSpPr>
          <p:nvPr/>
        </p:nvSpPr>
        <p:spPr>
          <a:xfrm xmlns:a="http://schemas.openxmlformats.org/drawingml/2006/main">
            <a:off x="6126480" y="4480560"/>
            <a:ext cx="2560320" cy="365760"/>
          </a:xfrm>
          <a:prstGeom xmlns:a="http://schemas.openxmlformats.org/drawingml/2006/main" prst="roundRect">
            <a:avLst>
              <a:gd name="adj" fmla="val 50000"/>
            </a:avLst>
          </a:prstGeom>
          <a:solidFill xmlns:a="http://schemas.openxmlformats.org/drawingml/2006/main">
            <a:srgbClr val="2A514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FFFFFF"/>
                </a:solidFill>
                <a:latin typeface="Calibri"/>
                <a:ea typeface="Calibri"/>
                <a:cs typeface="Calibri"/>
              </a:rPr>
              <a:t>Evaluación heurística</a:t>
            </a:r>
            <a:endParaRPr sz="1300"/>
          </a:p>
        </p:txBody>
      </p:sp>
      <p:sp>
        <p:nvSpPr>
          <p:cNvPr id="10" name="Text 8">
            <a:extLst xmlns:a="http://schemas.openxmlformats.org/drawingml/2006/main">
              <a:ext uri="{FF2B5EF4-FFF2-40B4-BE49-F238E27FC236}">
                <a16:creationId xmlns:a16="http://schemas.microsoft.com/office/drawing/2014/main" id="{82F7947C-B744-4640-A2D3-C23699939D06}"/>
              </a:ext>
            </a:extLst>
          </p:cNvPr>
          <p:cNvSpPr>
            <a:spLocks xmlns:a="http://schemas.openxmlformats.org/drawingml/2006/main" noGrp="1"/>
          </p:cNvSpPr>
          <p:nvPr/>
        </p:nvSpPr>
        <p:spPr>
          <a:xfrm xmlns:a="http://schemas.openxmlformats.org/drawingml/2006/main">
            <a:off x="640080" y="576072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FFFFFF"/>
                </a:solidFill>
                <a:latin typeface="Calibri"/>
                <a:ea typeface="Calibri"/>
                <a:cs typeface="Calibri"/>
              </a:rPr>
              <a:t>Adán Y. Sánchez Cubillos · Sara Sofía Crespo Lerma</a:t>
            </a:r>
            <a:endParaRPr sz="1600"/>
          </a:p>
        </p:txBody>
      </p:sp>
      <p:sp>
        <p:nvSpPr>
          <p:cNvPr id="11" name="Text 9">
            <a:extLst xmlns:a="http://schemas.openxmlformats.org/drawingml/2006/main">
              <a:ext uri="{FF2B5EF4-FFF2-40B4-BE49-F238E27FC236}">
                <a16:creationId xmlns:a16="http://schemas.microsoft.com/office/drawing/2014/main" id="{5DB630E7-0447-4D09-AE92-3C79CB7D0EF9}"/>
              </a:ext>
            </a:extLst>
          </p:cNvPr>
          <p:cNvSpPr>
            <a:spLocks xmlns:a="http://schemas.openxmlformats.org/drawingml/2006/main" noGrp="1"/>
          </p:cNvSpPr>
          <p:nvPr/>
        </p:nvSpPr>
        <p:spPr>
          <a:xfrm xmlns:a="http://schemas.openxmlformats.org/drawingml/2006/main">
            <a:off x="640080" y="6108192"/>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B7C9BF"/>
                </a:solidFill>
                <a:latin typeface="Calibri"/>
                <a:ea typeface="Calibri"/>
                <a:cs typeface="Calibri"/>
              </a:rPr>
              <a:t>Interacción Humano-Computador · Universidad de La Salle · Septiembre de 2026</a:t>
            </a:r>
            <a:endParaRPr sz="1300"/>
          </a:p>
        </p:txBody>
      </p:sp>
    </p:spTree>
    <p:extLst>
      <p:ext uri="{BB962C8B-B14F-4D97-AF65-F5344CB8AC3E}">
        <p14:creationId xmlns:p14="http://schemas.microsoft.com/office/powerpoint/2010/main" val="210811976"/>
      </p:ext>
    </p:extLst>
  </p:cSld>
</p:sld>
</file>

<file path=ppt/slides/slide2.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1A3A4E-4259-4B7F-8D4B-F131C9B87E30}"/>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MARCO METODOLÓGICO · ISO 9241-210</a:t>
            </a:r>
            <a:endParaRPr sz="1200"/>
          </a:p>
        </p:txBody>
      </p:sp>
      <p:sp>
        <p:nvSpPr>
          <p:cNvPr id="3" name="Text 1">
            <a:extLst xmlns:a="http://schemas.openxmlformats.org/drawingml/2006/main">
              <a:ext uri="{FF2B5EF4-FFF2-40B4-BE49-F238E27FC236}">
                <a16:creationId xmlns:a16="http://schemas.microsoft.com/office/drawing/2014/main" id="{B50A53D6-49A1-4A57-9D7E-994A25ED4657}"/>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El diseño centrado en las personas es un ciclo, no una línea</a:t>
            </a:r>
            <a:endParaRPr sz="3000"/>
          </a:p>
        </p:txBody>
      </p:sp>
      <p:sp>
        <p:nvSpPr>
          <p:cNvPr id="4" name="Text 2">
            <a:extLst xmlns:a="http://schemas.openxmlformats.org/drawingml/2006/main">
              <a:ext uri="{FF2B5EF4-FFF2-40B4-BE49-F238E27FC236}">
                <a16:creationId xmlns:a16="http://schemas.microsoft.com/office/drawing/2014/main" id="{362F6C8D-28E3-4CDB-B2C2-7518D1BABE09}"/>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2 / 13</a:t>
            </a:r>
            <a:endParaRPr sz="1000"/>
          </a:p>
        </p:txBody>
      </p:sp>
      <p:sp>
        <p:nvSpPr>
          <p:cNvPr id="5" name="Text 3">
            <a:extLst xmlns:a="http://schemas.openxmlformats.org/drawingml/2006/main">
              <a:ext uri="{FF2B5EF4-FFF2-40B4-BE49-F238E27FC236}">
                <a16:creationId xmlns:a16="http://schemas.microsoft.com/office/drawing/2014/main" id="{08D82CF3-18F7-4859-A280-3A92EEC394F6}"/>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Shape 4">
            <a:extLst xmlns:a="http://schemas.openxmlformats.org/drawingml/2006/main">
              <a:ext uri="{FF2B5EF4-FFF2-40B4-BE49-F238E27FC236}">
                <a16:creationId xmlns:a16="http://schemas.microsoft.com/office/drawing/2014/main" id="{7232742D-BA65-428F-A2AF-78381E91BC65}"/>
              </a:ext>
            </a:extLst>
          </p:cNvPr>
          <p:cNvSpPr>
            <a:spLocks xmlns:a="http://schemas.openxmlformats.org/drawingml/2006/main" noGrp="1"/>
          </p:cNvSpPr>
          <p:nvPr/>
        </p:nvSpPr>
        <p:spPr>
          <a:xfrm xmlns:a="http://schemas.openxmlformats.org/drawingml/2006/main">
            <a:off x="548640" y="1737360"/>
            <a:ext cx="2606040" cy="3017520"/>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8" name="Shape 5">
            <a:extLst xmlns:a="http://schemas.openxmlformats.org/drawingml/2006/main">
              <a:ext uri="{FF2B5EF4-FFF2-40B4-BE49-F238E27FC236}">
                <a16:creationId xmlns:a16="http://schemas.microsoft.com/office/drawing/2014/main" id="{A319844C-F368-4A61-B239-88812A6C336F}"/>
              </a:ext>
            </a:extLst>
          </p:cNvPr>
          <p:cNvSpPr>
            <a:spLocks xmlns:a="http://schemas.openxmlformats.org/drawingml/2006/main" noGrp="1"/>
          </p:cNvSpPr>
          <p:nvPr/>
        </p:nvSpPr>
        <p:spPr>
          <a:xfrm xmlns:a="http://schemas.openxmlformats.org/drawingml/2006/main">
            <a:off x="777240" y="1965960"/>
            <a:ext cx="548640" cy="548640"/>
          </a:xfrm>
          <a:prstGeom xmlns:a="http://schemas.openxmlformats.org/drawingml/2006/main" prst="ellipse">
            <a:avLst/>
          </a:prstGeom>
          <a:solidFill xmlns:a="http://schemas.openxmlformats.org/drawingml/2006/main">
            <a:srgbClr val="176B4B"/>
          </a:solidFill>
          <a:ln xmlns:a="http://schemas.openxmlformats.org/drawingml/2006/main" w="12700">
            <a:solidFill>
              <a:srgbClr val="176B4B"/>
            </a:solidFill>
            <a:prstDash val="solid"/>
          </a:ln>
        </p:spPr>
      </p:sp>
      <p:sp>
        <p:nvSpPr>
          <p:cNvPr id="9" name="Text 6">
            <a:extLst xmlns:a="http://schemas.openxmlformats.org/drawingml/2006/main">
              <a:ext uri="{FF2B5EF4-FFF2-40B4-BE49-F238E27FC236}">
                <a16:creationId xmlns:a16="http://schemas.microsoft.com/office/drawing/2014/main" id="{137C1F20-0F9D-4875-8E04-8977743F8C45}"/>
              </a:ext>
            </a:extLst>
          </p:cNvPr>
          <p:cNvSpPr>
            <a:spLocks xmlns:a="http://schemas.openxmlformats.org/drawingml/2006/main" noGrp="1"/>
          </p:cNvSpPr>
          <p:nvPr/>
        </p:nvSpPr>
        <p:spPr>
          <a:xfrm xmlns:a="http://schemas.openxmlformats.org/drawingml/2006/main">
            <a:off x="777240"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1</a:t>
            </a:r>
            <a:endParaRPr sz="2200"/>
          </a:p>
        </p:txBody>
      </p:sp>
      <p:sp>
        <p:nvSpPr>
          <p:cNvPr id="10" name="Text 7">
            <a:extLst xmlns:a="http://schemas.openxmlformats.org/drawingml/2006/main">
              <a:ext uri="{FF2B5EF4-FFF2-40B4-BE49-F238E27FC236}">
                <a16:creationId xmlns:a16="http://schemas.microsoft.com/office/drawing/2014/main" id="{5255B5B9-027E-4BD5-8E35-B3D0D2C1FF76}"/>
              </a:ext>
            </a:extLst>
          </p:cNvPr>
          <p:cNvSpPr>
            <a:spLocks xmlns:a="http://schemas.openxmlformats.org/drawingml/2006/main" noGrp="1"/>
          </p:cNvSpPr>
          <p:nvPr/>
        </p:nvSpPr>
        <p:spPr>
          <a:xfrm xmlns:a="http://schemas.openxmlformats.org/drawingml/2006/main">
            <a:off x="777240" y="2697480"/>
            <a:ext cx="21945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2925"/>
                </a:solidFill>
                <a:latin typeface="Cambria"/>
                <a:ea typeface="Cambria"/>
                <a:cs typeface="Cambria"/>
              </a:rPr>
              <a:t>Comprender el contexto</a:t>
            </a:r>
            <a:endParaRPr sz="1800"/>
          </a:p>
        </p:txBody>
      </p:sp>
      <p:sp>
        <p:nvSpPr>
          <p:cNvPr id="11" name="Text 8">
            <a:extLst xmlns:a="http://schemas.openxmlformats.org/drawingml/2006/main">
              <a:ext uri="{FF2B5EF4-FFF2-40B4-BE49-F238E27FC236}">
                <a16:creationId xmlns:a16="http://schemas.microsoft.com/office/drawing/2014/main" id="{D4070E7B-DC9E-48D9-A858-5F151EF5EB23}"/>
              </a:ext>
            </a:extLst>
          </p:cNvPr>
          <p:cNvSpPr>
            <a:spLocks xmlns:a="http://schemas.openxmlformats.org/drawingml/2006/main" noGrp="1"/>
          </p:cNvSpPr>
          <p:nvPr/>
        </p:nvSpPr>
        <p:spPr>
          <a:xfrm xmlns:a="http://schemas.openxmlformats.org/drawingml/2006/main">
            <a:off x="777240" y="3383280"/>
            <a:ext cx="21945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5736D"/>
                </a:solidFill>
                <a:latin typeface="Calibri"/>
                <a:ea typeface="Calibri"/>
                <a:cs typeface="Calibri"/>
              </a:rPr>
              <a:t>Análisis de fase 1, vistas Tkinter y validadores</a:t>
            </a:r>
            <a:endParaRPr sz="1300"/>
          </a:p>
        </p:txBody>
      </p:sp>
      <p:sp>
        <p:nvSpPr>
          <p:cNvPr id="12" name="Text 9">
            <a:extLst xmlns:a="http://schemas.openxmlformats.org/drawingml/2006/main">
              <a:ext uri="{FF2B5EF4-FFF2-40B4-BE49-F238E27FC236}">
                <a16:creationId xmlns:a16="http://schemas.microsoft.com/office/drawing/2014/main" id="{C2539053-C9B6-4946-A2F8-7A573382B949}"/>
              </a:ext>
            </a:extLst>
          </p:cNvPr>
          <p:cNvSpPr>
            <a:spLocks xmlns:a="http://schemas.openxmlformats.org/drawingml/2006/main" noGrp="1"/>
          </p:cNvSpPr>
          <p:nvPr/>
        </p:nvSpPr>
        <p:spPr>
          <a:xfrm xmlns:a="http://schemas.openxmlformats.org/drawingml/2006/main">
            <a:off x="777240" y="4206240"/>
            <a:ext cx="2148840" cy="274320"/>
          </a:xfrm>
          <a:prstGeom xmlns:a="http://schemas.openxmlformats.org/drawingml/2006/main" prst="roundRect">
            <a:avLst>
              <a:gd name="adj" fmla="val 50000"/>
            </a:avLst>
          </a:prstGeom>
          <a:solidFill xmlns:a="http://schemas.openxmlformats.org/drawingml/2006/main">
            <a:srgbClr val="E5F2E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76B4B"/>
                </a:solidFill>
                <a:latin typeface="Calibri"/>
                <a:ea typeface="Calibri"/>
                <a:cs typeface="Calibri"/>
              </a:rPr>
              <a:t>Realizado (documental)</a:t>
            </a:r>
            <a:endParaRPr sz="1100"/>
          </a:p>
        </p:txBody>
      </p:sp>
      <p:sp>
        <p:nvSpPr>
          <p:cNvPr id="13" name="Text 10">
            <a:extLst xmlns:a="http://schemas.openxmlformats.org/drawingml/2006/main">
              <a:ext uri="{FF2B5EF4-FFF2-40B4-BE49-F238E27FC236}">
                <a16:creationId xmlns:a16="http://schemas.microsoft.com/office/drawing/2014/main" id="{9B70BAE5-ED67-46DF-BAB8-6C8A28391CCB}"/>
              </a:ext>
            </a:extLst>
          </p:cNvPr>
          <p:cNvSpPr>
            <a:spLocks xmlns:a="http://schemas.openxmlformats.org/drawingml/2006/main" noGrp="1"/>
          </p:cNvSpPr>
          <p:nvPr/>
        </p:nvSpPr>
        <p:spPr>
          <a:xfrm xmlns:a="http://schemas.openxmlformats.org/drawingml/2006/main">
            <a:off x="3154680" y="2926080"/>
            <a:ext cx="228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176B4B"/>
                </a:solidFill>
                <a:latin typeface="Calibri"/>
                <a:ea typeface="Calibri"/>
                <a:cs typeface="Calibri"/>
              </a:rPr>
              <a:t>→</a:t>
            </a:r>
            <a:endParaRPr sz="2200"/>
          </a:p>
        </p:txBody>
      </p:sp>
      <p:sp>
        <p:nvSpPr>
          <p:cNvPr id="14" name="Shape 11">
            <a:extLst xmlns:a="http://schemas.openxmlformats.org/drawingml/2006/main">
              <a:ext uri="{FF2B5EF4-FFF2-40B4-BE49-F238E27FC236}">
                <a16:creationId xmlns:a16="http://schemas.microsoft.com/office/drawing/2014/main" id="{4A4D21BF-A7D4-4A49-AE63-727A771439CE}"/>
              </a:ext>
            </a:extLst>
          </p:cNvPr>
          <p:cNvSpPr>
            <a:spLocks xmlns:a="http://schemas.openxmlformats.org/drawingml/2006/main" noGrp="1"/>
          </p:cNvSpPr>
          <p:nvPr/>
        </p:nvSpPr>
        <p:spPr>
          <a:xfrm xmlns:a="http://schemas.openxmlformats.org/drawingml/2006/main">
            <a:off x="3383280" y="1737360"/>
            <a:ext cx="2606040" cy="3017520"/>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5" name="Shape 12">
            <a:extLst xmlns:a="http://schemas.openxmlformats.org/drawingml/2006/main">
              <a:ext uri="{FF2B5EF4-FFF2-40B4-BE49-F238E27FC236}">
                <a16:creationId xmlns:a16="http://schemas.microsoft.com/office/drawing/2014/main" id="{55137B03-344E-4895-9014-3B04CF2522AA}"/>
              </a:ext>
            </a:extLst>
          </p:cNvPr>
          <p:cNvSpPr>
            <a:spLocks xmlns:a="http://schemas.openxmlformats.org/drawingml/2006/main" noGrp="1"/>
          </p:cNvSpPr>
          <p:nvPr/>
        </p:nvSpPr>
        <p:spPr>
          <a:xfrm xmlns:a="http://schemas.openxmlformats.org/drawingml/2006/main">
            <a:off x="3611880" y="1965960"/>
            <a:ext cx="548640" cy="548640"/>
          </a:xfrm>
          <a:prstGeom xmlns:a="http://schemas.openxmlformats.org/drawingml/2006/main" prst="ellipse">
            <a:avLst/>
          </a:prstGeom>
          <a:solidFill xmlns:a="http://schemas.openxmlformats.org/drawingml/2006/main">
            <a:srgbClr val="176B4B"/>
          </a:solidFill>
          <a:ln xmlns:a="http://schemas.openxmlformats.org/drawingml/2006/main" w="12700">
            <a:solidFill>
              <a:srgbClr val="176B4B"/>
            </a:solidFill>
            <a:prstDash val="solid"/>
          </a:ln>
        </p:spPr>
      </p:sp>
      <p:sp>
        <p:nvSpPr>
          <p:cNvPr id="16" name="Text 13">
            <a:extLst xmlns:a="http://schemas.openxmlformats.org/drawingml/2006/main">
              <a:ext uri="{FF2B5EF4-FFF2-40B4-BE49-F238E27FC236}">
                <a16:creationId xmlns:a16="http://schemas.microsoft.com/office/drawing/2014/main" id="{CA338D22-58B1-48F5-BF58-BF6D88F774FE}"/>
              </a:ext>
            </a:extLst>
          </p:cNvPr>
          <p:cNvSpPr>
            <a:spLocks xmlns:a="http://schemas.openxmlformats.org/drawingml/2006/main" noGrp="1"/>
          </p:cNvSpPr>
          <p:nvPr/>
        </p:nvSpPr>
        <p:spPr>
          <a:xfrm xmlns:a="http://schemas.openxmlformats.org/drawingml/2006/main">
            <a:off x="3611880"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2</a:t>
            </a:r>
            <a:endParaRPr sz="2200"/>
          </a:p>
        </p:txBody>
      </p:sp>
      <p:sp>
        <p:nvSpPr>
          <p:cNvPr id="17" name="Text 14">
            <a:extLst xmlns:a="http://schemas.openxmlformats.org/drawingml/2006/main">
              <a:ext uri="{FF2B5EF4-FFF2-40B4-BE49-F238E27FC236}">
                <a16:creationId xmlns:a16="http://schemas.microsoft.com/office/drawing/2014/main" id="{62F58767-E138-41C7-A0E9-06718DA55F23}"/>
              </a:ext>
            </a:extLst>
          </p:cNvPr>
          <p:cNvSpPr>
            <a:spLocks xmlns:a="http://schemas.openxmlformats.org/drawingml/2006/main" noGrp="1"/>
          </p:cNvSpPr>
          <p:nvPr/>
        </p:nvSpPr>
        <p:spPr>
          <a:xfrm xmlns:a="http://schemas.openxmlformats.org/drawingml/2006/main">
            <a:off x="3611880" y="2697480"/>
            <a:ext cx="21945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2925"/>
                </a:solidFill>
                <a:latin typeface="Cambria"/>
                <a:ea typeface="Cambria"/>
                <a:cs typeface="Cambria"/>
              </a:rPr>
              <a:t>Requisitos</a:t>
            </a:r>
            <a:endParaRPr sz="1800"/>
          </a:p>
        </p:txBody>
      </p:sp>
      <p:sp>
        <p:nvSpPr>
          <p:cNvPr id="18" name="Text 15">
            <a:extLst xmlns:a="http://schemas.openxmlformats.org/drawingml/2006/main">
              <a:ext uri="{FF2B5EF4-FFF2-40B4-BE49-F238E27FC236}">
                <a16:creationId xmlns:a16="http://schemas.microsoft.com/office/drawing/2014/main" id="{ED9A0A74-18E0-41A4-A604-4394F41128DA}"/>
              </a:ext>
            </a:extLst>
          </p:cNvPr>
          <p:cNvSpPr>
            <a:spLocks xmlns:a="http://schemas.openxmlformats.org/drawingml/2006/main" noGrp="1"/>
          </p:cNvSpPr>
          <p:nvPr/>
        </p:nvSpPr>
        <p:spPr>
          <a:xfrm xmlns:a="http://schemas.openxmlformats.org/drawingml/2006/main">
            <a:off x="3611880" y="3383280"/>
            <a:ext cx="21945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5736D"/>
                </a:solidFill>
                <a:latin typeface="Calibri"/>
                <a:ea typeface="Calibri"/>
                <a:cs typeface="Calibri"/>
              </a:rPr>
              <a:t>Matriz RI-01 a RI-08 derivada de reglas del backend</a:t>
            </a:r>
            <a:endParaRPr sz="1300"/>
          </a:p>
        </p:txBody>
      </p:sp>
      <p:sp>
        <p:nvSpPr>
          <p:cNvPr id="19" name="Text 16">
            <a:extLst xmlns:a="http://schemas.openxmlformats.org/drawingml/2006/main">
              <a:ext uri="{FF2B5EF4-FFF2-40B4-BE49-F238E27FC236}">
                <a16:creationId xmlns:a16="http://schemas.microsoft.com/office/drawing/2014/main" id="{0D0D296C-EB39-4FD9-8818-C18889BFFA02}"/>
              </a:ext>
            </a:extLst>
          </p:cNvPr>
          <p:cNvSpPr>
            <a:spLocks xmlns:a="http://schemas.openxmlformats.org/drawingml/2006/main" noGrp="1"/>
          </p:cNvSpPr>
          <p:nvPr/>
        </p:nvSpPr>
        <p:spPr>
          <a:xfrm xmlns:a="http://schemas.openxmlformats.org/drawingml/2006/main">
            <a:off x="3611880" y="4206240"/>
            <a:ext cx="214884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Validar con personas</a:t>
            </a:r>
            <a:endParaRPr sz="1100"/>
          </a:p>
        </p:txBody>
      </p:sp>
      <p:sp>
        <p:nvSpPr>
          <p:cNvPr id="20" name="Text 17">
            <a:extLst xmlns:a="http://schemas.openxmlformats.org/drawingml/2006/main">
              <a:ext uri="{FF2B5EF4-FFF2-40B4-BE49-F238E27FC236}">
                <a16:creationId xmlns:a16="http://schemas.microsoft.com/office/drawing/2014/main" id="{9B2F2CB5-5CDB-49F1-9709-B5749DEF7007}"/>
              </a:ext>
            </a:extLst>
          </p:cNvPr>
          <p:cNvSpPr>
            <a:spLocks xmlns:a="http://schemas.openxmlformats.org/drawingml/2006/main" noGrp="1"/>
          </p:cNvSpPr>
          <p:nvPr/>
        </p:nvSpPr>
        <p:spPr>
          <a:xfrm xmlns:a="http://schemas.openxmlformats.org/drawingml/2006/main">
            <a:off x="5989320" y="2926080"/>
            <a:ext cx="228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176B4B"/>
                </a:solidFill>
                <a:latin typeface="Calibri"/>
                <a:ea typeface="Calibri"/>
                <a:cs typeface="Calibri"/>
              </a:rPr>
              <a:t>→</a:t>
            </a:r>
            <a:endParaRPr sz="2200"/>
          </a:p>
        </p:txBody>
      </p:sp>
      <p:sp>
        <p:nvSpPr>
          <p:cNvPr id="21" name="Shape 18">
            <a:extLst xmlns:a="http://schemas.openxmlformats.org/drawingml/2006/main">
              <a:ext uri="{FF2B5EF4-FFF2-40B4-BE49-F238E27FC236}">
                <a16:creationId xmlns:a16="http://schemas.microsoft.com/office/drawing/2014/main" id="{9B2EC416-F7D9-4F66-9745-A8E3BE7BB4BD}"/>
              </a:ext>
            </a:extLst>
          </p:cNvPr>
          <p:cNvSpPr>
            <a:spLocks xmlns:a="http://schemas.openxmlformats.org/drawingml/2006/main" noGrp="1"/>
          </p:cNvSpPr>
          <p:nvPr/>
        </p:nvSpPr>
        <p:spPr>
          <a:xfrm xmlns:a="http://schemas.openxmlformats.org/drawingml/2006/main">
            <a:off x="6217920" y="1737360"/>
            <a:ext cx="2606040" cy="3017520"/>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2" name="Shape 19">
            <a:extLst xmlns:a="http://schemas.openxmlformats.org/drawingml/2006/main">
              <a:ext uri="{FF2B5EF4-FFF2-40B4-BE49-F238E27FC236}">
                <a16:creationId xmlns:a16="http://schemas.microsoft.com/office/drawing/2014/main" id="{3487B0FE-EE85-44E5-AF55-04D4C23F10B4}"/>
              </a:ext>
            </a:extLst>
          </p:cNvPr>
          <p:cNvSpPr>
            <a:spLocks xmlns:a="http://schemas.openxmlformats.org/drawingml/2006/main" noGrp="1"/>
          </p:cNvSpPr>
          <p:nvPr/>
        </p:nvSpPr>
        <p:spPr>
          <a:xfrm xmlns:a="http://schemas.openxmlformats.org/drawingml/2006/main">
            <a:off x="6446520" y="1965960"/>
            <a:ext cx="548640" cy="548640"/>
          </a:xfrm>
          <a:prstGeom xmlns:a="http://schemas.openxmlformats.org/drawingml/2006/main" prst="ellipse">
            <a:avLst/>
          </a:prstGeom>
          <a:solidFill xmlns:a="http://schemas.openxmlformats.org/drawingml/2006/main">
            <a:srgbClr val="176B4B"/>
          </a:solidFill>
          <a:ln xmlns:a="http://schemas.openxmlformats.org/drawingml/2006/main" w="12700">
            <a:solidFill>
              <a:srgbClr val="176B4B"/>
            </a:solidFill>
            <a:prstDash val="solid"/>
          </a:ln>
        </p:spPr>
      </p:sp>
      <p:sp>
        <p:nvSpPr>
          <p:cNvPr id="23" name="Text 20">
            <a:extLst xmlns:a="http://schemas.openxmlformats.org/drawingml/2006/main">
              <a:ext uri="{FF2B5EF4-FFF2-40B4-BE49-F238E27FC236}">
                <a16:creationId xmlns:a16="http://schemas.microsoft.com/office/drawing/2014/main" id="{0E65F00C-E8A2-4C38-A9E1-155859F87222}"/>
              </a:ext>
            </a:extLst>
          </p:cNvPr>
          <p:cNvSpPr>
            <a:spLocks xmlns:a="http://schemas.openxmlformats.org/drawingml/2006/main" noGrp="1"/>
          </p:cNvSpPr>
          <p:nvPr/>
        </p:nvSpPr>
        <p:spPr>
          <a:xfrm xmlns:a="http://schemas.openxmlformats.org/drawingml/2006/main">
            <a:off x="6446520"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3</a:t>
            </a:r>
            <a:endParaRPr sz="2200"/>
          </a:p>
        </p:txBody>
      </p:sp>
      <p:sp>
        <p:nvSpPr>
          <p:cNvPr id="24" name="Text 21">
            <a:extLst xmlns:a="http://schemas.openxmlformats.org/drawingml/2006/main">
              <a:ext uri="{FF2B5EF4-FFF2-40B4-BE49-F238E27FC236}">
                <a16:creationId xmlns:a16="http://schemas.microsoft.com/office/drawing/2014/main" id="{4692C2B9-1C5E-4988-8CD4-826094343A53}"/>
              </a:ext>
            </a:extLst>
          </p:cNvPr>
          <p:cNvSpPr>
            <a:spLocks xmlns:a="http://schemas.openxmlformats.org/drawingml/2006/main" noGrp="1"/>
          </p:cNvSpPr>
          <p:nvPr/>
        </p:nvSpPr>
        <p:spPr>
          <a:xfrm xmlns:a="http://schemas.openxmlformats.org/drawingml/2006/main">
            <a:off x="6446520" y="2697480"/>
            <a:ext cx="21945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2925"/>
                </a:solidFill>
                <a:latin typeface="Cambria"/>
                <a:ea typeface="Cambria"/>
                <a:cs typeface="Cambria"/>
              </a:rPr>
              <a:t>Soluciones de diseño</a:t>
            </a:r>
            <a:endParaRPr sz="1800"/>
          </a:p>
        </p:txBody>
      </p:sp>
      <p:sp>
        <p:nvSpPr>
          <p:cNvPr id="25" name="Text 22">
            <a:extLst xmlns:a="http://schemas.openxmlformats.org/drawingml/2006/main">
              <a:ext uri="{FF2B5EF4-FFF2-40B4-BE49-F238E27FC236}">
                <a16:creationId xmlns:a16="http://schemas.microsoft.com/office/drawing/2014/main" id="{3AE15761-3D14-485C-8A0C-346B57A95348}"/>
              </a:ext>
            </a:extLst>
          </p:cNvPr>
          <p:cNvSpPr>
            <a:spLocks xmlns:a="http://schemas.openxmlformats.org/drawingml/2006/main" noGrp="1"/>
          </p:cNvSpPr>
          <p:nvPr/>
        </p:nvSpPr>
        <p:spPr>
          <a:xfrm xmlns:a="http://schemas.openxmlformats.org/drawingml/2006/main">
            <a:off x="6446520" y="3383280"/>
            <a:ext cx="21945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5736D"/>
                </a:solidFill>
                <a:latin typeface="Calibri"/>
                <a:ea typeface="Calibri"/>
                <a:cs typeface="Calibri"/>
              </a:rPr>
              <a:t>Prototipo HTML de 10 pantallas</a:t>
            </a:r>
            <a:endParaRPr sz="1300"/>
          </a:p>
        </p:txBody>
      </p:sp>
      <p:sp>
        <p:nvSpPr>
          <p:cNvPr id="26" name="Text 23">
            <a:extLst xmlns:a="http://schemas.openxmlformats.org/drawingml/2006/main">
              <a:ext uri="{FF2B5EF4-FFF2-40B4-BE49-F238E27FC236}">
                <a16:creationId xmlns:a16="http://schemas.microsoft.com/office/drawing/2014/main" id="{B03E8592-9197-4460-903B-9278D2C4278A}"/>
              </a:ext>
            </a:extLst>
          </p:cNvPr>
          <p:cNvSpPr>
            <a:spLocks xmlns:a="http://schemas.openxmlformats.org/drawingml/2006/main" noGrp="1"/>
          </p:cNvSpPr>
          <p:nvPr/>
        </p:nvSpPr>
        <p:spPr>
          <a:xfrm xmlns:a="http://schemas.openxmlformats.org/drawingml/2006/main">
            <a:off x="6446520" y="4206240"/>
            <a:ext cx="2148840" cy="274320"/>
          </a:xfrm>
          <a:prstGeom xmlns:a="http://schemas.openxmlformats.org/drawingml/2006/main" prst="roundRect">
            <a:avLst>
              <a:gd name="adj" fmla="val 50000"/>
            </a:avLst>
          </a:prstGeom>
          <a:solidFill xmlns:a="http://schemas.openxmlformats.org/drawingml/2006/main">
            <a:srgbClr val="E5F2E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76B4B"/>
                </a:solidFill>
                <a:latin typeface="Calibri"/>
                <a:ea typeface="Calibri"/>
                <a:cs typeface="Calibri"/>
              </a:rPr>
              <a:t>Realizado</a:t>
            </a:r>
            <a:endParaRPr sz="1100"/>
          </a:p>
        </p:txBody>
      </p:sp>
      <p:sp>
        <p:nvSpPr>
          <p:cNvPr id="27" name="Text 24">
            <a:extLst xmlns:a="http://schemas.openxmlformats.org/drawingml/2006/main">
              <a:ext uri="{FF2B5EF4-FFF2-40B4-BE49-F238E27FC236}">
                <a16:creationId xmlns:a16="http://schemas.microsoft.com/office/drawing/2014/main" id="{7E1B1067-136B-4C12-B78D-B16892304106}"/>
              </a:ext>
            </a:extLst>
          </p:cNvPr>
          <p:cNvSpPr>
            <a:spLocks xmlns:a="http://schemas.openxmlformats.org/drawingml/2006/main" noGrp="1"/>
          </p:cNvSpPr>
          <p:nvPr/>
        </p:nvSpPr>
        <p:spPr>
          <a:xfrm xmlns:a="http://schemas.openxmlformats.org/drawingml/2006/main">
            <a:off x="8823960" y="2926080"/>
            <a:ext cx="228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176B4B"/>
                </a:solidFill>
                <a:latin typeface="Calibri"/>
                <a:ea typeface="Calibri"/>
                <a:cs typeface="Calibri"/>
              </a:rPr>
              <a:t>→</a:t>
            </a:r>
            <a:endParaRPr sz="2200"/>
          </a:p>
        </p:txBody>
      </p:sp>
      <p:sp>
        <p:nvSpPr>
          <p:cNvPr id="28" name="Shape 25">
            <a:extLst xmlns:a="http://schemas.openxmlformats.org/drawingml/2006/main">
              <a:ext uri="{FF2B5EF4-FFF2-40B4-BE49-F238E27FC236}">
                <a16:creationId xmlns:a16="http://schemas.microsoft.com/office/drawing/2014/main" id="{6EB718F8-55E8-482A-A634-2D165EB6E97D}"/>
              </a:ext>
            </a:extLst>
          </p:cNvPr>
          <p:cNvSpPr>
            <a:spLocks xmlns:a="http://schemas.openxmlformats.org/drawingml/2006/main" noGrp="1"/>
          </p:cNvSpPr>
          <p:nvPr/>
        </p:nvSpPr>
        <p:spPr>
          <a:xfrm xmlns:a="http://schemas.openxmlformats.org/drawingml/2006/main">
            <a:off x="9052560" y="1737360"/>
            <a:ext cx="2606040" cy="3017520"/>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9" name="Shape 26">
            <a:extLst xmlns:a="http://schemas.openxmlformats.org/drawingml/2006/main">
              <a:ext uri="{FF2B5EF4-FFF2-40B4-BE49-F238E27FC236}">
                <a16:creationId xmlns:a16="http://schemas.microsoft.com/office/drawing/2014/main" id="{CC7E26D4-BCF3-40D0-B92A-9F5D2E19A6E0}"/>
              </a:ext>
            </a:extLst>
          </p:cNvPr>
          <p:cNvSpPr>
            <a:spLocks xmlns:a="http://schemas.openxmlformats.org/drawingml/2006/main" noGrp="1"/>
          </p:cNvSpPr>
          <p:nvPr/>
        </p:nvSpPr>
        <p:spPr>
          <a:xfrm xmlns:a="http://schemas.openxmlformats.org/drawingml/2006/main">
            <a:off x="9281160" y="1965960"/>
            <a:ext cx="548640" cy="548640"/>
          </a:xfrm>
          <a:prstGeom xmlns:a="http://schemas.openxmlformats.org/drawingml/2006/main" prst="ellipse">
            <a:avLst/>
          </a:prstGeom>
          <a:solidFill xmlns:a="http://schemas.openxmlformats.org/drawingml/2006/main">
            <a:srgbClr val="176B4B"/>
          </a:solidFill>
          <a:ln xmlns:a="http://schemas.openxmlformats.org/drawingml/2006/main" w="12700">
            <a:solidFill>
              <a:srgbClr val="176B4B"/>
            </a:solidFill>
            <a:prstDash val="solid"/>
          </a:ln>
        </p:spPr>
      </p:sp>
      <p:sp>
        <p:nvSpPr>
          <p:cNvPr id="30" name="Text 27">
            <a:extLst xmlns:a="http://schemas.openxmlformats.org/drawingml/2006/main">
              <a:ext uri="{FF2B5EF4-FFF2-40B4-BE49-F238E27FC236}">
                <a16:creationId xmlns:a16="http://schemas.microsoft.com/office/drawing/2014/main" id="{16CFCCB8-1784-47D6-B484-D4179B278860}"/>
              </a:ext>
            </a:extLst>
          </p:cNvPr>
          <p:cNvSpPr>
            <a:spLocks xmlns:a="http://schemas.openxmlformats.org/drawingml/2006/main" noGrp="1"/>
          </p:cNvSpPr>
          <p:nvPr/>
        </p:nvSpPr>
        <p:spPr>
          <a:xfrm xmlns:a="http://schemas.openxmlformats.org/drawingml/2006/main">
            <a:off x="9281160"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4</a:t>
            </a:r>
            <a:endParaRPr sz="2200"/>
          </a:p>
        </p:txBody>
      </p:sp>
      <p:sp>
        <p:nvSpPr>
          <p:cNvPr id="31" name="Text 28">
            <a:extLst xmlns:a="http://schemas.openxmlformats.org/drawingml/2006/main">
              <a:ext uri="{FF2B5EF4-FFF2-40B4-BE49-F238E27FC236}">
                <a16:creationId xmlns:a16="http://schemas.microsoft.com/office/drawing/2014/main" id="{9D3ED865-FEF1-486E-A07A-202CC866E6D4}"/>
              </a:ext>
            </a:extLst>
          </p:cNvPr>
          <p:cNvSpPr>
            <a:spLocks xmlns:a="http://schemas.openxmlformats.org/drawingml/2006/main" noGrp="1"/>
          </p:cNvSpPr>
          <p:nvPr/>
        </p:nvSpPr>
        <p:spPr>
          <a:xfrm xmlns:a="http://schemas.openxmlformats.org/drawingml/2006/main">
            <a:off x="9281160" y="2697480"/>
            <a:ext cx="21945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2925"/>
                </a:solidFill>
                <a:latin typeface="Cambria"/>
                <a:ea typeface="Cambria"/>
                <a:cs typeface="Cambria"/>
              </a:rPr>
              <a:t>Evaluación</a:t>
            </a:r>
            <a:endParaRPr sz="1800"/>
          </a:p>
        </p:txBody>
      </p:sp>
      <p:sp>
        <p:nvSpPr>
          <p:cNvPr id="32" name="Text 29">
            <a:extLst xmlns:a="http://schemas.openxmlformats.org/drawingml/2006/main">
              <a:ext uri="{FF2B5EF4-FFF2-40B4-BE49-F238E27FC236}">
                <a16:creationId xmlns:a16="http://schemas.microsoft.com/office/drawing/2014/main" id="{1CF20670-AEB7-4043-BD7E-1AA57014CFF9}"/>
              </a:ext>
            </a:extLst>
          </p:cNvPr>
          <p:cNvSpPr>
            <a:spLocks xmlns:a="http://schemas.openxmlformats.org/drawingml/2006/main" noGrp="1"/>
          </p:cNvSpPr>
          <p:nvPr/>
        </p:nvSpPr>
        <p:spPr>
          <a:xfrm xmlns:a="http://schemas.openxmlformats.org/drawingml/2006/main">
            <a:off x="9281160" y="3383280"/>
            <a:ext cx="21945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5736D"/>
                </a:solidFill>
                <a:latin typeface="Calibri"/>
                <a:ea typeface="Calibri"/>
                <a:cs typeface="Calibri"/>
              </a:rPr>
              <a:t>Inspección heurística; prueba con 3 personas</a:t>
            </a:r>
            <a:endParaRPr sz="1300"/>
          </a:p>
        </p:txBody>
      </p:sp>
      <p:sp>
        <p:nvSpPr>
          <p:cNvPr id="33" name="Text 30">
            <a:extLst xmlns:a="http://schemas.openxmlformats.org/drawingml/2006/main">
              <a:ext uri="{FF2B5EF4-FFF2-40B4-BE49-F238E27FC236}">
                <a16:creationId xmlns:a16="http://schemas.microsoft.com/office/drawing/2014/main" id="{E8F82AF7-CAB7-470F-A125-6264D4059431}"/>
              </a:ext>
            </a:extLst>
          </p:cNvPr>
          <p:cNvSpPr>
            <a:spLocks xmlns:a="http://schemas.openxmlformats.org/drawingml/2006/main" noGrp="1"/>
          </p:cNvSpPr>
          <p:nvPr/>
        </p:nvSpPr>
        <p:spPr>
          <a:xfrm xmlns:a="http://schemas.openxmlformats.org/drawingml/2006/main">
            <a:off x="9281160" y="4206240"/>
            <a:ext cx="214884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Prueba pendiente</a:t>
            </a:r>
            <a:endParaRPr sz="1100"/>
          </a:p>
        </p:txBody>
      </p:sp>
      <p:sp>
        <p:nvSpPr>
          <p:cNvPr id="34" name="Shape 31">
            <a:extLst xmlns:a="http://schemas.openxmlformats.org/drawingml/2006/main">
              <a:ext uri="{FF2B5EF4-FFF2-40B4-BE49-F238E27FC236}">
                <a16:creationId xmlns:a16="http://schemas.microsoft.com/office/drawing/2014/main" id="{334979FC-F842-483D-AA81-B583D8FDD9E8}"/>
              </a:ext>
            </a:extLst>
          </p:cNvPr>
          <p:cNvSpPr>
            <a:spLocks xmlns:a="http://schemas.openxmlformats.org/drawingml/2006/main" noGrp="1"/>
          </p:cNvSpPr>
          <p:nvPr/>
        </p:nvSpPr>
        <p:spPr>
          <a:xfrm xmlns:a="http://schemas.openxmlformats.org/drawingml/2006/main">
            <a:off x="548640" y="5074920"/>
            <a:ext cx="11064240" cy="914400"/>
          </a:xfrm>
          <a:prstGeom xmlns:a="http://schemas.openxmlformats.org/drawingml/2006/main" prst="roundRect">
            <a:avLst>
              <a:gd name="adj" fmla="val 8000"/>
            </a:avLst>
          </a:prstGeom>
          <a:solidFill xmlns:a="http://schemas.openxmlformats.org/drawingml/2006/main">
            <a:srgbClr val="E9F2F8"/>
          </a:solidFill>
          <a:ln xmlns:a="http://schemas.openxmlformats.org/drawingml/2006/main" w="9525">
            <a:solidFill>
              <a:srgbClr val="285F83"/>
            </a:solidFill>
            <a:prstDash val="solid"/>
          </a:ln>
        </p:spPr>
      </p:sp>
      <p:sp>
        <p:nvSpPr>
          <p:cNvPr id="35" name="Text 32">
            <a:extLst xmlns:a="http://schemas.openxmlformats.org/drawingml/2006/main">
              <a:ext uri="{FF2B5EF4-FFF2-40B4-BE49-F238E27FC236}">
                <a16:creationId xmlns:a16="http://schemas.microsoft.com/office/drawing/2014/main" id="{82F96D41-47CE-489F-9AB1-079B768F4365}"/>
              </a:ext>
            </a:extLst>
          </p:cNvPr>
          <p:cNvSpPr>
            <a:spLocks xmlns:a="http://schemas.openxmlformats.org/drawingml/2006/main" noGrp="1"/>
          </p:cNvSpPr>
          <p:nvPr/>
        </p:nvSpPr>
        <p:spPr>
          <a:xfrm xmlns:a="http://schemas.openxmlformats.org/drawingml/2006/main">
            <a:off x="777240" y="5212080"/>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214A67"/>
                </a:solidFill>
                <a:latin typeface="Calibri"/>
                <a:ea typeface="Calibri"/>
                <a:cs typeface="Calibri"/>
              </a:rPr>
              <a:t>Regla del ciclo: si la evaluación no aporta evidencia suficiente, se vuelve a comprender el contexto (retorno al paso 1) o a los requisitos, en lugar de declarar el diseño terminado.</a:t>
            </a:r>
            <a:endParaRPr sz="1500"/>
          </a:p>
        </p:txBody>
      </p:sp>
    </p:spTree>
    <p:extLst>
      <p:ext uri="{BB962C8B-B14F-4D97-AF65-F5344CB8AC3E}">
        <p14:creationId xmlns:p14="http://schemas.microsoft.com/office/powerpoint/2010/main" val="472919533"/>
      </p:ext>
    </p:extLst>
  </p:cSld>
</p:sld>
</file>

<file path=ppt/slides/slide3.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1086F0-2144-47E6-A981-D5BE6B1AD928}"/>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DESCUBRIMIENTO CON USUARIOS</a:t>
            </a:r>
            <a:endParaRPr sz="1200"/>
          </a:p>
        </p:txBody>
      </p:sp>
      <p:sp>
        <p:nvSpPr>
          <p:cNvPr id="3" name="Text 1">
            <a:extLst xmlns:a="http://schemas.openxmlformats.org/drawingml/2006/main">
              <a:ext uri="{FF2B5EF4-FFF2-40B4-BE49-F238E27FC236}">
                <a16:creationId xmlns:a16="http://schemas.microsoft.com/office/drawing/2014/main" id="{67434672-4003-4C88-A94D-02D58330AF0F}"/>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Indagación con personas: instrumento listo, sesiones pendientes</a:t>
            </a:r>
            <a:endParaRPr sz="3000"/>
          </a:p>
        </p:txBody>
      </p:sp>
      <p:sp>
        <p:nvSpPr>
          <p:cNvPr id="4" name="Text 2">
            <a:extLst xmlns:a="http://schemas.openxmlformats.org/drawingml/2006/main">
              <a:ext uri="{FF2B5EF4-FFF2-40B4-BE49-F238E27FC236}">
                <a16:creationId xmlns:a16="http://schemas.microsoft.com/office/drawing/2014/main" id="{64441A24-3AAF-4FFA-B009-52C286B85768}"/>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3 / 13</a:t>
            </a:r>
            <a:endParaRPr sz="1000"/>
          </a:p>
        </p:txBody>
      </p:sp>
      <p:sp>
        <p:nvSpPr>
          <p:cNvPr id="5" name="Text 3">
            <a:extLst xmlns:a="http://schemas.openxmlformats.org/drawingml/2006/main">
              <a:ext uri="{FF2B5EF4-FFF2-40B4-BE49-F238E27FC236}">
                <a16:creationId xmlns:a16="http://schemas.microsoft.com/office/drawing/2014/main" id="{DF93C765-9667-4293-803D-AE6BF61F6E42}"/>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Shape 4">
            <a:extLst xmlns:a="http://schemas.openxmlformats.org/drawingml/2006/main">
              <a:ext uri="{FF2B5EF4-FFF2-40B4-BE49-F238E27FC236}">
                <a16:creationId xmlns:a16="http://schemas.microsoft.com/office/drawing/2014/main" id="{2778B0F8-BB61-46B3-AF57-D89F6930C4BF}"/>
              </a:ext>
            </a:extLst>
          </p:cNvPr>
          <p:cNvSpPr>
            <a:spLocks xmlns:a="http://schemas.openxmlformats.org/drawingml/2006/main" noGrp="1"/>
          </p:cNvSpPr>
          <p:nvPr/>
        </p:nvSpPr>
        <p:spPr>
          <a:xfrm xmlns:a="http://schemas.openxmlformats.org/drawingml/2006/main">
            <a:off x="548640" y="1554480"/>
            <a:ext cx="5120640" cy="4526280"/>
          </a:xfrm>
          <a:prstGeom xmlns:a="http://schemas.openxmlformats.org/drawingml/2006/main" prst="roundRect">
            <a:avLst>
              <a:gd name="adj" fmla="val 1616"/>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8" name="Text 5">
            <a:extLst xmlns:a="http://schemas.openxmlformats.org/drawingml/2006/main">
              <a:ext uri="{FF2B5EF4-FFF2-40B4-BE49-F238E27FC236}">
                <a16:creationId xmlns:a16="http://schemas.microsoft.com/office/drawing/2014/main" id="{8C33A5D1-00D6-4894-977B-261FF3D8BF23}"/>
              </a:ext>
            </a:extLst>
          </p:cNvPr>
          <p:cNvSpPr>
            <a:spLocks xmlns:a="http://schemas.openxmlformats.org/drawingml/2006/main" noGrp="1"/>
          </p:cNvSpPr>
          <p:nvPr/>
        </p:nvSpPr>
        <p:spPr>
          <a:xfrm xmlns:a="http://schemas.openxmlformats.org/drawingml/2006/main">
            <a:off x="822960" y="173736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1E2925"/>
                </a:solidFill>
                <a:latin typeface="Cambria"/>
                <a:ea typeface="Cambria"/>
                <a:cs typeface="Cambria"/>
              </a:rPr>
              <a:t>Entrevista semiestructurada</a:t>
            </a:r>
            <a:endParaRPr sz="2000"/>
          </a:p>
        </p:txBody>
      </p:sp>
      <p:sp>
        <p:nvSpPr>
          <p:cNvPr id="9" name="Text 6">
            <a:extLst xmlns:a="http://schemas.openxmlformats.org/drawingml/2006/main">
              <a:ext uri="{FF2B5EF4-FFF2-40B4-BE49-F238E27FC236}">
                <a16:creationId xmlns:a16="http://schemas.microsoft.com/office/drawing/2014/main" id="{6E656FCC-4A7F-4920-8FC3-31E4EC4EFA6A}"/>
              </a:ext>
            </a:extLst>
          </p:cNvPr>
          <p:cNvSpPr>
            <a:spLocks xmlns:a="http://schemas.openxmlformats.org/drawingml/2006/main" noGrp="1"/>
          </p:cNvSpPr>
          <p:nvPr/>
        </p:nvSpPr>
        <p:spPr>
          <a:xfrm xmlns:a="http://schemas.openxmlformats.org/drawingml/2006/main">
            <a:off x="822960" y="2286000"/>
            <a:ext cx="457200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500">
                <a:solidFill>
                  <a:srgbClr val="1E2925"/>
                </a:solidFill>
                <a:latin typeface="Calibri"/>
                <a:ea typeface="Calibri"/>
                <a:cs typeface="Calibri"/>
              </a:rPr>
              <a:t>15 preguntas · 15–20 minutos</a:t>
            </a:r>
            <a:endParaRPr sz="1500"/>
          </a:p>
          <a:p xmlns:a="http://schemas.openxmlformats.org/drawingml/2006/main">
            <a:pPr marL="342900" indent="-342900">
              <a:spcAft>
                <a:spcPts val="600"/>
              </a:spcAft>
              <a:buSzPct val="100000"/>
              <a:buChar char="•"/>
            </a:pPr>
            <a:r>
              <a:rPr sz="1500">
                <a:solidFill>
                  <a:srgbClr val="1E2925"/>
                </a:solidFill>
                <a:latin typeface="Calibri"/>
                <a:ea typeface="Calibri"/>
                <a:cs typeface="Calibri"/>
              </a:rPr>
              <a:t>Flujo de trabajo y herramientas actuales</a:t>
            </a:r>
            <a:endParaRPr sz="1500"/>
          </a:p>
          <a:p xmlns:a="http://schemas.openxmlformats.org/drawingml/2006/main">
            <a:pPr marL="342900" indent="-342900">
              <a:spcAft>
                <a:spcPts val="600"/>
              </a:spcAft>
              <a:buSzPct val="100000"/>
              <a:buChar char="•"/>
            </a:pPr>
            <a:r>
              <a:rPr sz="1500">
                <a:solidFill>
                  <a:srgbClr val="1E2925"/>
                </a:solidFill>
                <a:latin typeface="Calibri"/>
                <a:ea typeface="Calibri"/>
                <a:cs typeface="Calibri"/>
              </a:rPr>
              <a:t>Errores frecuentes y cómo se resuelven hoy</a:t>
            </a:r>
            <a:endParaRPr sz="1500"/>
          </a:p>
          <a:p xmlns:a="http://schemas.openxmlformats.org/drawingml/2006/main">
            <a:pPr marL="342900" indent="-342900">
              <a:spcAft>
                <a:spcPts val="600"/>
              </a:spcAft>
              <a:buSzPct val="100000"/>
              <a:buChar char="•"/>
            </a:pPr>
            <a:r>
              <a:rPr sz="1500">
                <a:solidFill>
                  <a:srgbClr val="1E2925"/>
                </a:solidFill>
                <a:latin typeface="Calibri"/>
                <a:ea typeface="Calibri"/>
                <a:cs typeface="Calibri"/>
              </a:rPr>
              <a:t>Vocabulario del dominio y expectativas de salida</a:t>
            </a:r>
            <a:endParaRPr sz="1500"/>
          </a:p>
          <a:p xmlns:a="http://schemas.openxmlformats.org/drawingml/2006/main">
            <a:pPr marL="342900" indent="-342900">
              <a:spcAft>
                <a:spcPts val="600"/>
              </a:spcAft>
              <a:buSzPct val="100000"/>
              <a:buChar char="•"/>
            </a:pPr>
            <a:r>
              <a:rPr sz="1500">
                <a:solidFill>
                  <a:srgbClr val="1E2925"/>
                </a:solidFill>
                <a:latin typeface="Calibri"/>
                <a:ea typeface="Calibri"/>
                <a:cs typeface="Calibri"/>
              </a:rPr>
              <a:t>Dispositivo, entorno y accesibilidad</a:t>
            </a:r>
            <a:endParaRPr sz="1500"/>
          </a:p>
        </p:txBody>
      </p:sp>
      <p:sp>
        <p:nvSpPr>
          <p:cNvPr id="10" name="Text 7">
            <a:extLst xmlns:a="http://schemas.openxmlformats.org/drawingml/2006/main">
              <a:ext uri="{FF2B5EF4-FFF2-40B4-BE49-F238E27FC236}">
                <a16:creationId xmlns:a16="http://schemas.microsoft.com/office/drawing/2014/main" id="{5315D251-787F-4E47-81CD-CABBF276FD33}"/>
              </a:ext>
            </a:extLst>
          </p:cNvPr>
          <p:cNvSpPr>
            <a:spLocks xmlns:a="http://schemas.openxmlformats.org/drawingml/2006/main" noGrp="1"/>
          </p:cNvSpPr>
          <p:nvPr/>
        </p:nvSpPr>
        <p:spPr>
          <a:xfrm xmlns:a="http://schemas.openxmlformats.org/drawingml/2006/main">
            <a:off x="822960" y="4800600"/>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5736D"/>
                </a:solidFill>
                <a:latin typeface="Calibri"/>
                <a:ea typeface="Calibri"/>
                <a:cs typeface="Calibri"/>
              </a:rPr>
              <a:t>Protocolo ético: consentimiento informado, participación voluntaria, códigos aleatorios, sin datos personales ni del empleador.</a:t>
            </a:r>
            <a:endParaRPr sz="1300"/>
          </a:p>
        </p:txBody>
      </p:sp>
      <p:sp>
        <p:nvSpPr>
          <p:cNvPr id="11" name="Shape 8">
            <a:extLst xmlns:a="http://schemas.openxmlformats.org/drawingml/2006/main">
              <a:ext uri="{FF2B5EF4-FFF2-40B4-BE49-F238E27FC236}">
                <a16:creationId xmlns:a16="http://schemas.microsoft.com/office/drawing/2014/main" id="{BD091C52-35F5-469E-A72F-5E4A1A9A2570}"/>
              </a:ext>
            </a:extLst>
          </p:cNvPr>
          <p:cNvSpPr>
            <a:spLocks xmlns:a="http://schemas.openxmlformats.org/drawingml/2006/main" noGrp="1"/>
          </p:cNvSpPr>
          <p:nvPr/>
        </p:nvSpPr>
        <p:spPr>
          <a:xfrm xmlns:a="http://schemas.openxmlformats.org/drawingml/2006/main">
            <a:off x="5943600" y="1554480"/>
            <a:ext cx="5669280" cy="13716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2" name="Shape 9">
            <a:extLst xmlns:a="http://schemas.openxmlformats.org/drawingml/2006/main">
              <a:ext uri="{FF2B5EF4-FFF2-40B4-BE49-F238E27FC236}">
                <a16:creationId xmlns:a16="http://schemas.microsoft.com/office/drawing/2014/main" id="{7E6DC519-C25E-40F5-851F-711B977B7C2D}"/>
              </a:ext>
            </a:extLst>
          </p:cNvPr>
          <p:cNvSpPr>
            <a:spLocks xmlns:a="http://schemas.openxmlformats.org/drawingml/2006/main" noGrp="1"/>
          </p:cNvSpPr>
          <p:nvPr/>
        </p:nvSpPr>
        <p:spPr>
          <a:xfrm xmlns:a="http://schemas.openxmlformats.org/drawingml/2006/main">
            <a:off x="6172200" y="1920240"/>
            <a:ext cx="640080" cy="640080"/>
          </a:xfrm>
          <a:prstGeom xmlns:a="http://schemas.openxmlformats.org/drawingml/2006/main" prst="ellipse">
            <a:avLst/>
          </a:prstGeom>
          <a:solidFill xmlns:a="http://schemas.openxmlformats.org/drawingml/2006/main">
            <a:srgbClr val="E5F2EB"/>
          </a:solidFill>
          <a:ln xmlns:a="http://schemas.openxmlformats.org/drawingml/2006/main" w="12700">
            <a:solidFill>
              <a:srgbClr val="176B4B"/>
            </a:solidFill>
            <a:prstDash val="solid"/>
          </a:ln>
        </p:spPr>
      </p:sp>
      <p:sp>
        <p:nvSpPr>
          <p:cNvPr id="13" name="Text 10">
            <a:extLst xmlns:a="http://schemas.openxmlformats.org/drawingml/2006/main">
              <a:ext uri="{FF2B5EF4-FFF2-40B4-BE49-F238E27FC236}">
                <a16:creationId xmlns:a16="http://schemas.microsoft.com/office/drawing/2014/main" id="{4BEC1621-0241-4539-8BD3-042453EEF456}"/>
              </a:ext>
            </a:extLst>
          </p:cNvPr>
          <p:cNvSpPr>
            <a:spLocks xmlns:a="http://schemas.openxmlformats.org/drawingml/2006/main" noGrp="1"/>
          </p:cNvSpPr>
          <p:nvPr/>
        </p:nvSpPr>
        <p:spPr>
          <a:xfrm xmlns:a="http://schemas.openxmlformats.org/drawingml/2006/main">
            <a:off x="6172200" y="192024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76B4B"/>
                </a:solidFill>
                <a:latin typeface="Calibri"/>
                <a:ea typeface="Calibri"/>
                <a:cs typeface="Calibri"/>
              </a:rPr>
              <a:t>P01</a:t>
            </a:r>
            <a:endParaRPr sz="1300"/>
          </a:p>
        </p:txBody>
      </p:sp>
      <p:sp>
        <p:nvSpPr>
          <p:cNvPr id="14" name="Text 11">
            <a:extLst xmlns:a="http://schemas.openxmlformats.org/drawingml/2006/main">
              <a:ext uri="{FF2B5EF4-FFF2-40B4-BE49-F238E27FC236}">
                <a16:creationId xmlns:a16="http://schemas.microsoft.com/office/drawing/2014/main" id="{17B82496-8673-4706-9282-9CA247C02771}"/>
              </a:ext>
            </a:extLst>
          </p:cNvPr>
          <p:cNvSpPr>
            <a:spLocks xmlns:a="http://schemas.openxmlformats.org/drawingml/2006/main" noGrp="1"/>
          </p:cNvSpPr>
          <p:nvPr/>
        </p:nvSpPr>
        <p:spPr>
          <a:xfrm xmlns:a="http://schemas.openxmlformats.org/drawingml/2006/main">
            <a:off x="7040880" y="1828800"/>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E2925"/>
                </a:solidFill>
                <a:latin typeface="Cambria"/>
                <a:ea typeface="Cambria"/>
                <a:cs typeface="Cambria"/>
              </a:rPr>
              <a:t>Participante voluntario</a:t>
            </a:r>
            <a:endParaRPr sz="1600"/>
          </a:p>
        </p:txBody>
      </p:sp>
      <p:sp>
        <p:nvSpPr>
          <p:cNvPr id="15" name="Text 12">
            <a:extLst xmlns:a="http://schemas.openxmlformats.org/drawingml/2006/main">
              <a:ext uri="{FF2B5EF4-FFF2-40B4-BE49-F238E27FC236}">
                <a16:creationId xmlns:a16="http://schemas.microsoft.com/office/drawing/2014/main" id="{912BA0BB-C413-466A-A3AC-90B05B57FB01}"/>
              </a:ext>
            </a:extLst>
          </p:cNvPr>
          <p:cNvSpPr>
            <a:spLocks xmlns:a="http://schemas.openxmlformats.org/drawingml/2006/main" noGrp="1"/>
          </p:cNvSpPr>
          <p:nvPr/>
        </p:nvSpPr>
        <p:spPr>
          <a:xfrm xmlns:a="http://schemas.openxmlformats.org/drawingml/2006/main">
            <a:off x="7040880" y="2240280"/>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65736D"/>
                </a:solidFill>
                <a:latin typeface="Calibri"/>
                <a:ea typeface="Calibri"/>
                <a:cs typeface="Calibri"/>
              </a:rPr>
              <a:t>Rol amplio · consentimiento · notas anonimizadas</a:t>
            </a:r>
            <a:endParaRPr sz="1200"/>
          </a:p>
        </p:txBody>
      </p:sp>
      <p:sp>
        <p:nvSpPr>
          <p:cNvPr id="16" name="Text 13">
            <a:extLst xmlns:a="http://schemas.openxmlformats.org/drawingml/2006/main">
              <a:ext uri="{FF2B5EF4-FFF2-40B4-BE49-F238E27FC236}">
                <a16:creationId xmlns:a16="http://schemas.microsoft.com/office/drawing/2014/main" id="{26A6F8F8-10E8-40DD-AA28-6E88A14C91E5}"/>
              </a:ext>
            </a:extLst>
          </p:cNvPr>
          <p:cNvSpPr>
            <a:spLocks xmlns:a="http://schemas.openxmlformats.org/drawingml/2006/main" noGrp="1"/>
          </p:cNvSpPr>
          <p:nvPr/>
        </p:nvSpPr>
        <p:spPr>
          <a:xfrm xmlns:a="http://schemas.openxmlformats.org/drawingml/2006/main">
            <a:off x="10241280" y="2103120"/>
            <a:ext cx="118872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Por reclutar</a:t>
            </a:r>
            <a:endParaRPr sz="1100"/>
          </a:p>
        </p:txBody>
      </p:sp>
      <p:sp>
        <p:nvSpPr>
          <p:cNvPr id="17" name="Shape 14">
            <a:extLst xmlns:a="http://schemas.openxmlformats.org/drawingml/2006/main">
              <a:ext uri="{FF2B5EF4-FFF2-40B4-BE49-F238E27FC236}">
                <a16:creationId xmlns:a16="http://schemas.microsoft.com/office/drawing/2014/main" id="{919EFB26-28CE-4BFA-BE7A-E9164FAE3060}"/>
              </a:ext>
            </a:extLst>
          </p:cNvPr>
          <p:cNvSpPr>
            <a:spLocks xmlns:a="http://schemas.openxmlformats.org/drawingml/2006/main" noGrp="1"/>
          </p:cNvSpPr>
          <p:nvPr/>
        </p:nvSpPr>
        <p:spPr>
          <a:xfrm xmlns:a="http://schemas.openxmlformats.org/drawingml/2006/main">
            <a:off x="5943600" y="3090672"/>
            <a:ext cx="5669280" cy="13716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8" name="Shape 15">
            <a:extLst xmlns:a="http://schemas.openxmlformats.org/drawingml/2006/main">
              <a:ext uri="{FF2B5EF4-FFF2-40B4-BE49-F238E27FC236}">
                <a16:creationId xmlns:a16="http://schemas.microsoft.com/office/drawing/2014/main" id="{EA0163FD-36BF-4997-B393-B0514E85859E}"/>
              </a:ext>
            </a:extLst>
          </p:cNvPr>
          <p:cNvSpPr>
            <a:spLocks xmlns:a="http://schemas.openxmlformats.org/drawingml/2006/main" noGrp="1"/>
          </p:cNvSpPr>
          <p:nvPr/>
        </p:nvSpPr>
        <p:spPr>
          <a:xfrm xmlns:a="http://schemas.openxmlformats.org/drawingml/2006/main">
            <a:off x="6172200" y="3456432"/>
            <a:ext cx="640080" cy="640080"/>
          </a:xfrm>
          <a:prstGeom xmlns:a="http://schemas.openxmlformats.org/drawingml/2006/main" prst="ellipse">
            <a:avLst/>
          </a:prstGeom>
          <a:solidFill xmlns:a="http://schemas.openxmlformats.org/drawingml/2006/main">
            <a:srgbClr val="E5F2EB"/>
          </a:solidFill>
          <a:ln xmlns:a="http://schemas.openxmlformats.org/drawingml/2006/main" w="12700">
            <a:solidFill>
              <a:srgbClr val="176B4B"/>
            </a:solidFill>
            <a:prstDash val="solid"/>
          </a:ln>
        </p:spPr>
      </p:sp>
      <p:sp>
        <p:nvSpPr>
          <p:cNvPr id="19" name="Text 16">
            <a:extLst xmlns:a="http://schemas.openxmlformats.org/drawingml/2006/main">
              <a:ext uri="{FF2B5EF4-FFF2-40B4-BE49-F238E27FC236}">
                <a16:creationId xmlns:a16="http://schemas.microsoft.com/office/drawing/2014/main" id="{0D6E5900-4D05-43AF-84E9-DEF4CADA16C0}"/>
              </a:ext>
            </a:extLst>
          </p:cNvPr>
          <p:cNvSpPr>
            <a:spLocks xmlns:a="http://schemas.openxmlformats.org/drawingml/2006/main" noGrp="1"/>
          </p:cNvSpPr>
          <p:nvPr/>
        </p:nvSpPr>
        <p:spPr>
          <a:xfrm xmlns:a="http://schemas.openxmlformats.org/drawingml/2006/main">
            <a:off x="6172200" y="3456432"/>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76B4B"/>
                </a:solidFill>
                <a:latin typeface="Calibri"/>
                <a:ea typeface="Calibri"/>
                <a:cs typeface="Calibri"/>
              </a:rPr>
              <a:t>P02</a:t>
            </a:r>
            <a:endParaRPr sz="1300"/>
          </a:p>
        </p:txBody>
      </p:sp>
      <p:sp>
        <p:nvSpPr>
          <p:cNvPr id="20" name="Text 17">
            <a:extLst xmlns:a="http://schemas.openxmlformats.org/drawingml/2006/main">
              <a:ext uri="{FF2B5EF4-FFF2-40B4-BE49-F238E27FC236}">
                <a16:creationId xmlns:a16="http://schemas.microsoft.com/office/drawing/2014/main" id="{A52357B3-FF7B-45ED-922F-8EF7FF9E27E5}"/>
              </a:ext>
            </a:extLst>
          </p:cNvPr>
          <p:cNvSpPr>
            <a:spLocks xmlns:a="http://schemas.openxmlformats.org/drawingml/2006/main" noGrp="1"/>
          </p:cNvSpPr>
          <p:nvPr/>
        </p:nvSpPr>
        <p:spPr>
          <a:xfrm xmlns:a="http://schemas.openxmlformats.org/drawingml/2006/main">
            <a:off x="7040880" y="3364992"/>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E2925"/>
                </a:solidFill>
                <a:latin typeface="Cambria"/>
                <a:ea typeface="Cambria"/>
                <a:cs typeface="Cambria"/>
              </a:rPr>
              <a:t>Participante voluntario</a:t>
            </a:r>
            <a:endParaRPr sz="1600"/>
          </a:p>
        </p:txBody>
      </p:sp>
      <p:sp>
        <p:nvSpPr>
          <p:cNvPr id="21" name="Text 18">
            <a:extLst xmlns:a="http://schemas.openxmlformats.org/drawingml/2006/main">
              <a:ext uri="{FF2B5EF4-FFF2-40B4-BE49-F238E27FC236}">
                <a16:creationId xmlns:a16="http://schemas.microsoft.com/office/drawing/2014/main" id="{1A083F4A-7E1F-4256-ADA6-26D064565F4B}"/>
              </a:ext>
            </a:extLst>
          </p:cNvPr>
          <p:cNvSpPr>
            <a:spLocks xmlns:a="http://schemas.openxmlformats.org/drawingml/2006/main" noGrp="1"/>
          </p:cNvSpPr>
          <p:nvPr/>
        </p:nvSpPr>
        <p:spPr>
          <a:xfrm xmlns:a="http://schemas.openxmlformats.org/drawingml/2006/main">
            <a:off x="7040880" y="3776472"/>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65736D"/>
                </a:solidFill>
                <a:latin typeface="Calibri"/>
                <a:ea typeface="Calibri"/>
                <a:cs typeface="Calibri"/>
              </a:rPr>
              <a:t>Rol amplio · consentimiento · notas anonimizadas</a:t>
            </a:r>
            <a:endParaRPr sz="1200"/>
          </a:p>
        </p:txBody>
      </p:sp>
      <p:sp>
        <p:nvSpPr>
          <p:cNvPr id="22" name="Text 19">
            <a:extLst xmlns:a="http://schemas.openxmlformats.org/drawingml/2006/main">
              <a:ext uri="{FF2B5EF4-FFF2-40B4-BE49-F238E27FC236}">
                <a16:creationId xmlns:a16="http://schemas.microsoft.com/office/drawing/2014/main" id="{519A556D-3711-4A20-A3E2-030CD0B25072}"/>
              </a:ext>
            </a:extLst>
          </p:cNvPr>
          <p:cNvSpPr>
            <a:spLocks xmlns:a="http://schemas.openxmlformats.org/drawingml/2006/main" noGrp="1"/>
          </p:cNvSpPr>
          <p:nvPr/>
        </p:nvSpPr>
        <p:spPr>
          <a:xfrm xmlns:a="http://schemas.openxmlformats.org/drawingml/2006/main">
            <a:off x="10241280" y="3639312"/>
            <a:ext cx="118872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Por reclutar</a:t>
            </a:r>
            <a:endParaRPr sz="1100"/>
          </a:p>
        </p:txBody>
      </p:sp>
      <p:sp>
        <p:nvSpPr>
          <p:cNvPr id="23" name="Shape 20">
            <a:extLst xmlns:a="http://schemas.openxmlformats.org/drawingml/2006/main">
              <a:ext uri="{FF2B5EF4-FFF2-40B4-BE49-F238E27FC236}">
                <a16:creationId xmlns:a16="http://schemas.microsoft.com/office/drawing/2014/main" id="{BE9751AB-B103-49CE-AF1F-47C21FDC4067}"/>
              </a:ext>
            </a:extLst>
          </p:cNvPr>
          <p:cNvSpPr>
            <a:spLocks xmlns:a="http://schemas.openxmlformats.org/drawingml/2006/main" noGrp="1"/>
          </p:cNvSpPr>
          <p:nvPr/>
        </p:nvSpPr>
        <p:spPr>
          <a:xfrm xmlns:a="http://schemas.openxmlformats.org/drawingml/2006/main">
            <a:off x="5943600" y="4626864"/>
            <a:ext cx="5669280" cy="13716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4" name="Shape 21">
            <a:extLst xmlns:a="http://schemas.openxmlformats.org/drawingml/2006/main">
              <a:ext uri="{FF2B5EF4-FFF2-40B4-BE49-F238E27FC236}">
                <a16:creationId xmlns:a16="http://schemas.microsoft.com/office/drawing/2014/main" id="{9D4519DE-7EAC-4EBC-A2E2-2659CFA1C81E}"/>
              </a:ext>
            </a:extLst>
          </p:cNvPr>
          <p:cNvSpPr>
            <a:spLocks xmlns:a="http://schemas.openxmlformats.org/drawingml/2006/main" noGrp="1"/>
          </p:cNvSpPr>
          <p:nvPr/>
        </p:nvSpPr>
        <p:spPr>
          <a:xfrm xmlns:a="http://schemas.openxmlformats.org/drawingml/2006/main">
            <a:off x="6172200" y="4992624"/>
            <a:ext cx="640080" cy="640080"/>
          </a:xfrm>
          <a:prstGeom xmlns:a="http://schemas.openxmlformats.org/drawingml/2006/main" prst="ellipse">
            <a:avLst/>
          </a:prstGeom>
          <a:solidFill xmlns:a="http://schemas.openxmlformats.org/drawingml/2006/main">
            <a:srgbClr val="E5F2EB"/>
          </a:solidFill>
          <a:ln xmlns:a="http://schemas.openxmlformats.org/drawingml/2006/main" w="12700">
            <a:solidFill>
              <a:srgbClr val="176B4B"/>
            </a:solidFill>
            <a:prstDash val="solid"/>
          </a:ln>
        </p:spPr>
      </p:sp>
      <p:sp>
        <p:nvSpPr>
          <p:cNvPr id="25" name="Text 22">
            <a:extLst xmlns:a="http://schemas.openxmlformats.org/drawingml/2006/main">
              <a:ext uri="{FF2B5EF4-FFF2-40B4-BE49-F238E27FC236}">
                <a16:creationId xmlns:a16="http://schemas.microsoft.com/office/drawing/2014/main" id="{BCB70FC7-0C1F-4AE5-898B-F1BF27982BD0}"/>
              </a:ext>
            </a:extLst>
          </p:cNvPr>
          <p:cNvSpPr>
            <a:spLocks xmlns:a="http://schemas.openxmlformats.org/drawingml/2006/main" noGrp="1"/>
          </p:cNvSpPr>
          <p:nvPr/>
        </p:nvSpPr>
        <p:spPr>
          <a:xfrm xmlns:a="http://schemas.openxmlformats.org/drawingml/2006/main">
            <a:off x="6172200" y="4992624"/>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76B4B"/>
                </a:solidFill>
                <a:latin typeface="Calibri"/>
                <a:ea typeface="Calibri"/>
                <a:cs typeface="Calibri"/>
              </a:rPr>
              <a:t>P03</a:t>
            </a:r>
            <a:endParaRPr sz="1300"/>
          </a:p>
        </p:txBody>
      </p:sp>
      <p:sp>
        <p:nvSpPr>
          <p:cNvPr id="26" name="Text 23">
            <a:extLst xmlns:a="http://schemas.openxmlformats.org/drawingml/2006/main">
              <a:ext uri="{FF2B5EF4-FFF2-40B4-BE49-F238E27FC236}">
                <a16:creationId xmlns:a16="http://schemas.microsoft.com/office/drawing/2014/main" id="{2189E542-53FF-40E0-B47A-51FBB6B59D6F}"/>
              </a:ext>
            </a:extLst>
          </p:cNvPr>
          <p:cNvSpPr>
            <a:spLocks xmlns:a="http://schemas.openxmlformats.org/drawingml/2006/main" noGrp="1"/>
          </p:cNvSpPr>
          <p:nvPr/>
        </p:nvSpPr>
        <p:spPr>
          <a:xfrm xmlns:a="http://schemas.openxmlformats.org/drawingml/2006/main">
            <a:off x="7040880" y="4901184"/>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E2925"/>
                </a:solidFill>
                <a:latin typeface="Cambria"/>
                <a:ea typeface="Cambria"/>
                <a:cs typeface="Cambria"/>
              </a:rPr>
              <a:t>Participante voluntario</a:t>
            </a:r>
            <a:endParaRPr sz="1600"/>
          </a:p>
        </p:txBody>
      </p:sp>
      <p:sp>
        <p:nvSpPr>
          <p:cNvPr id="27" name="Text 24">
            <a:extLst xmlns:a="http://schemas.openxmlformats.org/drawingml/2006/main">
              <a:ext uri="{FF2B5EF4-FFF2-40B4-BE49-F238E27FC236}">
                <a16:creationId xmlns:a16="http://schemas.microsoft.com/office/drawing/2014/main" id="{BFCD1119-4F77-4402-A9FF-B1085A86C746}"/>
              </a:ext>
            </a:extLst>
          </p:cNvPr>
          <p:cNvSpPr>
            <a:spLocks xmlns:a="http://schemas.openxmlformats.org/drawingml/2006/main" noGrp="1"/>
          </p:cNvSpPr>
          <p:nvPr/>
        </p:nvSpPr>
        <p:spPr>
          <a:xfrm xmlns:a="http://schemas.openxmlformats.org/drawingml/2006/main">
            <a:off x="7040880" y="5312664"/>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65736D"/>
                </a:solidFill>
                <a:latin typeface="Calibri"/>
                <a:ea typeface="Calibri"/>
                <a:cs typeface="Calibri"/>
              </a:rPr>
              <a:t>Rol amplio · consentimiento · notas anonimizadas</a:t>
            </a:r>
            <a:endParaRPr sz="1200"/>
          </a:p>
        </p:txBody>
      </p:sp>
      <p:sp>
        <p:nvSpPr>
          <p:cNvPr id="28" name="Text 25">
            <a:extLst xmlns:a="http://schemas.openxmlformats.org/drawingml/2006/main">
              <a:ext uri="{FF2B5EF4-FFF2-40B4-BE49-F238E27FC236}">
                <a16:creationId xmlns:a16="http://schemas.microsoft.com/office/drawing/2014/main" id="{CBF19780-27B7-43D0-B7C0-CBB7C8F72946}"/>
              </a:ext>
            </a:extLst>
          </p:cNvPr>
          <p:cNvSpPr>
            <a:spLocks xmlns:a="http://schemas.openxmlformats.org/drawingml/2006/main" noGrp="1"/>
          </p:cNvSpPr>
          <p:nvPr/>
        </p:nvSpPr>
        <p:spPr>
          <a:xfrm xmlns:a="http://schemas.openxmlformats.org/drawingml/2006/main">
            <a:off x="10241280" y="5175504"/>
            <a:ext cx="118872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Por reclutar</a:t>
            </a:r>
            <a:endParaRPr sz="1100"/>
          </a:p>
        </p:txBody>
      </p:sp>
    </p:spTree>
    <p:extLst>
      <p:ext uri="{BB962C8B-B14F-4D97-AF65-F5344CB8AC3E}">
        <p14:creationId xmlns:p14="http://schemas.microsoft.com/office/powerpoint/2010/main" val="27291937"/>
      </p:ext>
    </p:extLst>
  </p:cSld>
</p:sld>
</file>

<file path=ppt/slides/slide4.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24DFF9-6DEF-4593-8FC9-E297140A5471}"/>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PERFILES Y CONTEXTO DE USO</a:t>
            </a:r>
            <a:endParaRPr sz="1200"/>
          </a:p>
        </p:txBody>
      </p:sp>
      <p:sp>
        <p:nvSpPr>
          <p:cNvPr id="3" name="Text 1">
            <a:extLst xmlns:a="http://schemas.openxmlformats.org/drawingml/2006/main">
              <a:ext uri="{FF2B5EF4-FFF2-40B4-BE49-F238E27FC236}">
                <a16:creationId xmlns:a16="http://schemas.microsoft.com/office/drawing/2014/main" id="{8E426D13-BD82-43A2-9EC4-76095E19EE40}"/>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Dos perfiles provisionales, marcados como hipótesis</a:t>
            </a:r>
            <a:endParaRPr sz="3000"/>
          </a:p>
        </p:txBody>
      </p:sp>
      <p:sp>
        <p:nvSpPr>
          <p:cNvPr id="4" name="Text 2">
            <a:extLst xmlns:a="http://schemas.openxmlformats.org/drawingml/2006/main">
              <a:ext uri="{FF2B5EF4-FFF2-40B4-BE49-F238E27FC236}">
                <a16:creationId xmlns:a16="http://schemas.microsoft.com/office/drawing/2014/main" id="{F6CAC479-291E-4EC0-A14B-EFB471757B77}"/>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4 / 13</a:t>
            </a:r>
            <a:endParaRPr sz="1000"/>
          </a:p>
        </p:txBody>
      </p:sp>
      <p:sp>
        <p:nvSpPr>
          <p:cNvPr id="5" name="Text 3">
            <a:extLst xmlns:a="http://schemas.openxmlformats.org/drawingml/2006/main">
              <a:ext uri="{FF2B5EF4-FFF2-40B4-BE49-F238E27FC236}">
                <a16:creationId xmlns:a16="http://schemas.microsoft.com/office/drawing/2014/main" id="{E15CA522-C2BF-46C1-8DA5-3FCE31E8906D}"/>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Shape 4">
            <a:extLst xmlns:a="http://schemas.openxmlformats.org/drawingml/2006/main">
              <a:ext uri="{FF2B5EF4-FFF2-40B4-BE49-F238E27FC236}">
                <a16:creationId xmlns:a16="http://schemas.microsoft.com/office/drawing/2014/main" id="{96BD4BEB-B7E2-4249-84A3-82DA11D2129A}"/>
              </a:ext>
            </a:extLst>
          </p:cNvPr>
          <p:cNvSpPr>
            <a:spLocks xmlns:a="http://schemas.openxmlformats.org/drawingml/2006/main" noGrp="1"/>
          </p:cNvSpPr>
          <p:nvPr/>
        </p:nvSpPr>
        <p:spPr>
          <a:xfrm xmlns:a="http://schemas.openxmlformats.org/drawingml/2006/main">
            <a:off x="548640" y="1554480"/>
            <a:ext cx="5440680" cy="393192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8" name="Shape 5">
            <a:extLst xmlns:a="http://schemas.openxmlformats.org/drawingml/2006/main">
              <a:ext uri="{FF2B5EF4-FFF2-40B4-BE49-F238E27FC236}">
                <a16:creationId xmlns:a16="http://schemas.microsoft.com/office/drawing/2014/main" id="{9522BD25-2A32-41B4-BC68-3786328FE3FD}"/>
              </a:ext>
            </a:extLst>
          </p:cNvPr>
          <p:cNvSpPr>
            <a:spLocks xmlns:a="http://schemas.openxmlformats.org/drawingml/2006/main" noGrp="1"/>
          </p:cNvSpPr>
          <p:nvPr/>
        </p:nvSpPr>
        <p:spPr>
          <a:xfrm xmlns:a="http://schemas.openxmlformats.org/drawingml/2006/main">
            <a:off x="822960" y="1783080"/>
            <a:ext cx="685800" cy="685800"/>
          </a:xfrm>
          <a:prstGeom xmlns:a="http://schemas.openxmlformats.org/drawingml/2006/main" prst="ellipse">
            <a:avLst/>
          </a:prstGeom>
          <a:solidFill xmlns:a="http://schemas.openxmlformats.org/drawingml/2006/main">
            <a:srgbClr val="176B4B"/>
          </a:solidFill>
          <a:ln xmlns:a="http://schemas.openxmlformats.org/drawingml/2006/main" w="12700">
            <a:solidFill>
              <a:srgbClr val="176B4B"/>
            </a:solidFill>
            <a:prstDash val="solid"/>
          </a:ln>
        </p:spPr>
      </p:sp>
      <p:sp>
        <p:nvSpPr>
          <p:cNvPr id="9" name="Text 6">
            <a:extLst xmlns:a="http://schemas.openxmlformats.org/drawingml/2006/main">
              <a:ext uri="{FF2B5EF4-FFF2-40B4-BE49-F238E27FC236}">
                <a16:creationId xmlns:a16="http://schemas.microsoft.com/office/drawing/2014/main" id="{B443CF2C-FF14-4DC8-B197-E5AD09FBD469}"/>
              </a:ext>
            </a:extLst>
          </p:cNvPr>
          <p:cNvSpPr>
            <a:spLocks xmlns:a="http://schemas.openxmlformats.org/drawingml/2006/main" noGrp="1"/>
          </p:cNvSpPr>
          <p:nvPr/>
        </p:nvSpPr>
        <p:spPr>
          <a:xfrm xmlns:a="http://schemas.openxmlformats.org/drawingml/2006/main">
            <a:off x="822960" y="1783080"/>
            <a:ext cx="6858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FFFFFF"/>
                </a:solidFill>
                <a:latin typeface="Cambria"/>
                <a:ea typeface="Cambria"/>
                <a:cs typeface="Cambria"/>
              </a:rPr>
              <a:t>A</a:t>
            </a:r>
            <a:endParaRPr sz="2600"/>
          </a:p>
        </p:txBody>
      </p:sp>
      <p:sp>
        <p:nvSpPr>
          <p:cNvPr id="10" name="Text 7">
            <a:extLst xmlns:a="http://schemas.openxmlformats.org/drawingml/2006/main">
              <a:ext uri="{FF2B5EF4-FFF2-40B4-BE49-F238E27FC236}">
                <a16:creationId xmlns:a16="http://schemas.microsoft.com/office/drawing/2014/main" id="{106BFCCC-298D-4652-83F7-48E13158F217}"/>
              </a:ext>
            </a:extLst>
          </p:cNvPr>
          <p:cNvSpPr>
            <a:spLocks xmlns:a="http://schemas.openxmlformats.org/drawingml/2006/main" noGrp="1"/>
          </p:cNvSpPr>
          <p:nvPr/>
        </p:nvSpPr>
        <p:spPr>
          <a:xfrm xmlns:a="http://schemas.openxmlformats.org/drawingml/2006/main">
            <a:off x="1691640" y="1828800"/>
            <a:ext cx="41148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2925"/>
                </a:solidFill>
                <a:latin typeface="Cambria"/>
                <a:ea typeface="Cambria"/>
                <a:cs typeface="Cambria"/>
              </a:rPr>
              <a:t>Analista / operador de datos</a:t>
            </a:r>
            <a:endParaRPr sz="2000"/>
          </a:p>
        </p:txBody>
      </p:sp>
      <p:sp>
        <p:nvSpPr>
          <p:cNvPr id="11" name="Text 8">
            <a:extLst xmlns:a="http://schemas.openxmlformats.org/drawingml/2006/main">
              <a:ext uri="{FF2B5EF4-FFF2-40B4-BE49-F238E27FC236}">
                <a16:creationId xmlns:a16="http://schemas.microsoft.com/office/drawing/2014/main" id="{D3F4585F-B8C7-4D57-82F6-AE985D468286}"/>
              </a:ext>
            </a:extLst>
          </p:cNvPr>
          <p:cNvSpPr>
            <a:spLocks xmlns:a="http://schemas.openxmlformats.org/drawingml/2006/main" noGrp="1"/>
          </p:cNvSpPr>
          <p:nvPr/>
        </p:nvSpPr>
        <p:spPr>
          <a:xfrm xmlns:a="http://schemas.openxmlformats.org/drawingml/2006/main">
            <a:off x="822960" y="269748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i="1">
                <a:solidFill>
                  <a:srgbClr val="65736D"/>
                </a:solidFill>
                <a:latin typeface="Calibri"/>
                <a:ea typeface="Calibri"/>
                <a:cs typeface="Calibri"/>
              </a:rPr>
              <a:t>Basado en el flujo de carga y en el rol de la Fase 1</a:t>
            </a:r>
            <a:endParaRPr sz="1200"/>
          </a:p>
        </p:txBody>
      </p:sp>
      <p:sp>
        <p:nvSpPr>
          <p:cNvPr id="12" name="Text 9">
            <a:extLst xmlns:a="http://schemas.openxmlformats.org/drawingml/2006/main">
              <a:ext uri="{FF2B5EF4-FFF2-40B4-BE49-F238E27FC236}">
                <a16:creationId xmlns:a16="http://schemas.microsoft.com/office/drawing/2014/main" id="{5846D129-1560-49A1-BB54-D84550500D47}"/>
              </a:ext>
            </a:extLst>
          </p:cNvPr>
          <p:cNvSpPr>
            <a:spLocks xmlns:a="http://schemas.openxmlformats.org/drawingml/2006/main" noGrp="1"/>
          </p:cNvSpPr>
          <p:nvPr/>
        </p:nvSpPr>
        <p:spPr>
          <a:xfrm xmlns:a="http://schemas.openxmlformats.org/drawingml/2006/main">
            <a:off x="822960" y="3063240"/>
            <a:ext cx="49377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E2925"/>
                </a:solidFill>
                <a:latin typeface="Calibri"/>
                <a:ea typeface="Calibri"/>
                <a:cs typeface="Calibri"/>
              </a:rPr>
              <a:t>Objetivo: Seleccionar archivos, entender por qué un lote pasa o se rechaza y revisar el resultado.</a:t>
            </a:r>
            <a:endParaRPr sz="1400"/>
          </a:p>
        </p:txBody>
      </p:sp>
      <p:sp>
        <p:nvSpPr>
          <p:cNvPr id="13" name="Text 10">
            <a:extLst xmlns:a="http://schemas.openxmlformats.org/drawingml/2006/main">
              <a:ext uri="{FF2B5EF4-FFF2-40B4-BE49-F238E27FC236}">
                <a16:creationId xmlns:a16="http://schemas.microsoft.com/office/drawing/2014/main" id="{941DF582-3CB0-44DC-A616-D37ADF721800}"/>
              </a:ext>
            </a:extLst>
          </p:cNvPr>
          <p:cNvSpPr>
            <a:spLocks xmlns:a="http://schemas.openxmlformats.org/drawingml/2006/main" noGrp="1"/>
          </p:cNvSpPr>
          <p:nvPr/>
        </p:nvSpPr>
        <p:spPr>
          <a:xfrm xmlns:a="http://schemas.openxmlformats.org/drawingml/2006/main">
            <a:off x="822960" y="3931920"/>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76B4B"/>
                </a:solidFill>
                <a:latin typeface="Calibri"/>
                <a:ea typeface="Calibri"/>
                <a:cs typeface="Calibri"/>
              </a:rPr>
              <a:t>Necesidades por validar</a:t>
            </a:r>
            <a:endParaRPr sz="1200"/>
          </a:p>
        </p:txBody>
      </p:sp>
      <p:sp>
        <p:nvSpPr>
          <p:cNvPr id="14" name="Text 11">
            <a:extLst xmlns:a="http://schemas.openxmlformats.org/drawingml/2006/main">
              <a:ext uri="{FF2B5EF4-FFF2-40B4-BE49-F238E27FC236}">
                <a16:creationId xmlns:a16="http://schemas.microsoft.com/office/drawing/2014/main" id="{60270A42-A6F4-4926-892C-E10B4E736ABE}"/>
              </a:ext>
            </a:extLst>
          </p:cNvPr>
          <p:cNvSpPr>
            <a:spLocks xmlns:a="http://schemas.openxmlformats.org/drawingml/2006/main" noGrp="1"/>
          </p:cNvSpPr>
          <p:nvPr/>
        </p:nvSpPr>
        <p:spPr>
          <a:xfrm xmlns:a="http://schemas.openxmlformats.org/drawingml/2006/main">
            <a:off x="822960" y="4297680"/>
            <a:ext cx="233172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Validación temprana</a:t>
            </a:r>
            <a:endParaRPr sz="1100"/>
          </a:p>
        </p:txBody>
      </p:sp>
      <p:sp>
        <p:nvSpPr>
          <p:cNvPr id="15" name="Text 12">
            <a:extLst xmlns:a="http://schemas.openxmlformats.org/drawingml/2006/main">
              <a:ext uri="{FF2B5EF4-FFF2-40B4-BE49-F238E27FC236}">
                <a16:creationId xmlns:a16="http://schemas.microsoft.com/office/drawing/2014/main" id="{C46156F6-992B-4BD2-986D-FF171801CA4A}"/>
              </a:ext>
            </a:extLst>
          </p:cNvPr>
          <p:cNvSpPr>
            <a:spLocks xmlns:a="http://schemas.openxmlformats.org/drawingml/2006/main" noGrp="1"/>
          </p:cNvSpPr>
          <p:nvPr/>
        </p:nvSpPr>
        <p:spPr>
          <a:xfrm xmlns:a="http://schemas.openxmlformats.org/drawingml/2006/main">
            <a:off x="3291840" y="4297680"/>
            <a:ext cx="233172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Campos obligatorios claros</a:t>
            </a:r>
            <a:endParaRPr sz="1100"/>
          </a:p>
        </p:txBody>
      </p:sp>
      <p:sp>
        <p:nvSpPr>
          <p:cNvPr id="16" name="Text 13">
            <a:extLst xmlns:a="http://schemas.openxmlformats.org/drawingml/2006/main">
              <a:ext uri="{FF2B5EF4-FFF2-40B4-BE49-F238E27FC236}">
                <a16:creationId xmlns:a16="http://schemas.microsoft.com/office/drawing/2014/main" id="{0F907B30-957F-411C-B06B-EE0358E39FEE}"/>
              </a:ext>
            </a:extLst>
          </p:cNvPr>
          <p:cNvSpPr>
            <a:spLocks xmlns:a="http://schemas.openxmlformats.org/drawingml/2006/main" noGrp="1"/>
          </p:cNvSpPr>
          <p:nvPr/>
        </p:nvSpPr>
        <p:spPr>
          <a:xfrm xmlns:a="http://schemas.openxmlformats.org/drawingml/2006/main">
            <a:off x="822960" y="4754880"/>
            <a:ext cx="233172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Progreso legible</a:t>
            </a:r>
            <a:endParaRPr sz="1100"/>
          </a:p>
        </p:txBody>
      </p:sp>
      <p:sp>
        <p:nvSpPr>
          <p:cNvPr id="17" name="Text 14">
            <a:extLst xmlns:a="http://schemas.openxmlformats.org/drawingml/2006/main">
              <a:ext uri="{FF2B5EF4-FFF2-40B4-BE49-F238E27FC236}">
                <a16:creationId xmlns:a16="http://schemas.microsoft.com/office/drawing/2014/main" id="{B7FFD2D7-7CA1-4E49-A9A8-57A1D8E65B92}"/>
              </a:ext>
            </a:extLst>
          </p:cNvPr>
          <p:cNvSpPr>
            <a:spLocks xmlns:a="http://schemas.openxmlformats.org/drawingml/2006/main" noGrp="1"/>
          </p:cNvSpPr>
          <p:nvPr/>
        </p:nvSpPr>
        <p:spPr>
          <a:xfrm xmlns:a="http://schemas.openxmlformats.org/drawingml/2006/main">
            <a:off x="3291840" y="4754880"/>
            <a:ext cx="233172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Salida ante un rechazo</a:t>
            </a:r>
            <a:endParaRPr sz="1100"/>
          </a:p>
        </p:txBody>
      </p:sp>
      <p:sp>
        <p:nvSpPr>
          <p:cNvPr id="18" name="Shape 15">
            <a:extLst xmlns:a="http://schemas.openxmlformats.org/drawingml/2006/main">
              <a:ext uri="{FF2B5EF4-FFF2-40B4-BE49-F238E27FC236}">
                <a16:creationId xmlns:a16="http://schemas.microsoft.com/office/drawing/2014/main" id="{3FF9B261-1EAB-4DDD-89D9-FE7431A604B9}"/>
              </a:ext>
            </a:extLst>
          </p:cNvPr>
          <p:cNvSpPr>
            <a:spLocks xmlns:a="http://schemas.openxmlformats.org/drawingml/2006/main" noGrp="1"/>
          </p:cNvSpPr>
          <p:nvPr/>
        </p:nvSpPr>
        <p:spPr>
          <a:xfrm xmlns:a="http://schemas.openxmlformats.org/drawingml/2006/main">
            <a:off x="6172200" y="1554480"/>
            <a:ext cx="5440680" cy="393192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9" name="Shape 16">
            <a:extLst xmlns:a="http://schemas.openxmlformats.org/drawingml/2006/main">
              <a:ext uri="{FF2B5EF4-FFF2-40B4-BE49-F238E27FC236}">
                <a16:creationId xmlns:a16="http://schemas.microsoft.com/office/drawing/2014/main" id="{F8ACB0E0-ACB1-4BB3-B5B6-1453F5D99389}"/>
              </a:ext>
            </a:extLst>
          </p:cNvPr>
          <p:cNvSpPr>
            <a:spLocks xmlns:a="http://schemas.openxmlformats.org/drawingml/2006/main" noGrp="1"/>
          </p:cNvSpPr>
          <p:nvPr/>
        </p:nvSpPr>
        <p:spPr>
          <a:xfrm xmlns:a="http://schemas.openxmlformats.org/drawingml/2006/main">
            <a:off x="6446520" y="1783080"/>
            <a:ext cx="685800" cy="685800"/>
          </a:xfrm>
          <a:prstGeom xmlns:a="http://schemas.openxmlformats.org/drawingml/2006/main" prst="ellipse">
            <a:avLst/>
          </a:prstGeom>
          <a:solidFill xmlns:a="http://schemas.openxmlformats.org/drawingml/2006/main">
            <a:srgbClr val="176B4B"/>
          </a:solidFill>
          <a:ln xmlns:a="http://schemas.openxmlformats.org/drawingml/2006/main" w="12700">
            <a:solidFill>
              <a:srgbClr val="176B4B"/>
            </a:solidFill>
            <a:prstDash val="solid"/>
          </a:ln>
        </p:spPr>
      </p:sp>
      <p:sp>
        <p:nvSpPr>
          <p:cNvPr id="20" name="Text 17">
            <a:extLst xmlns:a="http://schemas.openxmlformats.org/drawingml/2006/main">
              <a:ext uri="{FF2B5EF4-FFF2-40B4-BE49-F238E27FC236}">
                <a16:creationId xmlns:a16="http://schemas.microsoft.com/office/drawing/2014/main" id="{356E4DB7-29EB-4EAF-8C04-9F516E6DCE9D}"/>
              </a:ext>
            </a:extLst>
          </p:cNvPr>
          <p:cNvSpPr>
            <a:spLocks xmlns:a="http://schemas.openxmlformats.org/drawingml/2006/main" noGrp="1"/>
          </p:cNvSpPr>
          <p:nvPr/>
        </p:nvSpPr>
        <p:spPr>
          <a:xfrm xmlns:a="http://schemas.openxmlformats.org/drawingml/2006/main">
            <a:off x="6446520" y="1783080"/>
            <a:ext cx="6858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FFFFFF"/>
                </a:solidFill>
                <a:latin typeface="Cambria"/>
                <a:ea typeface="Cambria"/>
                <a:cs typeface="Cambria"/>
              </a:rPr>
              <a:t>B</a:t>
            </a:r>
            <a:endParaRPr sz="2600"/>
          </a:p>
        </p:txBody>
      </p:sp>
      <p:sp>
        <p:nvSpPr>
          <p:cNvPr id="21" name="Text 18">
            <a:extLst xmlns:a="http://schemas.openxmlformats.org/drawingml/2006/main">
              <a:ext uri="{FF2B5EF4-FFF2-40B4-BE49-F238E27FC236}">
                <a16:creationId xmlns:a16="http://schemas.microsoft.com/office/drawing/2014/main" id="{ADAF78DA-8325-4647-AD9C-8967E60AFC3C}"/>
              </a:ext>
            </a:extLst>
          </p:cNvPr>
          <p:cNvSpPr>
            <a:spLocks xmlns:a="http://schemas.openxmlformats.org/drawingml/2006/main" noGrp="1"/>
          </p:cNvSpPr>
          <p:nvPr/>
        </p:nvSpPr>
        <p:spPr>
          <a:xfrm xmlns:a="http://schemas.openxmlformats.org/drawingml/2006/main">
            <a:off x="7315200" y="1828800"/>
            <a:ext cx="41148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2925"/>
                </a:solidFill>
                <a:latin typeface="Cambria"/>
                <a:ea typeface="Cambria"/>
                <a:cs typeface="Cambria"/>
              </a:rPr>
              <a:t>Consultor / perito consumidor de datos</a:t>
            </a:r>
            <a:endParaRPr sz="2000"/>
          </a:p>
        </p:txBody>
      </p:sp>
      <p:sp>
        <p:nvSpPr>
          <p:cNvPr id="22" name="Text 19">
            <a:extLst xmlns:a="http://schemas.openxmlformats.org/drawingml/2006/main">
              <a:ext uri="{FF2B5EF4-FFF2-40B4-BE49-F238E27FC236}">
                <a16:creationId xmlns:a16="http://schemas.microsoft.com/office/drawing/2014/main" id="{10DAACFD-3313-4D14-ADCB-522DA8A2B799}"/>
              </a:ext>
            </a:extLst>
          </p:cNvPr>
          <p:cNvSpPr>
            <a:spLocks xmlns:a="http://schemas.openxmlformats.org/drawingml/2006/main" noGrp="1"/>
          </p:cNvSpPr>
          <p:nvPr/>
        </p:nvSpPr>
        <p:spPr>
          <a:xfrm xmlns:a="http://schemas.openxmlformats.org/drawingml/2006/main">
            <a:off x="6446520" y="269748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i="1">
                <a:solidFill>
                  <a:srgbClr val="65736D"/>
                </a:solidFill>
                <a:latin typeface="Calibri"/>
                <a:ea typeface="Calibri"/>
                <a:cs typeface="Calibri"/>
              </a:rPr>
              <a:t>Basado en el actor consumidor descrito en la Fase 1</a:t>
            </a:r>
            <a:endParaRPr sz="1200"/>
          </a:p>
        </p:txBody>
      </p:sp>
      <p:sp>
        <p:nvSpPr>
          <p:cNvPr id="23" name="Text 20">
            <a:extLst xmlns:a="http://schemas.openxmlformats.org/drawingml/2006/main">
              <a:ext uri="{FF2B5EF4-FFF2-40B4-BE49-F238E27FC236}">
                <a16:creationId xmlns:a16="http://schemas.microsoft.com/office/drawing/2014/main" id="{276DEED6-A460-41EA-861C-A5CACDCAF736}"/>
              </a:ext>
            </a:extLst>
          </p:cNvPr>
          <p:cNvSpPr>
            <a:spLocks xmlns:a="http://schemas.openxmlformats.org/drawingml/2006/main" noGrp="1"/>
          </p:cNvSpPr>
          <p:nvPr/>
        </p:nvSpPr>
        <p:spPr>
          <a:xfrm xmlns:a="http://schemas.openxmlformats.org/drawingml/2006/main">
            <a:off x="6446520" y="3063240"/>
            <a:ext cx="49377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E2925"/>
                </a:solidFill>
                <a:latin typeface="Calibri"/>
                <a:ea typeface="Calibri"/>
                <a:cs typeface="Calibri"/>
              </a:rPr>
              <a:t>Objetivo: Consultar información consolidada, valorar su confiabilidad y exportar lo pertinente.</a:t>
            </a:r>
            <a:endParaRPr sz="1400"/>
          </a:p>
        </p:txBody>
      </p:sp>
      <p:sp>
        <p:nvSpPr>
          <p:cNvPr id="24" name="Text 21">
            <a:extLst xmlns:a="http://schemas.openxmlformats.org/drawingml/2006/main">
              <a:ext uri="{FF2B5EF4-FFF2-40B4-BE49-F238E27FC236}">
                <a16:creationId xmlns:a16="http://schemas.microsoft.com/office/drawing/2014/main" id="{E2B02443-46B6-4782-A3E1-74E49132A638}"/>
              </a:ext>
            </a:extLst>
          </p:cNvPr>
          <p:cNvSpPr>
            <a:spLocks xmlns:a="http://schemas.openxmlformats.org/drawingml/2006/main" noGrp="1"/>
          </p:cNvSpPr>
          <p:nvPr/>
        </p:nvSpPr>
        <p:spPr>
          <a:xfrm xmlns:a="http://schemas.openxmlformats.org/drawingml/2006/main">
            <a:off x="6446520" y="3931920"/>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76B4B"/>
                </a:solidFill>
                <a:latin typeface="Calibri"/>
                <a:ea typeface="Calibri"/>
                <a:cs typeface="Calibri"/>
              </a:rPr>
              <a:t>Necesidades por validar</a:t>
            </a:r>
            <a:endParaRPr sz="1200"/>
          </a:p>
        </p:txBody>
      </p:sp>
      <p:sp>
        <p:nvSpPr>
          <p:cNvPr id="25" name="Text 22">
            <a:extLst xmlns:a="http://schemas.openxmlformats.org/drawingml/2006/main">
              <a:ext uri="{FF2B5EF4-FFF2-40B4-BE49-F238E27FC236}">
                <a16:creationId xmlns:a16="http://schemas.microsoft.com/office/drawing/2014/main" id="{7E9905B7-7A7D-4B39-AE70-C8DBF3A14241}"/>
              </a:ext>
            </a:extLst>
          </p:cNvPr>
          <p:cNvSpPr>
            <a:spLocks xmlns:a="http://schemas.openxmlformats.org/drawingml/2006/main" noGrp="1"/>
          </p:cNvSpPr>
          <p:nvPr/>
        </p:nvSpPr>
        <p:spPr>
          <a:xfrm xmlns:a="http://schemas.openxmlformats.org/drawingml/2006/main">
            <a:off x="6446520" y="4297680"/>
            <a:ext cx="233172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Nombres reconocibles</a:t>
            </a:r>
            <a:endParaRPr sz="1100"/>
          </a:p>
        </p:txBody>
      </p:sp>
      <p:sp>
        <p:nvSpPr>
          <p:cNvPr id="26" name="Text 23">
            <a:extLst xmlns:a="http://schemas.openxmlformats.org/drawingml/2006/main">
              <a:ext uri="{FF2B5EF4-FFF2-40B4-BE49-F238E27FC236}">
                <a16:creationId xmlns:a16="http://schemas.microsoft.com/office/drawing/2014/main" id="{0193D95B-1E57-4C0D-9C8F-1A0578124826}"/>
              </a:ext>
            </a:extLst>
          </p:cNvPr>
          <p:cNvSpPr>
            <a:spLocks xmlns:a="http://schemas.openxmlformats.org/drawingml/2006/main" noGrp="1"/>
          </p:cNvSpPr>
          <p:nvPr/>
        </p:nvSpPr>
        <p:spPr>
          <a:xfrm xmlns:a="http://schemas.openxmlformats.org/drawingml/2006/main">
            <a:off x="8915400" y="4297680"/>
            <a:ext cx="233172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Filtros simples</a:t>
            </a:r>
            <a:endParaRPr sz="1100"/>
          </a:p>
        </p:txBody>
      </p:sp>
      <p:sp>
        <p:nvSpPr>
          <p:cNvPr id="27" name="Text 24">
            <a:extLst xmlns:a="http://schemas.openxmlformats.org/drawingml/2006/main">
              <a:ext uri="{FF2B5EF4-FFF2-40B4-BE49-F238E27FC236}">
                <a16:creationId xmlns:a16="http://schemas.microsoft.com/office/drawing/2014/main" id="{05F9AB33-CA4E-490B-AA65-BCFA0C3345CA}"/>
              </a:ext>
            </a:extLst>
          </p:cNvPr>
          <p:cNvSpPr>
            <a:spLocks xmlns:a="http://schemas.openxmlformats.org/drawingml/2006/main" noGrp="1"/>
          </p:cNvSpPr>
          <p:nvPr/>
        </p:nvSpPr>
        <p:spPr>
          <a:xfrm xmlns:a="http://schemas.openxmlformats.org/drawingml/2006/main">
            <a:off x="6446520" y="4754880"/>
            <a:ext cx="233172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Explicación de la calidad</a:t>
            </a:r>
            <a:endParaRPr sz="1100"/>
          </a:p>
        </p:txBody>
      </p:sp>
      <p:sp>
        <p:nvSpPr>
          <p:cNvPr id="28" name="Text 25">
            <a:extLst xmlns:a="http://schemas.openxmlformats.org/drawingml/2006/main">
              <a:ext uri="{FF2B5EF4-FFF2-40B4-BE49-F238E27FC236}">
                <a16:creationId xmlns:a16="http://schemas.microsoft.com/office/drawing/2014/main" id="{F8F5D911-99C5-4F68-9A4D-E4661DC4ED80}"/>
              </a:ext>
            </a:extLst>
          </p:cNvPr>
          <p:cNvSpPr>
            <a:spLocks xmlns:a="http://schemas.openxmlformats.org/drawingml/2006/main" noGrp="1"/>
          </p:cNvSpPr>
          <p:nvPr/>
        </p:nvSpPr>
        <p:spPr>
          <a:xfrm xmlns:a="http://schemas.openxmlformats.org/drawingml/2006/main">
            <a:off x="8915400" y="4754880"/>
            <a:ext cx="233172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Exportación</a:t>
            </a:r>
            <a:endParaRPr sz="1100"/>
          </a:p>
        </p:txBody>
      </p:sp>
      <p:sp>
        <p:nvSpPr>
          <p:cNvPr id="29" name="Text 26">
            <a:extLst xmlns:a="http://schemas.openxmlformats.org/drawingml/2006/main">
              <a:ext uri="{FF2B5EF4-FFF2-40B4-BE49-F238E27FC236}">
                <a16:creationId xmlns:a16="http://schemas.microsoft.com/office/drawing/2014/main" id="{1E6FB878-5B39-433E-A4D5-5D145532A462}"/>
              </a:ext>
            </a:extLst>
          </p:cNvPr>
          <p:cNvSpPr>
            <a:spLocks xmlns:a="http://schemas.openxmlformats.org/drawingml/2006/main" noGrp="1"/>
          </p:cNvSpPr>
          <p:nvPr/>
        </p:nvSpPr>
        <p:spPr>
          <a:xfrm xmlns:a="http://schemas.openxmlformats.org/drawingml/2006/main">
            <a:off x="548640" y="5760720"/>
            <a:ext cx="10972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A65022"/>
                </a:solidFill>
                <a:latin typeface="Calibri"/>
                <a:ea typeface="Calibri"/>
                <a:cs typeface="Calibri"/>
              </a:rPr>
              <a:t>Por investigar en las entrevistas: conocimientos, frecuencia, dispositivo, entorno y accesibilidad.</a:t>
            </a:r>
            <a:endParaRPr sz="1400"/>
          </a:p>
        </p:txBody>
      </p:sp>
    </p:spTree>
    <p:extLst>
      <p:ext uri="{BB962C8B-B14F-4D97-AF65-F5344CB8AC3E}">
        <p14:creationId xmlns:p14="http://schemas.microsoft.com/office/powerpoint/2010/main" val="70640947"/>
      </p:ext>
    </p:extLst>
  </p:cSld>
</p:sld>
</file>

<file path=ppt/slides/slide5.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930743-0F0C-49F9-82E4-D9D4D9B326A3}"/>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MATRIZ RI-01 A RI-08</a:t>
            </a:r>
            <a:endParaRPr sz="1200"/>
          </a:p>
        </p:txBody>
      </p:sp>
      <p:sp>
        <p:nvSpPr>
          <p:cNvPr id="3" name="Text 1">
            <a:extLst xmlns:a="http://schemas.openxmlformats.org/drawingml/2006/main">
              <a:ext uri="{FF2B5EF4-FFF2-40B4-BE49-F238E27FC236}">
                <a16:creationId xmlns:a16="http://schemas.microsoft.com/office/drawing/2014/main" id="{C75C40A7-1D64-40DD-8E15-E39CA294BCFF}"/>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Ocho requisitos de interacción derivados del backend</a:t>
            </a:r>
            <a:endParaRPr sz="3000"/>
          </a:p>
        </p:txBody>
      </p:sp>
      <p:sp>
        <p:nvSpPr>
          <p:cNvPr id="4" name="Text 2">
            <a:extLst xmlns:a="http://schemas.openxmlformats.org/drawingml/2006/main">
              <a:ext uri="{FF2B5EF4-FFF2-40B4-BE49-F238E27FC236}">
                <a16:creationId xmlns:a16="http://schemas.microsoft.com/office/drawing/2014/main" id="{CF42EC4F-7D2A-48DD-B8C6-C383595EE56D}"/>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5 / 13</a:t>
            </a:r>
            <a:endParaRPr sz="1000"/>
          </a:p>
        </p:txBody>
      </p:sp>
      <p:sp>
        <p:nvSpPr>
          <p:cNvPr id="5" name="Text 3">
            <a:extLst xmlns:a="http://schemas.openxmlformats.org/drawingml/2006/main">
              <a:ext uri="{FF2B5EF4-FFF2-40B4-BE49-F238E27FC236}">
                <a16:creationId xmlns:a16="http://schemas.microsoft.com/office/drawing/2014/main" id="{3C5F30D3-0288-4461-9DA4-10CCBC26E48E}"/>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Shape 4">
            <a:extLst xmlns:a="http://schemas.openxmlformats.org/drawingml/2006/main">
              <a:ext uri="{FF2B5EF4-FFF2-40B4-BE49-F238E27FC236}">
                <a16:creationId xmlns:a16="http://schemas.microsoft.com/office/drawing/2014/main" id="{F66BA55F-D221-4AC6-8360-BE901F0780B4}"/>
              </a:ext>
            </a:extLst>
          </p:cNvPr>
          <p:cNvSpPr>
            <a:spLocks xmlns:a="http://schemas.openxmlformats.org/drawingml/2006/main" noGrp="1"/>
          </p:cNvSpPr>
          <p:nvPr/>
        </p:nvSpPr>
        <p:spPr>
          <a:xfrm xmlns:a="http://schemas.openxmlformats.org/drawingml/2006/main">
            <a:off x="548640" y="1508760"/>
            <a:ext cx="5440680" cy="1033272"/>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8" name="Text 5">
            <a:extLst xmlns:a="http://schemas.openxmlformats.org/drawingml/2006/main">
              <a:ext uri="{FF2B5EF4-FFF2-40B4-BE49-F238E27FC236}">
                <a16:creationId xmlns:a16="http://schemas.microsoft.com/office/drawing/2014/main" id="{BAF719D7-0513-4CCA-A3B1-0AF1D598F346}"/>
              </a:ext>
            </a:extLst>
          </p:cNvPr>
          <p:cNvSpPr>
            <a:spLocks xmlns:a="http://schemas.openxmlformats.org/drawingml/2006/main" noGrp="1"/>
          </p:cNvSpPr>
          <p:nvPr/>
        </p:nvSpPr>
        <p:spPr>
          <a:xfrm xmlns:a="http://schemas.openxmlformats.org/drawingml/2006/main">
            <a:off x="777240" y="1691640"/>
            <a:ext cx="822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6B4B"/>
                </a:solidFill>
                <a:latin typeface="Cambria"/>
                <a:ea typeface="Cambria"/>
                <a:cs typeface="Cambria"/>
              </a:rPr>
              <a:t>RI-01</a:t>
            </a:r>
            <a:endParaRPr sz="1800"/>
          </a:p>
        </p:txBody>
      </p:sp>
      <p:sp>
        <p:nvSpPr>
          <p:cNvPr id="9" name="Text 6">
            <a:extLst xmlns:a="http://schemas.openxmlformats.org/drawingml/2006/main">
              <a:ext uri="{FF2B5EF4-FFF2-40B4-BE49-F238E27FC236}">
                <a16:creationId xmlns:a16="http://schemas.microsoft.com/office/drawing/2014/main" id="{8E421E46-B2AB-4FE5-A4F7-64480CF1A3F1}"/>
              </a:ext>
            </a:extLst>
          </p:cNvPr>
          <p:cNvSpPr>
            <a:spLocks xmlns:a="http://schemas.openxmlformats.org/drawingml/2006/main" noGrp="1"/>
          </p:cNvSpPr>
          <p:nvPr/>
        </p:nvSpPr>
        <p:spPr>
          <a:xfrm xmlns:a="http://schemas.openxmlformats.org/drawingml/2006/main">
            <a:off x="731520" y="2103120"/>
            <a:ext cx="777240" cy="274320"/>
          </a:xfrm>
          <a:prstGeom xmlns:a="http://schemas.openxmlformats.org/drawingml/2006/main" prst="roundRect">
            <a:avLst>
              <a:gd name="adj" fmla="val 50000"/>
            </a:avLst>
          </a:prstGeom>
          <a:solidFill xmlns:a="http://schemas.openxmlformats.org/drawingml/2006/main">
            <a:srgbClr val="FCEAEA"/>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53535"/>
                </a:solidFill>
                <a:latin typeface="Calibri"/>
                <a:ea typeface="Calibri"/>
                <a:cs typeface="Calibri"/>
              </a:rPr>
              <a:t>Alta</a:t>
            </a:r>
            <a:endParaRPr sz="1100"/>
          </a:p>
        </p:txBody>
      </p:sp>
      <p:sp>
        <p:nvSpPr>
          <p:cNvPr id="10" name="Text 7">
            <a:extLst xmlns:a="http://schemas.openxmlformats.org/drawingml/2006/main">
              <a:ext uri="{FF2B5EF4-FFF2-40B4-BE49-F238E27FC236}">
                <a16:creationId xmlns:a16="http://schemas.microsoft.com/office/drawing/2014/main" id="{3923E9CC-82C9-4CBA-8C4E-1FF333279BD8}"/>
              </a:ext>
            </a:extLst>
          </p:cNvPr>
          <p:cNvSpPr>
            <a:spLocks xmlns:a="http://schemas.openxmlformats.org/drawingml/2006/main" noGrp="1"/>
          </p:cNvSpPr>
          <p:nvPr/>
        </p:nvSpPr>
        <p:spPr>
          <a:xfrm xmlns:a="http://schemas.openxmlformats.org/drawingml/2006/main">
            <a:off x="1737360" y="1645920"/>
            <a:ext cx="40690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alibri"/>
                <a:ea typeface="Calibri"/>
                <a:cs typeface="Calibri"/>
              </a:rPr>
              <a:t>Identificar y quitar archivos seleccionados antes de procesar</a:t>
            </a:r>
            <a:endParaRPr sz="1500"/>
          </a:p>
        </p:txBody>
      </p:sp>
      <p:sp>
        <p:nvSpPr>
          <p:cNvPr id="11" name="Shape 8">
            <a:extLst xmlns:a="http://schemas.openxmlformats.org/drawingml/2006/main">
              <a:ext uri="{FF2B5EF4-FFF2-40B4-BE49-F238E27FC236}">
                <a16:creationId xmlns:a16="http://schemas.microsoft.com/office/drawing/2014/main" id="{95F1E732-98B6-47B2-A0DC-BED8AE19ABB3}"/>
              </a:ext>
            </a:extLst>
          </p:cNvPr>
          <p:cNvSpPr>
            <a:spLocks xmlns:a="http://schemas.openxmlformats.org/drawingml/2006/main" noGrp="1"/>
          </p:cNvSpPr>
          <p:nvPr/>
        </p:nvSpPr>
        <p:spPr>
          <a:xfrm xmlns:a="http://schemas.openxmlformats.org/drawingml/2006/main">
            <a:off x="6172200" y="1508760"/>
            <a:ext cx="5440680" cy="1033272"/>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2" name="Text 9">
            <a:extLst xmlns:a="http://schemas.openxmlformats.org/drawingml/2006/main">
              <a:ext uri="{FF2B5EF4-FFF2-40B4-BE49-F238E27FC236}">
                <a16:creationId xmlns:a16="http://schemas.microsoft.com/office/drawing/2014/main" id="{61EA829E-AD01-4EAB-A77C-8F1AAB42B880}"/>
              </a:ext>
            </a:extLst>
          </p:cNvPr>
          <p:cNvSpPr>
            <a:spLocks xmlns:a="http://schemas.openxmlformats.org/drawingml/2006/main" noGrp="1"/>
          </p:cNvSpPr>
          <p:nvPr/>
        </p:nvSpPr>
        <p:spPr>
          <a:xfrm xmlns:a="http://schemas.openxmlformats.org/drawingml/2006/main">
            <a:off x="6400800" y="1691640"/>
            <a:ext cx="822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6B4B"/>
                </a:solidFill>
                <a:latin typeface="Cambria"/>
                <a:ea typeface="Cambria"/>
                <a:cs typeface="Cambria"/>
              </a:rPr>
              <a:t>RI-02</a:t>
            </a:r>
            <a:endParaRPr sz="1800"/>
          </a:p>
        </p:txBody>
      </p:sp>
      <p:sp>
        <p:nvSpPr>
          <p:cNvPr id="13" name="Text 10">
            <a:extLst xmlns:a="http://schemas.openxmlformats.org/drawingml/2006/main">
              <a:ext uri="{FF2B5EF4-FFF2-40B4-BE49-F238E27FC236}">
                <a16:creationId xmlns:a16="http://schemas.microsoft.com/office/drawing/2014/main" id="{8090FAD8-52B0-430E-940B-1B0DF0919056}"/>
              </a:ext>
            </a:extLst>
          </p:cNvPr>
          <p:cNvSpPr>
            <a:spLocks xmlns:a="http://schemas.openxmlformats.org/drawingml/2006/main" noGrp="1"/>
          </p:cNvSpPr>
          <p:nvPr/>
        </p:nvSpPr>
        <p:spPr>
          <a:xfrm xmlns:a="http://schemas.openxmlformats.org/drawingml/2006/main">
            <a:off x="6355080" y="2103120"/>
            <a:ext cx="777240" cy="274320"/>
          </a:xfrm>
          <a:prstGeom xmlns:a="http://schemas.openxmlformats.org/drawingml/2006/main" prst="roundRect">
            <a:avLst>
              <a:gd name="adj" fmla="val 50000"/>
            </a:avLst>
          </a:prstGeom>
          <a:solidFill xmlns:a="http://schemas.openxmlformats.org/drawingml/2006/main">
            <a:srgbClr val="FCEAEA"/>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53535"/>
                </a:solidFill>
                <a:latin typeface="Calibri"/>
                <a:ea typeface="Calibri"/>
                <a:cs typeface="Calibri"/>
              </a:rPr>
              <a:t>Alta</a:t>
            </a:r>
            <a:endParaRPr sz="1100"/>
          </a:p>
        </p:txBody>
      </p:sp>
      <p:sp>
        <p:nvSpPr>
          <p:cNvPr id="14" name="Text 11">
            <a:extLst xmlns:a="http://schemas.openxmlformats.org/drawingml/2006/main">
              <a:ext uri="{FF2B5EF4-FFF2-40B4-BE49-F238E27FC236}">
                <a16:creationId xmlns:a16="http://schemas.microsoft.com/office/drawing/2014/main" id="{67210675-4F83-4BA9-8AF0-78C71BACFAE6}"/>
              </a:ext>
            </a:extLst>
          </p:cNvPr>
          <p:cNvSpPr>
            <a:spLocks xmlns:a="http://schemas.openxmlformats.org/drawingml/2006/main" noGrp="1"/>
          </p:cNvSpPr>
          <p:nvPr/>
        </p:nvSpPr>
        <p:spPr>
          <a:xfrm xmlns:a="http://schemas.openxmlformats.org/drawingml/2006/main">
            <a:off x="7360920" y="1645920"/>
            <a:ext cx="40690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alibri"/>
                <a:ea typeface="Calibri"/>
                <a:cs typeface="Calibri"/>
              </a:rPr>
              <a:t>Explicar formato no admitido o archivo vacío antes de ejecutar</a:t>
            </a:r>
            <a:endParaRPr sz="1500"/>
          </a:p>
        </p:txBody>
      </p:sp>
      <p:sp>
        <p:nvSpPr>
          <p:cNvPr id="15" name="Shape 12">
            <a:extLst xmlns:a="http://schemas.openxmlformats.org/drawingml/2006/main">
              <a:ext uri="{FF2B5EF4-FFF2-40B4-BE49-F238E27FC236}">
                <a16:creationId xmlns:a16="http://schemas.microsoft.com/office/drawing/2014/main" id="{78F5B5FF-C926-4C20-823A-B13A8E41F506}"/>
              </a:ext>
            </a:extLst>
          </p:cNvPr>
          <p:cNvSpPr>
            <a:spLocks xmlns:a="http://schemas.openxmlformats.org/drawingml/2006/main" noGrp="1"/>
          </p:cNvSpPr>
          <p:nvPr/>
        </p:nvSpPr>
        <p:spPr>
          <a:xfrm xmlns:a="http://schemas.openxmlformats.org/drawingml/2006/main">
            <a:off x="548640" y="2679192"/>
            <a:ext cx="5440680" cy="1033272"/>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6" name="Text 13">
            <a:extLst xmlns:a="http://schemas.openxmlformats.org/drawingml/2006/main">
              <a:ext uri="{FF2B5EF4-FFF2-40B4-BE49-F238E27FC236}">
                <a16:creationId xmlns:a16="http://schemas.microsoft.com/office/drawing/2014/main" id="{DF9947E4-1262-45CC-91AC-F3DEE716664D}"/>
              </a:ext>
            </a:extLst>
          </p:cNvPr>
          <p:cNvSpPr>
            <a:spLocks xmlns:a="http://schemas.openxmlformats.org/drawingml/2006/main" noGrp="1"/>
          </p:cNvSpPr>
          <p:nvPr/>
        </p:nvSpPr>
        <p:spPr>
          <a:xfrm xmlns:a="http://schemas.openxmlformats.org/drawingml/2006/main">
            <a:off x="777240" y="2862072"/>
            <a:ext cx="822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6B4B"/>
                </a:solidFill>
                <a:latin typeface="Cambria"/>
                <a:ea typeface="Cambria"/>
                <a:cs typeface="Cambria"/>
              </a:rPr>
              <a:t>RI-03</a:t>
            </a:r>
            <a:endParaRPr sz="1800"/>
          </a:p>
        </p:txBody>
      </p:sp>
      <p:sp>
        <p:nvSpPr>
          <p:cNvPr id="17" name="Text 14">
            <a:extLst xmlns:a="http://schemas.openxmlformats.org/drawingml/2006/main">
              <a:ext uri="{FF2B5EF4-FFF2-40B4-BE49-F238E27FC236}">
                <a16:creationId xmlns:a16="http://schemas.microsoft.com/office/drawing/2014/main" id="{3054C30A-77A0-4F03-B6B7-758401C4C2AB}"/>
              </a:ext>
            </a:extLst>
          </p:cNvPr>
          <p:cNvSpPr>
            <a:spLocks xmlns:a="http://schemas.openxmlformats.org/drawingml/2006/main" noGrp="1"/>
          </p:cNvSpPr>
          <p:nvPr/>
        </p:nvSpPr>
        <p:spPr>
          <a:xfrm xmlns:a="http://schemas.openxmlformats.org/drawingml/2006/main">
            <a:off x="731520" y="3273552"/>
            <a:ext cx="777240" cy="274320"/>
          </a:xfrm>
          <a:prstGeom xmlns:a="http://schemas.openxmlformats.org/drawingml/2006/main" prst="roundRect">
            <a:avLst>
              <a:gd name="adj" fmla="val 50000"/>
            </a:avLst>
          </a:prstGeom>
          <a:solidFill xmlns:a="http://schemas.openxmlformats.org/drawingml/2006/main">
            <a:srgbClr val="FCEAEA"/>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53535"/>
                </a:solidFill>
                <a:latin typeface="Calibri"/>
                <a:ea typeface="Calibri"/>
                <a:cs typeface="Calibri"/>
              </a:rPr>
              <a:t>Alta</a:t>
            </a:r>
            <a:endParaRPr sz="1100"/>
          </a:p>
        </p:txBody>
      </p:sp>
      <p:sp>
        <p:nvSpPr>
          <p:cNvPr id="18" name="Text 15">
            <a:extLst xmlns:a="http://schemas.openxmlformats.org/drawingml/2006/main">
              <a:ext uri="{FF2B5EF4-FFF2-40B4-BE49-F238E27FC236}">
                <a16:creationId xmlns:a16="http://schemas.microsoft.com/office/drawing/2014/main" id="{E18B5F9F-032D-41FA-B6EF-B6D9D8908E50}"/>
              </a:ext>
            </a:extLst>
          </p:cNvPr>
          <p:cNvSpPr>
            <a:spLocks xmlns:a="http://schemas.openxmlformats.org/drawingml/2006/main" noGrp="1"/>
          </p:cNvSpPr>
          <p:nvPr/>
        </p:nvSpPr>
        <p:spPr>
          <a:xfrm xmlns:a="http://schemas.openxmlformats.org/drawingml/2006/main">
            <a:off x="1737360" y="2816352"/>
            <a:ext cx="40690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alibri"/>
                <a:ea typeface="Calibri"/>
                <a:cs typeface="Calibri"/>
              </a:rPr>
              <a:t>Mostrar los seis atributos obligatorios con ejemplo y estado</a:t>
            </a:r>
            <a:endParaRPr sz="1500"/>
          </a:p>
        </p:txBody>
      </p:sp>
      <p:sp>
        <p:nvSpPr>
          <p:cNvPr id="19" name="Shape 16">
            <a:extLst xmlns:a="http://schemas.openxmlformats.org/drawingml/2006/main">
              <a:ext uri="{FF2B5EF4-FFF2-40B4-BE49-F238E27FC236}">
                <a16:creationId xmlns:a16="http://schemas.microsoft.com/office/drawing/2014/main" id="{A2FAFCAC-BB31-4377-8BED-7539AA1E2DB5}"/>
              </a:ext>
            </a:extLst>
          </p:cNvPr>
          <p:cNvSpPr>
            <a:spLocks xmlns:a="http://schemas.openxmlformats.org/drawingml/2006/main" noGrp="1"/>
          </p:cNvSpPr>
          <p:nvPr/>
        </p:nvSpPr>
        <p:spPr>
          <a:xfrm xmlns:a="http://schemas.openxmlformats.org/drawingml/2006/main">
            <a:off x="6172200" y="2679192"/>
            <a:ext cx="5440680" cy="1033272"/>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0" name="Text 17">
            <a:extLst xmlns:a="http://schemas.openxmlformats.org/drawingml/2006/main">
              <a:ext uri="{FF2B5EF4-FFF2-40B4-BE49-F238E27FC236}">
                <a16:creationId xmlns:a16="http://schemas.microsoft.com/office/drawing/2014/main" id="{F0A78FCB-D574-4EC0-B0E2-E913BC8A2392}"/>
              </a:ext>
            </a:extLst>
          </p:cNvPr>
          <p:cNvSpPr>
            <a:spLocks xmlns:a="http://schemas.openxmlformats.org/drawingml/2006/main" noGrp="1"/>
          </p:cNvSpPr>
          <p:nvPr/>
        </p:nvSpPr>
        <p:spPr>
          <a:xfrm xmlns:a="http://schemas.openxmlformats.org/drawingml/2006/main">
            <a:off x="6400800" y="2862072"/>
            <a:ext cx="822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6B4B"/>
                </a:solidFill>
                <a:latin typeface="Cambria"/>
                <a:ea typeface="Cambria"/>
                <a:cs typeface="Cambria"/>
              </a:rPr>
              <a:t>RI-04</a:t>
            </a:r>
            <a:endParaRPr sz="1800"/>
          </a:p>
        </p:txBody>
      </p:sp>
      <p:sp>
        <p:nvSpPr>
          <p:cNvPr id="21" name="Text 18">
            <a:extLst xmlns:a="http://schemas.openxmlformats.org/drawingml/2006/main">
              <a:ext uri="{FF2B5EF4-FFF2-40B4-BE49-F238E27FC236}">
                <a16:creationId xmlns:a16="http://schemas.microsoft.com/office/drawing/2014/main" id="{A861541B-1988-4613-868F-CB7E2B1B5DCD}"/>
              </a:ext>
            </a:extLst>
          </p:cNvPr>
          <p:cNvSpPr>
            <a:spLocks xmlns:a="http://schemas.openxmlformats.org/drawingml/2006/main" noGrp="1"/>
          </p:cNvSpPr>
          <p:nvPr/>
        </p:nvSpPr>
        <p:spPr>
          <a:xfrm xmlns:a="http://schemas.openxmlformats.org/drawingml/2006/main">
            <a:off x="6355080" y="3273552"/>
            <a:ext cx="777240" cy="274320"/>
          </a:xfrm>
          <a:prstGeom xmlns:a="http://schemas.openxmlformats.org/drawingml/2006/main" prst="roundRect">
            <a:avLst>
              <a:gd name="adj" fmla="val 50000"/>
            </a:avLst>
          </a:prstGeom>
          <a:solidFill xmlns:a="http://schemas.openxmlformats.org/drawingml/2006/main">
            <a:srgbClr val="FCEAEA"/>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53535"/>
                </a:solidFill>
                <a:latin typeface="Calibri"/>
                <a:ea typeface="Calibri"/>
                <a:cs typeface="Calibri"/>
              </a:rPr>
              <a:t>Alta</a:t>
            </a:r>
            <a:endParaRPr sz="1100"/>
          </a:p>
        </p:txBody>
      </p:sp>
      <p:sp>
        <p:nvSpPr>
          <p:cNvPr id="22" name="Text 19">
            <a:extLst xmlns:a="http://schemas.openxmlformats.org/drawingml/2006/main">
              <a:ext uri="{FF2B5EF4-FFF2-40B4-BE49-F238E27FC236}">
                <a16:creationId xmlns:a16="http://schemas.microsoft.com/office/drawing/2014/main" id="{36A2A6F4-D6F1-47F8-A9C0-D44F8FCF5D35}"/>
              </a:ext>
            </a:extLst>
          </p:cNvPr>
          <p:cNvSpPr>
            <a:spLocks xmlns:a="http://schemas.openxmlformats.org/drawingml/2006/main" noGrp="1"/>
          </p:cNvSpPr>
          <p:nvPr/>
        </p:nvSpPr>
        <p:spPr>
          <a:xfrm xmlns:a="http://schemas.openxmlformats.org/drawingml/2006/main">
            <a:off x="7360920" y="2816352"/>
            <a:ext cx="40690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alibri"/>
                <a:ea typeface="Calibri"/>
                <a:cs typeface="Calibri"/>
              </a:rPr>
              <a:t>Progreso legible: archivo actual, etapa, conteo y estado final</a:t>
            </a:r>
            <a:endParaRPr sz="1500"/>
          </a:p>
        </p:txBody>
      </p:sp>
      <p:sp>
        <p:nvSpPr>
          <p:cNvPr id="23" name="Shape 20">
            <a:extLst xmlns:a="http://schemas.openxmlformats.org/drawingml/2006/main">
              <a:ext uri="{FF2B5EF4-FFF2-40B4-BE49-F238E27FC236}">
                <a16:creationId xmlns:a16="http://schemas.microsoft.com/office/drawing/2014/main" id="{7A8FBAEE-0E73-4ED0-BD5C-D8344C156597}"/>
              </a:ext>
            </a:extLst>
          </p:cNvPr>
          <p:cNvSpPr>
            <a:spLocks xmlns:a="http://schemas.openxmlformats.org/drawingml/2006/main" noGrp="1"/>
          </p:cNvSpPr>
          <p:nvPr/>
        </p:nvSpPr>
        <p:spPr>
          <a:xfrm xmlns:a="http://schemas.openxmlformats.org/drawingml/2006/main">
            <a:off x="548640" y="3849624"/>
            <a:ext cx="5440680" cy="1033272"/>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4" name="Text 21">
            <a:extLst xmlns:a="http://schemas.openxmlformats.org/drawingml/2006/main">
              <a:ext uri="{FF2B5EF4-FFF2-40B4-BE49-F238E27FC236}">
                <a16:creationId xmlns:a16="http://schemas.microsoft.com/office/drawing/2014/main" id="{070AA583-FEB1-4266-8115-2E51B1B14A99}"/>
              </a:ext>
            </a:extLst>
          </p:cNvPr>
          <p:cNvSpPr>
            <a:spLocks xmlns:a="http://schemas.openxmlformats.org/drawingml/2006/main" noGrp="1"/>
          </p:cNvSpPr>
          <p:nvPr/>
        </p:nvSpPr>
        <p:spPr>
          <a:xfrm xmlns:a="http://schemas.openxmlformats.org/drawingml/2006/main">
            <a:off x="777240" y="4032504"/>
            <a:ext cx="822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6B4B"/>
                </a:solidFill>
                <a:latin typeface="Cambria"/>
                <a:ea typeface="Cambria"/>
                <a:cs typeface="Cambria"/>
              </a:rPr>
              <a:t>RI-05</a:t>
            </a:r>
            <a:endParaRPr sz="1800"/>
          </a:p>
        </p:txBody>
      </p:sp>
      <p:sp>
        <p:nvSpPr>
          <p:cNvPr id="25" name="Text 22">
            <a:extLst xmlns:a="http://schemas.openxmlformats.org/drawingml/2006/main">
              <a:ext uri="{FF2B5EF4-FFF2-40B4-BE49-F238E27FC236}">
                <a16:creationId xmlns:a16="http://schemas.microsoft.com/office/drawing/2014/main" id="{75281894-2800-42F3-9630-1A87C2396774}"/>
              </a:ext>
            </a:extLst>
          </p:cNvPr>
          <p:cNvSpPr>
            <a:spLocks xmlns:a="http://schemas.openxmlformats.org/drawingml/2006/main" noGrp="1"/>
          </p:cNvSpPr>
          <p:nvPr/>
        </p:nvSpPr>
        <p:spPr>
          <a:xfrm xmlns:a="http://schemas.openxmlformats.org/drawingml/2006/main">
            <a:off x="731520" y="4443984"/>
            <a:ext cx="777240" cy="274320"/>
          </a:xfrm>
          <a:prstGeom xmlns:a="http://schemas.openxmlformats.org/drawingml/2006/main" prst="roundRect">
            <a:avLst>
              <a:gd name="adj" fmla="val 50000"/>
            </a:avLst>
          </a:prstGeom>
          <a:solidFill xmlns:a="http://schemas.openxmlformats.org/drawingml/2006/main">
            <a:srgbClr val="FCEAEA"/>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53535"/>
                </a:solidFill>
                <a:latin typeface="Calibri"/>
                <a:ea typeface="Calibri"/>
                <a:cs typeface="Calibri"/>
              </a:rPr>
              <a:t>Alta</a:t>
            </a:r>
            <a:endParaRPr sz="1100"/>
          </a:p>
        </p:txBody>
      </p:sp>
      <p:sp>
        <p:nvSpPr>
          <p:cNvPr id="26" name="Text 23">
            <a:extLst xmlns:a="http://schemas.openxmlformats.org/drawingml/2006/main">
              <a:ext uri="{FF2B5EF4-FFF2-40B4-BE49-F238E27FC236}">
                <a16:creationId xmlns:a16="http://schemas.microsoft.com/office/drawing/2014/main" id="{EC674735-0D40-4369-9F45-0AC21AAA9F8E}"/>
              </a:ext>
            </a:extLst>
          </p:cNvPr>
          <p:cNvSpPr>
            <a:spLocks xmlns:a="http://schemas.openxmlformats.org/drawingml/2006/main" noGrp="1"/>
          </p:cNvSpPr>
          <p:nvPr/>
        </p:nvSpPr>
        <p:spPr>
          <a:xfrm xmlns:a="http://schemas.openxmlformats.org/drawingml/2006/main">
            <a:off x="1737360" y="3986784"/>
            <a:ext cx="40690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alibri"/>
                <a:ea typeface="Calibri"/>
                <a:cs typeface="Calibri"/>
              </a:rPr>
              <a:t>Rechazo con etapa, motivo, regla y siguiente paso</a:t>
            </a:r>
            <a:endParaRPr sz="1500"/>
          </a:p>
        </p:txBody>
      </p:sp>
      <p:sp>
        <p:nvSpPr>
          <p:cNvPr id="27" name="Shape 24">
            <a:extLst xmlns:a="http://schemas.openxmlformats.org/drawingml/2006/main">
              <a:ext uri="{FF2B5EF4-FFF2-40B4-BE49-F238E27FC236}">
                <a16:creationId xmlns:a16="http://schemas.microsoft.com/office/drawing/2014/main" id="{64650081-1E81-436D-87A5-A7EAAB30AA47}"/>
              </a:ext>
            </a:extLst>
          </p:cNvPr>
          <p:cNvSpPr>
            <a:spLocks xmlns:a="http://schemas.openxmlformats.org/drawingml/2006/main" noGrp="1"/>
          </p:cNvSpPr>
          <p:nvPr/>
        </p:nvSpPr>
        <p:spPr>
          <a:xfrm xmlns:a="http://schemas.openxmlformats.org/drawingml/2006/main">
            <a:off x="6172200" y="3849624"/>
            <a:ext cx="5440680" cy="1033272"/>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8" name="Text 25">
            <a:extLst xmlns:a="http://schemas.openxmlformats.org/drawingml/2006/main">
              <a:ext uri="{FF2B5EF4-FFF2-40B4-BE49-F238E27FC236}">
                <a16:creationId xmlns:a16="http://schemas.microsoft.com/office/drawing/2014/main" id="{38D50EB9-69F6-4784-BEFA-0783FD1CDB26}"/>
              </a:ext>
            </a:extLst>
          </p:cNvPr>
          <p:cNvSpPr>
            <a:spLocks xmlns:a="http://schemas.openxmlformats.org/drawingml/2006/main" noGrp="1"/>
          </p:cNvSpPr>
          <p:nvPr/>
        </p:nvSpPr>
        <p:spPr>
          <a:xfrm xmlns:a="http://schemas.openxmlformats.org/drawingml/2006/main">
            <a:off x="6400800" y="4032504"/>
            <a:ext cx="822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6B4B"/>
                </a:solidFill>
                <a:latin typeface="Cambria"/>
                <a:ea typeface="Cambria"/>
                <a:cs typeface="Cambria"/>
              </a:rPr>
              <a:t>RI-06</a:t>
            </a:r>
            <a:endParaRPr sz="1800"/>
          </a:p>
        </p:txBody>
      </p:sp>
      <p:sp>
        <p:nvSpPr>
          <p:cNvPr id="29" name="Text 26">
            <a:extLst xmlns:a="http://schemas.openxmlformats.org/drawingml/2006/main">
              <a:ext uri="{FF2B5EF4-FFF2-40B4-BE49-F238E27FC236}">
                <a16:creationId xmlns:a16="http://schemas.microsoft.com/office/drawing/2014/main" id="{CC19C930-0B54-40CF-AC09-47C5EC6581A9}"/>
              </a:ext>
            </a:extLst>
          </p:cNvPr>
          <p:cNvSpPr>
            <a:spLocks xmlns:a="http://schemas.openxmlformats.org/drawingml/2006/main" noGrp="1"/>
          </p:cNvSpPr>
          <p:nvPr/>
        </p:nvSpPr>
        <p:spPr>
          <a:xfrm xmlns:a="http://schemas.openxmlformats.org/drawingml/2006/main">
            <a:off x="6355080" y="4443984"/>
            <a:ext cx="777240" cy="274320"/>
          </a:xfrm>
          <a:prstGeom xmlns:a="http://schemas.openxmlformats.org/drawingml/2006/main" prst="roundRect">
            <a:avLst>
              <a:gd name="adj" fmla="val 50000"/>
            </a:avLst>
          </a:prstGeom>
          <a:solidFill xmlns:a="http://schemas.openxmlformats.org/drawingml/2006/main">
            <a:srgbClr val="FCEAEA"/>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53535"/>
                </a:solidFill>
                <a:latin typeface="Calibri"/>
                <a:ea typeface="Calibri"/>
                <a:cs typeface="Calibri"/>
              </a:rPr>
              <a:t>Alta</a:t>
            </a:r>
            <a:endParaRPr sz="1100"/>
          </a:p>
        </p:txBody>
      </p:sp>
      <p:sp>
        <p:nvSpPr>
          <p:cNvPr id="30" name="Text 27">
            <a:extLst xmlns:a="http://schemas.openxmlformats.org/drawingml/2006/main">
              <a:ext uri="{FF2B5EF4-FFF2-40B4-BE49-F238E27FC236}">
                <a16:creationId xmlns:a16="http://schemas.microsoft.com/office/drawing/2014/main" id="{677D626C-462F-40C3-95F2-918FDA15DA69}"/>
              </a:ext>
            </a:extLst>
          </p:cNvPr>
          <p:cNvSpPr>
            <a:spLocks xmlns:a="http://schemas.openxmlformats.org/drawingml/2006/main" noGrp="1"/>
          </p:cNvSpPr>
          <p:nvPr/>
        </p:nvSpPr>
        <p:spPr>
          <a:xfrm xmlns:a="http://schemas.openxmlformats.org/drawingml/2006/main">
            <a:off x="7360920" y="3986784"/>
            <a:ext cx="40690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alibri"/>
                <a:ea typeface="Calibri"/>
                <a:cs typeface="Calibri"/>
              </a:rPr>
              <a:t>Recuperación de errores sin perder la configuración</a:t>
            </a:r>
            <a:endParaRPr sz="1500"/>
          </a:p>
        </p:txBody>
      </p:sp>
      <p:sp>
        <p:nvSpPr>
          <p:cNvPr id="31" name="Shape 28">
            <a:extLst xmlns:a="http://schemas.openxmlformats.org/drawingml/2006/main">
              <a:ext uri="{FF2B5EF4-FFF2-40B4-BE49-F238E27FC236}">
                <a16:creationId xmlns:a16="http://schemas.microsoft.com/office/drawing/2014/main" id="{3E8ACBD5-2233-45E1-90E5-A600CA19FBBD}"/>
              </a:ext>
            </a:extLst>
          </p:cNvPr>
          <p:cNvSpPr>
            <a:spLocks xmlns:a="http://schemas.openxmlformats.org/drawingml/2006/main" noGrp="1"/>
          </p:cNvSpPr>
          <p:nvPr/>
        </p:nvSpPr>
        <p:spPr>
          <a:xfrm xmlns:a="http://schemas.openxmlformats.org/drawingml/2006/main">
            <a:off x="548640" y="5020056"/>
            <a:ext cx="5440680" cy="1033272"/>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32" name="Text 29">
            <a:extLst xmlns:a="http://schemas.openxmlformats.org/drawingml/2006/main">
              <a:ext uri="{FF2B5EF4-FFF2-40B4-BE49-F238E27FC236}">
                <a16:creationId xmlns:a16="http://schemas.microsoft.com/office/drawing/2014/main" id="{2BA5A1D0-E29D-42E7-BB4E-3E11F0E9E98A}"/>
              </a:ext>
            </a:extLst>
          </p:cNvPr>
          <p:cNvSpPr>
            <a:spLocks xmlns:a="http://schemas.openxmlformats.org/drawingml/2006/main" noGrp="1"/>
          </p:cNvSpPr>
          <p:nvPr/>
        </p:nvSpPr>
        <p:spPr>
          <a:xfrm xmlns:a="http://schemas.openxmlformats.org/drawingml/2006/main">
            <a:off x="777240" y="5202936"/>
            <a:ext cx="822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6B4B"/>
                </a:solidFill>
                <a:latin typeface="Cambria"/>
                <a:ea typeface="Cambria"/>
                <a:cs typeface="Cambria"/>
              </a:rPr>
              <a:t>RI-07</a:t>
            </a:r>
            <a:endParaRPr sz="1800"/>
          </a:p>
        </p:txBody>
      </p:sp>
      <p:sp>
        <p:nvSpPr>
          <p:cNvPr id="33" name="Text 30">
            <a:extLst xmlns:a="http://schemas.openxmlformats.org/drawingml/2006/main">
              <a:ext uri="{FF2B5EF4-FFF2-40B4-BE49-F238E27FC236}">
                <a16:creationId xmlns:a16="http://schemas.microsoft.com/office/drawing/2014/main" id="{193DC6A8-F1CC-4D57-8601-BB13324FD42F}"/>
              </a:ext>
            </a:extLst>
          </p:cNvPr>
          <p:cNvSpPr>
            <a:spLocks xmlns:a="http://schemas.openxmlformats.org/drawingml/2006/main" noGrp="1"/>
          </p:cNvSpPr>
          <p:nvPr/>
        </p:nvSpPr>
        <p:spPr>
          <a:xfrm xmlns:a="http://schemas.openxmlformats.org/drawingml/2006/main">
            <a:off x="731520" y="5614416"/>
            <a:ext cx="77724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Media</a:t>
            </a:r>
            <a:endParaRPr sz="1100"/>
          </a:p>
        </p:txBody>
      </p:sp>
      <p:sp>
        <p:nvSpPr>
          <p:cNvPr id="34" name="Text 31">
            <a:extLst xmlns:a="http://schemas.openxmlformats.org/drawingml/2006/main">
              <a:ext uri="{FF2B5EF4-FFF2-40B4-BE49-F238E27FC236}">
                <a16:creationId xmlns:a16="http://schemas.microsoft.com/office/drawing/2014/main" id="{896DFA73-5195-46CE-BC25-767A29C62EBB}"/>
              </a:ext>
            </a:extLst>
          </p:cNvPr>
          <p:cNvSpPr>
            <a:spLocks xmlns:a="http://schemas.openxmlformats.org/drawingml/2006/main" noGrp="1"/>
          </p:cNvSpPr>
          <p:nvPr/>
        </p:nvSpPr>
        <p:spPr>
          <a:xfrm xmlns:a="http://schemas.openxmlformats.org/drawingml/2006/main">
            <a:off x="1737360" y="5157216"/>
            <a:ext cx="40690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alibri"/>
                <a:ea typeface="Calibri"/>
                <a:cs typeface="Calibri"/>
              </a:rPr>
              <a:t>Validar y resumir factor de precio y correo opcional</a:t>
            </a:r>
            <a:endParaRPr sz="1500"/>
          </a:p>
        </p:txBody>
      </p:sp>
      <p:sp>
        <p:nvSpPr>
          <p:cNvPr id="35" name="Shape 32">
            <a:extLst xmlns:a="http://schemas.openxmlformats.org/drawingml/2006/main">
              <a:ext uri="{FF2B5EF4-FFF2-40B4-BE49-F238E27FC236}">
                <a16:creationId xmlns:a16="http://schemas.microsoft.com/office/drawing/2014/main" id="{D66BF1CF-8469-4C0A-A0E1-A90B68B5B9C8}"/>
              </a:ext>
            </a:extLst>
          </p:cNvPr>
          <p:cNvSpPr>
            <a:spLocks xmlns:a="http://schemas.openxmlformats.org/drawingml/2006/main" noGrp="1"/>
          </p:cNvSpPr>
          <p:nvPr/>
        </p:nvSpPr>
        <p:spPr>
          <a:xfrm xmlns:a="http://schemas.openxmlformats.org/drawingml/2006/main">
            <a:off x="6172200" y="5020056"/>
            <a:ext cx="5440680" cy="1033272"/>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36" name="Text 33">
            <a:extLst xmlns:a="http://schemas.openxmlformats.org/drawingml/2006/main">
              <a:ext uri="{FF2B5EF4-FFF2-40B4-BE49-F238E27FC236}">
                <a16:creationId xmlns:a16="http://schemas.microsoft.com/office/drawing/2014/main" id="{6E8E3BE9-5C20-4CAA-9B86-BC54C6FF92D6}"/>
              </a:ext>
            </a:extLst>
          </p:cNvPr>
          <p:cNvSpPr>
            <a:spLocks xmlns:a="http://schemas.openxmlformats.org/drawingml/2006/main" noGrp="1"/>
          </p:cNvSpPr>
          <p:nvPr/>
        </p:nvSpPr>
        <p:spPr>
          <a:xfrm xmlns:a="http://schemas.openxmlformats.org/drawingml/2006/main">
            <a:off x="6400800" y="5202936"/>
            <a:ext cx="822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76B4B"/>
                </a:solidFill>
                <a:latin typeface="Cambria"/>
                <a:ea typeface="Cambria"/>
                <a:cs typeface="Cambria"/>
              </a:rPr>
              <a:t>RI-08</a:t>
            </a:r>
            <a:endParaRPr sz="1800"/>
          </a:p>
        </p:txBody>
      </p:sp>
      <p:sp>
        <p:nvSpPr>
          <p:cNvPr id="37" name="Text 34">
            <a:extLst xmlns:a="http://schemas.openxmlformats.org/drawingml/2006/main">
              <a:ext uri="{FF2B5EF4-FFF2-40B4-BE49-F238E27FC236}">
                <a16:creationId xmlns:a16="http://schemas.microsoft.com/office/drawing/2014/main" id="{DCE406D8-5F1A-4F2A-8A90-2E24A40FB053}"/>
              </a:ext>
            </a:extLst>
          </p:cNvPr>
          <p:cNvSpPr>
            <a:spLocks xmlns:a="http://schemas.openxmlformats.org/drawingml/2006/main" noGrp="1"/>
          </p:cNvSpPr>
          <p:nvPr/>
        </p:nvSpPr>
        <p:spPr>
          <a:xfrm xmlns:a="http://schemas.openxmlformats.org/drawingml/2006/main">
            <a:off x="6355080" y="5614416"/>
            <a:ext cx="777240" cy="274320"/>
          </a:xfrm>
          <a:prstGeom xmlns:a="http://schemas.openxmlformats.org/drawingml/2006/main" prst="roundRect">
            <a:avLst>
              <a:gd name="adj" fmla="val 50000"/>
            </a:avLst>
          </a:prstGeom>
          <a:solidFill xmlns:a="http://schemas.openxmlformats.org/drawingml/2006/main">
            <a:srgbClr val="E9F2F8"/>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85F83"/>
                </a:solidFill>
                <a:latin typeface="Calibri"/>
                <a:ea typeface="Calibri"/>
                <a:cs typeface="Calibri"/>
              </a:rPr>
              <a:t>Media</a:t>
            </a:r>
            <a:endParaRPr sz="1100"/>
          </a:p>
        </p:txBody>
      </p:sp>
      <p:sp>
        <p:nvSpPr>
          <p:cNvPr id="38" name="Text 35">
            <a:extLst xmlns:a="http://schemas.openxmlformats.org/drawingml/2006/main">
              <a:ext uri="{FF2B5EF4-FFF2-40B4-BE49-F238E27FC236}">
                <a16:creationId xmlns:a16="http://schemas.microsoft.com/office/drawing/2014/main" id="{86CCC49E-274A-43EF-9270-C54450CFF9BA}"/>
              </a:ext>
            </a:extLst>
          </p:cNvPr>
          <p:cNvSpPr>
            <a:spLocks xmlns:a="http://schemas.openxmlformats.org/drawingml/2006/main" noGrp="1"/>
          </p:cNvSpPr>
          <p:nvPr/>
        </p:nvSpPr>
        <p:spPr>
          <a:xfrm xmlns:a="http://schemas.openxmlformats.org/drawingml/2006/main">
            <a:off x="7360920" y="5157216"/>
            <a:ext cx="40690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alibri"/>
                <a:ea typeface="Calibri"/>
                <a:cs typeface="Calibri"/>
              </a:rPr>
              <a:t>Habilitar solo exportaciones realmente disponibles</a:t>
            </a:r>
            <a:endParaRPr sz="1500"/>
          </a:p>
        </p:txBody>
      </p:sp>
      <p:sp>
        <p:nvSpPr>
          <p:cNvPr id="39" name="Text 36">
            <a:extLst xmlns:a="http://schemas.openxmlformats.org/drawingml/2006/main">
              <a:ext uri="{FF2B5EF4-FFF2-40B4-BE49-F238E27FC236}">
                <a16:creationId xmlns:a16="http://schemas.microsoft.com/office/drawing/2014/main" id="{1817D78D-7D06-40FC-A934-E56C9D858185}"/>
              </a:ext>
            </a:extLst>
          </p:cNvPr>
          <p:cNvSpPr>
            <a:spLocks xmlns:a="http://schemas.openxmlformats.org/drawingml/2006/main" noGrp="1"/>
          </p:cNvSpPr>
          <p:nvPr/>
        </p:nvSpPr>
        <p:spPr>
          <a:xfrm xmlns:a="http://schemas.openxmlformats.org/drawingml/2006/main">
            <a:off x="548640" y="6217920"/>
            <a:ext cx="10058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65736D"/>
                </a:solidFill>
                <a:latin typeface="Calibri"/>
                <a:ea typeface="Calibri"/>
                <a:cs typeface="Calibri"/>
              </a:rPr>
              <a:t>Prioridad propuesta por impacto en completar el flujo. El criterio de cada RI se prueba en la sesión con personas.</a:t>
            </a:r>
            <a:endParaRPr sz="1100"/>
          </a:p>
        </p:txBody>
      </p:sp>
    </p:spTree>
    <p:extLst>
      <p:ext uri="{BB962C8B-B14F-4D97-AF65-F5344CB8AC3E}">
        <p14:creationId xmlns:p14="http://schemas.microsoft.com/office/powerpoint/2010/main" val="405939003"/>
      </p:ext>
    </p:extLst>
  </p:cSld>
</p:sld>
</file>

<file path=ppt/slides/slide6.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414E80-55E1-4417-9B2F-E66025E3585B}"/>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TAREAS CRÍTICAS T1 Y T2</a:t>
            </a:r>
            <a:endParaRPr sz="1200"/>
          </a:p>
        </p:txBody>
      </p:sp>
      <p:sp>
        <p:nvSpPr>
          <p:cNvPr id="3" name="Text 1">
            <a:extLst xmlns:a="http://schemas.openxmlformats.org/drawingml/2006/main">
              <a:ext uri="{FF2B5EF4-FFF2-40B4-BE49-F238E27FC236}">
                <a16:creationId xmlns:a16="http://schemas.microsoft.com/office/drawing/2014/main" id="{F955B163-A5F7-42C7-8ACE-A94698D58C13}"/>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Análisis de tareas: cargar un lote y entender un rechazo</a:t>
            </a:r>
            <a:endParaRPr sz="3000"/>
          </a:p>
        </p:txBody>
      </p:sp>
      <p:sp>
        <p:nvSpPr>
          <p:cNvPr id="4" name="Text 2">
            <a:extLst xmlns:a="http://schemas.openxmlformats.org/drawingml/2006/main">
              <a:ext uri="{FF2B5EF4-FFF2-40B4-BE49-F238E27FC236}">
                <a16:creationId xmlns:a16="http://schemas.microsoft.com/office/drawing/2014/main" id="{3FB9A2C0-A514-484F-8C88-9736B21B2A0D}"/>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6 / 13</a:t>
            </a:r>
            <a:endParaRPr sz="1000"/>
          </a:p>
        </p:txBody>
      </p:sp>
      <p:sp>
        <p:nvSpPr>
          <p:cNvPr id="5" name="Text 3">
            <a:extLst xmlns:a="http://schemas.openxmlformats.org/drawingml/2006/main">
              <a:ext uri="{FF2B5EF4-FFF2-40B4-BE49-F238E27FC236}">
                <a16:creationId xmlns:a16="http://schemas.microsoft.com/office/drawing/2014/main" id="{62790AD1-6259-401B-B172-3742A20BA925}"/>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Text 4">
            <a:extLst xmlns:a="http://schemas.openxmlformats.org/drawingml/2006/main">
              <a:ext uri="{FF2B5EF4-FFF2-40B4-BE49-F238E27FC236}">
                <a16:creationId xmlns:a16="http://schemas.microsoft.com/office/drawing/2014/main" id="{7B2B2A53-CF66-4394-AA6D-F947F26F2A9D}"/>
              </a:ext>
            </a:extLst>
          </p:cNvPr>
          <p:cNvSpPr>
            <a:spLocks xmlns:a="http://schemas.openxmlformats.org/drawingml/2006/main" noGrp="1"/>
          </p:cNvSpPr>
          <p:nvPr/>
        </p:nvSpPr>
        <p:spPr>
          <a:xfrm xmlns:a="http://schemas.openxmlformats.org/drawingml/2006/main">
            <a:off x="548640" y="1463040"/>
            <a:ext cx="10972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2925"/>
                </a:solidFill>
                <a:latin typeface="Cambria"/>
                <a:ea typeface="Cambria"/>
                <a:cs typeface="Cambria"/>
              </a:rPr>
              <a:t>T1 · Cargar y procesar un lote</a:t>
            </a:r>
            <a:endParaRPr sz="1800"/>
          </a:p>
        </p:txBody>
      </p:sp>
      <p:sp>
        <p:nvSpPr>
          <p:cNvPr id="8" name="Text 5">
            <a:extLst xmlns:a="http://schemas.openxmlformats.org/drawingml/2006/main">
              <a:ext uri="{FF2B5EF4-FFF2-40B4-BE49-F238E27FC236}">
                <a16:creationId xmlns:a16="http://schemas.microsoft.com/office/drawing/2014/main" id="{57A5DD5E-6F1E-4647-8189-C5C2FCBCF79C}"/>
              </a:ext>
            </a:extLst>
          </p:cNvPr>
          <p:cNvSpPr>
            <a:spLocks xmlns:a="http://schemas.openxmlformats.org/drawingml/2006/main" noGrp="1"/>
          </p:cNvSpPr>
          <p:nvPr/>
        </p:nvSpPr>
        <p:spPr>
          <a:xfrm xmlns:a="http://schemas.openxmlformats.org/drawingml/2006/main">
            <a:off x="548640" y="1920240"/>
            <a:ext cx="1569720" cy="914400"/>
          </a:xfrm>
          <a:prstGeom xmlns:a="http://schemas.openxmlformats.org/drawingml/2006/main" prst="roundRect">
            <a:avLst>
              <a:gd name="adj" fmla="val 10000"/>
            </a:avLst>
          </a:prstGeom>
          <a:solidFill xmlns:a="http://schemas.openxmlformats.org/drawingml/2006/main">
            <a:srgbClr val="E5F2EB"/>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Seleccionar archivo</a:t>
            </a:r>
            <a:endParaRPr sz="1400"/>
          </a:p>
        </p:txBody>
      </p:sp>
      <p:sp>
        <p:nvSpPr>
          <p:cNvPr id="9" name="Text 6">
            <a:extLst xmlns:a="http://schemas.openxmlformats.org/drawingml/2006/main">
              <a:ext uri="{FF2B5EF4-FFF2-40B4-BE49-F238E27FC236}">
                <a16:creationId xmlns:a16="http://schemas.microsoft.com/office/drawing/2014/main" id="{D4C3E68C-1A44-4200-A628-9CE7267DDF1B}"/>
              </a:ext>
            </a:extLst>
          </p:cNvPr>
          <p:cNvSpPr>
            <a:spLocks xmlns:a="http://schemas.openxmlformats.org/drawingml/2006/main" noGrp="1"/>
          </p:cNvSpPr>
          <p:nvPr/>
        </p:nvSpPr>
        <p:spPr>
          <a:xfrm xmlns:a="http://schemas.openxmlformats.org/drawingml/2006/main">
            <a:off x="2118360" y="21945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10" name="Text 7">
            <a:extLst xmlns:a="http://schemas.openxmlformats.org/drawingml/2006/main">
              <a:ext uri="{FF2B5EF4-FFF2-40B4-BE49-F238E27FC236}">
                <a16:creationId xmlns:a16="http://schemas.microsoft.com/office/drawing/2014/main" id="{61850B4C-B0EF-4AF8-8171-2EE6027CE831}"/>
              </a:ext>
            </a:extLst>
          </p:cNvPr>
          <p:cNvSpPr>
            <a:spLocks xmlns:a="http://schemas.openxmlformats.org/drawingml/2006/main" noGrp="1"/>
          </p:cNvSpPr>
          <p:nvPr/>
        </p:nvSpPr>
        <p:spPr>
          <a:xfrm xmlns:a="http://schemas.openxmlformats.org/drawingml/2006/main">
            <a:off x="2392680" y="1920240"/>
            <a:ext cx="1569720" cy="914400"/>
          </a:xfrm>
          <a:prstGeom xmlns:a="http://schemas.openxmlformats.org/drawingml/2006/main" prst="roundRect">
            <a:avLst>
              <a:gd name="adj" fmla="val 10000"/>
            </a:avLst>
          </a:prstGeom>
          <a:solidFill xmlns:a="http://schemas.openxmlformats.org/drawingml/2006/main">
            <a:srgbClr val="E5F2EB"/>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Verificar formato</a:t>
            </a:r>
            <a:endParaRPr sz="1400"/>
          </a:p>
        </p:txBody>
      </p:sp>
      <p:sp>
        <p:nvSpPr>
          <p:cNvPr id="11" name="Text 8">
            <a:extLst xmlns:a="http://schemas.openxmlformats.org/drawingml/2006/main">
              <a:ext uri="{FF2B5EF4-FFF2-40B4-BE49-F238E27FC236}">
                <a16:creationId xmlns:a16="http://schemas.microsoft.com/office/drawing/2014/main" id="{3C8ED702-6BFC-434A-829F-5915D3436D5B}"/>
              </a:ext>
            </a:extLst>
          </p:cNvPr>
          <p:cNvSpPr>
            <a:spLocks xmlns:a="http://schemas.openxmlformats.org/drawingml/2006/main" noGrp="1"/>
          </p:cNvSpPr>
          <p:nvPr/>
        </p:nvSpPr>
        <p:spPr>
          <a:xfrm xmlns:a="http://schemas.openxmlformats.org/drawingml/2006/main">
            <a:off x="3962400" y="21945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12" name="Text 9">
            <a:extLst xmlns:a="http://schemas.openxmlformats.org/drawingml/2006/main">
              <a:ext uri="{FF2B5EF4-FFF2-40B4-BE49-F238E27FC236}">
                <a16:creationId xmlns:a16="http://schemas.microsoft.com/office/drawing/2014/main" id="{92595F7E-1E6D-4F67-A336-80F2E0575C70}"/>
              </a:ext>
            </a:extLst>
          </p:cNvPr>
          <p:cNvSpPr>
            <a:spLocks xmlns:a="http://schemas.openxmlformats.org/drawingml/2006/main" noGrp="1"/>
          </p:cNvSpPr>
          <p:nvPr/>
        </p:nvSpPr>
        <p:spPr>
          <a:xfrm xmlns:a="http://schemas.openxmlformats.org/drawingml/2006/main">
            <a:off x="4236720" y="1920240"/>
            <a:ext cx="1569720" cy="914400"/>
          </a:xfrm>
          <a:prstGeom xmlns:a="http://schemas.openxmlformats.org/drawingml/2006/main" prst="roundRect">
            <a:avLst>
              <a:gd name="adj" fmla="val 10000"/>
            </a:avLst>
          </a:prstGeom>
          <a:solidFill xmlns:a="http://schemas.openxmlformats.org/drawingml/2006/main">
            <a:srgbClr val="E5F2EB"/>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Revisar campos</a:t>
            </a:r>
            <a:endParaRPr sz="1400"/>
          </a:p>
        </p:txBody>
      </p:sp>
      <p:sp>
        <p:nvSpPr>
          <p:cNvPr id="13" name="Text 10">
            <a:extLst xmlns:a="http://schemas.openxmlformats.org/drawingml/2006/main">
              <a:ext uri="{FF2B5EF4-FFF2-40B4-BE49-F238E27FC236}">
                <a16:creationId xmlns:a16="http://schemas.microsoft.com/office/drawing/2014/main" id="{F21C906C-231E-47B0-B45B-DE3D05A50D0D}"/>
              </a:ext>
            </a:extLst>
          </p:cNvPr>
          <p:cNvSpPr>
            <a:spLocks xmlns:a="http://schemas.openxmlformats.org/drawingml/2006/main" noGrp="1"/>
          </p:cNvSpPr>
          <p:nvPr/>
        </p:nvSpPr>
        <p:spPr>
          <a:xfrm xmlns:a="http://schemas.openxmlformats.org/drawingml/2006/main">
            <a:off x="5806440" y="21945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14" name="Text 11">
            <a:extLst xmlns:a="http://schemas.openxmlformats.org/drawingml/2006/main">
              <a:ext uri="{FF2B5EF4-FFF2-40B4-BE49-F238E27FC236}">
                <a16:creationId xmlns:a16="http://schemas.microsoft.com/office/drawing/2014/main" id="{1094D791-F729-4051-8906-8917F89BC897}"/>
              </a:ext>
            </a:extLst>
          </p:cNvPr>
          <p:cNvSpPr>
            <a:spLocks xmlns:a="http://schemas.openxmlformats.org/drawingml/2006/main" noGrp="1"/>
          </p:cNvSpPr>
          <p:nvPr/>
        </p:nvSpPr>
        <p:spPr>
          <a:xfrm xmlns:a="http://schemas.openxmlformats.org/drawingml/2006/main">
            <a:off x="6080760" y="1920240"/>
            <a:ext cx="1569720" cy="914400"/>
          </a:xfrm>
          <a:prstGeom xmlns:a="http://schemas.openxmlformats.org/drawingml/2006/main" prst="roundRect">
            <a:avLst>
              <a:gd name="adj" fmla="val 10000"/>
            </a:avLst>
          </a:prstGeom>
          <a:solidFill xmlns:a="http://schemas.openxmlformats.org/drawingml/2006/main">
            <a:srgbClr val="E5F2EB"/>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Confirmar</a:t>
            </a:r>
            <a:endParaRPr sz="1400"/>
          </a:p>
        </p:txBody>
      </p:sp>
      <p:sp>
        <p:nvSpPr>
          <p:cNvPr id="15" name="Text 12">
            <a:extLst xmlns:a="http://schemas.openxmlformats.org/drawingml/2006/main">
              <a:ext uri="{FF2B5EF4-FFF2-40B4-BE49-F238E27FC236}">
                <a16:creationId xmlns:a16="http://schemas.microsoft.com/office/drawing/2014/main" id="{8F0ABBD5-1EE5-45C9-AF01-31DA3130CDB0}"/>
              </a:ext>
            </a:extLst>
          </p:cNvPr>
          <p:cNvSpPr>
            <a:spLocks xmlns:a="http://schemas.openxmlformats.org/drawingml/2006/main" noGrp="1"/>
          </p:cNvSpPr>
          <p:nvPr/>
        </p:nvSpPr>
        <p:spPr>
          <a:xfrm xmlns:a="http://schemas.openxmlformats.org/drawingml/2006/main">
            <a:off x="7650480" y="21945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16" name="Text 13">
            <a:extLst xmlns:a="http://schemas.openxmlformats.org/drawingml/2006/main">
              <a:ext uri="{FF2B5EF4-FFF2-40B4-BE49-F238E27FC236}">
                <a16:creationId xmlns:a16="http://schemas.microsoft.com/office/drawing/2014/main" id="{0DAD30AC-0AD2-4DA2-B680-8B3068B0EAF1}"/>
              </a:ext>
            </a:extLst>
          </p:cNvPr>
          <p:cNvSpPr>
            <a:spLocks xmlns:a="http://schemas.openxmlformats.org/drawingml/2006/main" noGrp="1"/>
          </p:cNvSpPr>
          <p:nvPr/>
        </p:nvSpPr>
        <p:spPr>
          <a:xfrm xmlns:a="http://schemas.openxmlformats.org/drawingml/2006/main">
            <a:off x="7924800" y="1920240"/>
            <a:ext cx="1569720" cy="914400"/>
          </a:xfrm>
          <a:prstGeom xmlns:a="http://schemas.openxmlformats.org/drawingml/2006/main" prst="roundRect">
            <a:avLst>
              <a:gd name="adj" fmla="val 10000"/>
            </a:avLst>
          </a:prstGeom>
          <a:solidFill xmlns:a="http://schemas.openxmlformats.org/drawingml/2006/main">
            <a:srgbClr val="E5F2EB"/>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Ver progreso</a:t>
            </a:r>
            <a:endParaRPr sz="1400"/>
          </a:p>
        </p:txBody>
      </p:sp>
      <p:sp>
        <p:nvSpPr>
          <p:cNvPr id="17" name="Text 14">
            <a:extLst xmlns:a="http://schemas.openxmlformats.org/drawingml/2006/main">
              <a:ext uri="{FF2B5EF4-FFF2-40B4-BE49-F238E27FC236}">
                <a16:creationId xmlns:a16="http://schemas.microsoft.com/office/drawing/2014/main" id="{81C6EC0E-62B9-47C3-8097-9391B5AFEED8}"/>
              </a:ext>
            </a:extLst>
          </p:cNvPr>
          <p:cNvSpPr>
            <a:spLocks xmlns:a="http://schemas.openxmlformats.org/drawingml/2006/main" noGrp="1"/>
          </p:cNvSpPr>
          <p:nvPr/>
        </p:nvSpPr>
        <p:spPr>
          <a:xfrm xmlns:a="http://schemas.openxmlformats.org/drawingml/2006/main">
            <a:off x="9494520" y="21945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18" name="Text 15">
            <a:extLst xmlns:a="http://schemas.openxmlformats.org/drawingml/2006/main">
              <a:ext uri="{FF2B5EF4-FFF2-40B4-BE49-F238E27FC236}">
                <a16:creationId xmlns:a16="http://schemas.microsoft.com/office/drawing/2014/main" id="{5974963A-CACA-4A6F-B815-F00236B91D42}"/>
              </a:ext>
            </a:extLst>
          </p:cNvPr>
          <p:cNvSpPr>
            <a:spLocks xmlns:a="http://schemas.openxmlformats.org/drawingml/2006/main" noGrp="1"/>
          </p:cNvSpPr>
          <p:nvPr/>
        </p:nvSpPr>
        <p:spPr>
          <a:xfrm xmlns:a="http://schemas.openxmlformats.org/drawingml/2006/main">
            <a:off x="9768840" y="1920240"/>
            <a:ext cx="1569720" cy="914400"/>
          </a:xfrm>
          <a:prstGeom xmlns:a="http://schemas.openxmlformats.org/drawingml/2006/main" prst="roundRect">
            <a:avLst>
              <a:gd name="adj" fmla="val 10000"/>
            </a:avLst>
          </a:prstGeom>
          <a:solidFill xmlns:a="http://schemas.openxmlformats.org/drawingml/2006/main">
            <a:srgbClr val="E5F2EB"/>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Resultado</a:t>
            </a:r>
            <a:endParaRPr sz="1400"/>
          </a:p>
        </p:txBody>
      </p:sp>
      <p:sp>
        <p:nvSpPr>
          <p:cNvPr id="19" name="Text 16">
            <a:extLst xmlns:a="http://schemas.openxmlformats.org/drawingml/2006/main">
              <a:ext uri="{FF2B5EF4-FFF2-40B4-BE49-F238E27FC236}">
                <a16:creationId xmlns:a16="http://schemas.microsoft.com/office/drawing/2014/main" id="{2DDDA619-3B9A-4AF0-BACD-B91DF8CC4BF8}"/>
              </a:ext>
            </a:extLst>
          </p:cNvPr>
          <p:cNvSpPr>
            <a:spLocks xmlns:a="http://schemas.openxmlformats.org/drawingml/2006/main" noGrp="1"/>
          </p:cNvSpPr>
          <p:nvPr/>
        </p:nvSpPr>
        <p:spPr>
          <a:xfrm xmlns:a="http://schemas.openxmlformats.org/drawingml/2006/main">
            <a:off x="548640" y="3291840"/>
            <a:ext cx="10972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2925"/>
                </a:solidFill>
                <a:latin typeface="Cambria"/>
                <a:ea typeface="Cambria"/>
                <a:cs typeface="Cambria"/>
              </a:rPr>
              <a:t>T2 · Comprender y resolver un rechazo</a:t>
            </a:r>
            <a:endParaRPr sz="1800"/>
          </a:p>
        </p:txBody>
      </p:sp>
      <p:sp>
        <p:nvSpPr>
          <p:cNvPr id="20" name="Text 17">
            <a:extLst xmlns:a="http://schemas.openxmlformats.org/drawingml/2006/main">
              <a:ext uri="{FF2B5EF4-FFF2-40B4-BE49-F238E27FC236}">
                <a16:creationId xmlns:a16="http://schemas.microsoft.com/office/drawing/2014/main" id="{F79E9A91-CBCA-4F6C-AEC0-3BC8530A59A7}"/>
              </a:ext>
            </a:extLst>
          </p:cNvPr>
          <p:cNvSpPr>
            <a:spLocks xmlns:a="http://schemas.openxmlformats.org/drawingml/2006/main" noGrp="1"/>
          </p:cNvSpPr>
          <p:nvPr/>
        </p:nvSpPr>
        <p:spPr>
          <a:xfrm xmlns:a="http://schemas.openxmlformats.org/drawingml/2006/main">
            <a:off x="548640" y="3749040"/>
            <a:ext cx="1938528" cy="914400"/>
          </a:xfrm>
          <a:prstGeom xmlns:a="http://schemas.openxmlformats.org/drawingml/2006/main" prst="roundRect">
            <a:avLst>
              <a:gd name="adj" fmla="val 10000"/>
            </a:avLst>
          </a:prstGeom>
          <a:solidFill xmlns:a="http://schemas.openxmlformats.org/drawingml/2006/main">
            <a:srgbClr val="E9F2F8"/>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Abrir resultado</a:t>
            </a:r>
            <a:endParaRPr sz="1400"/>
          </a:p>
        </p:txBody>
      </p:sp>
      <p:sp>
        <p:nvSpPr>
          <p:cNvPr id="21" name="Text 18">
            <a:extLst xmlns:a="http://schemas.openxmlformats.org/drawingml/2006/main">
              <a:ext uri="{FF2B5EF4-FFF2-40B4-BE49-F238E27FC236}">
                <a16:creationId xmlns:a16="http://schemas.microsoft.com/office/drawing/2014/main" id="{6DE5976D-C345-4064-83BE-2E8F4B1B7AF3}"/>
              </a:ext>
            </a:extLst>
          </p:cNvPr>
          <p:cNvSpPr>
            <a:spLocks xmlns:a="http://schemas.openxmlformats.org/drawingml/2006/main" noGrp="1"/>
          </p:cNvSpPr>
          <p:nvPr/>
        </p:nvSpPr>
        <p:spPr>
          <a:xfrm xmlns:a="http://schemas.openxmlformats.org/drawingml/2006/main">
            <a:off x="2487168" y="40233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22" name="Text 19">
            <a:extLst xmlns:a="http://schemas.openxmlformats.org/drawingml/2006/main">
              <a:ext uri="{FF2B5EF4-FFF2-40B4-BE49-F238E27FC236}">
                <a16:creationId xmlns:a16="http://schemas.microsoft.com/office/drawing/2014/main" id="{EE64103D-0C3D-4AD8-AFB1-2F1FB2931E8F}"/>
              </a:ext>
            </a:extLst>
          </p:cNvPr>
          <p:cNvSpPr>
            <a:spLocks xmlns:a="http://schemas.openxmlformats.org/drawingml/2006/main" noGrp="1"/>
          </p:cNvSpPr>
          <p:nvPr/>
        </p:nvSpPr>
        <p:spPr>
          <a:xfrm xmlns:a="http://schemas.openxmlformats.org/drawingml/2006/main">
            <a:off x="2761488" y="3749040"/>
            <a:ext cx="1938528" cy="914400"/>
          </a:xfrm>
          <a:prstGeom xmlns:a="http://schemas.openxmlformats.org/drawingml/2006/main" prst="roundRect">
            <a:avLst>
              <a:gd name="adj" fmla="val 10000"/>
            </a:avLst>
          </a:prstGeom>
          <a:solidFill xmlns:a="http://schemas.openxmlformats.org/drawingml/2006/main">
            <a:srgbClr val="E9F2F8"/>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Ubicar etapa</a:t>
            </a:r>
            <a:endParaRPr sz="1400"/>
          </a:p>
        </p:txBody>
      </p:sp>
      <p:sp>
        <p:nvSpPr>
          <p:cNvPr id="23" name="Text 20">
            <a:extLst xmlns:a="http://schemas.openxmlformats.org/drawingml/2006/main">
              <a:ext uri="{FF2B5EF4-FFF2-40B4-BE49-F238E27FC236}">
                <a16:creationId xmlns:a16="http://schemas.microsoft.com/office/drawing/2014/main" id="{8FD76659-DA91-409F-BF36-CA66430FEEAC}"/>
              </a:ext>
            </a:extLst>
          </p:cNvPr>
          <p:cNvSpPr>
            <a:spLocks xmlns:a="http://schemas.openxmlformats.org/drawingml/2006/main" noGrp="1"/>
          </p:cNvSpPr>
          <p:nvPr/>
        </p:nvSpPr>
        <p:spPr>
          <a:xfrm xmlns:a="http://schemas.openxmlformats.org/drawingml/2006/main">
            <a:off x="4700016" y="40233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24" name="Text 21">
            <a:extLst xmlns:a="http://schemas.openxmlformats.org/drawingml/2006/main">
              <a:ext uri="{FF2B5EF4-FFF2-40B4-BE49-F238E27FC236}">
                <a16:creationId xmlns:a16="http://schemas.microsoft.com/office/drawing/2014/main" id="{0AEC4336-1AD4-4C4C-ACAA-79091E0986E7}"/>
              </a:ext>
            </a:extLst>
          </p:cNvPr>
          <p:cNvSpPr>
            <a:spLocks xmlns:a="http://schemas.openxmlformats.org/drawingml/2006/main" noGrp="1"/>
          </p:cNvSpPr>
          <p:nvPr/>
        </p:nvSpPr>
        <p:spPr>
          <a:xfrm xmlns:a="http://schemas.openxmlformats.org/drawingml/2006/main">
            <a:off x="4974336" y="3749040"/>
            <a:ext cx="1938528" cy="914400"/>
          </a:xfrm>
          <a:prstGeom xmlns:a="http://schemas.openxmlformats.org/drawingml/2006/main" prst="roundRect">
            <a:avLst>
              <a:gd name="adj" fmla="val 10000"/>
            </a:avLst>
          </a:prstGeom>
          <a:solidFill xmlns:a="http://schemas.openxmlformats.org/drawingml/2006/main">
            <a:srgbClr val="E9F2F8"/>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Leer regla y motivo</a:t>
            </a:r>
            <a:endParaRPr sz="1400"/>
          </a:p>
        </p:txBody>
      </p:sp>
      <p:sp>
        <p:nvSpPr>
          <p:cNvPr id="25" name="Text 22">
            <a:extLst xmlns:a="http://schemas.openxmlformats.org/drawingml/2006/main">
              <a:ext uri="{FF2B5EF4-FFF2-40B4-BE49-F238E27FC236}">
                <a16:creationId xmlns:a16="http://schemas.microsoft.com/office/drawing/2014/main" id="{648FB7B9-5238-4842-A086-96C0252278F7}"/>
              </a:ext>
            </a:extLst>
          </p:cNvPr>
          <p:cNvSpPr>
            <a:spLocks xmlns:a="http://schemas.openxmlformats.org/drawingml/2006/main" noGrp="1"/>
          </p:cNvSpPr>
          <p:nvPr/>
        </p:nvSpPr>
        <p:spPr>
          <a:xfrm xmlns:a="http://schemas.openxmlformats.org/drawingml/2006/main">
            <a:off x="6912864" y="40233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26" name="Text 23">
            <a:extLst xmlns:a="http://schemas.openxmlformats.org/drawingml/2006/main">
              <a:ext uri="{FF2B5EF4-FFF2-40B4-BE49-F238E27FC236}">
                <a16:creationId xmlns:a16="http://schemas.microsoft.com/office/drawing/2014/main" id="{E9B09CEE-7C1C-49FA-805D-A29EE2EDA4AB}"/>
              </a:ext>
            </a:extLst>
          </p:cNvPr>
          <p:cNvSpPr>
            <a:spLocks xmlns:a="http://schemas.openxmlformats.org/drawingml/2006/main" noGrp="1"/>
          </p:cNvSpPr>
          <p:nvPr/>
        </p:nvSpPr>
        <p:spPr>
          <a:xfrm xmlns:a="http://schemas.openxmlformats.org/drawingml/2006/main">
            <a:off x="7187184" y="3749040"/>
            <a:ext cx="1938528" cy="914400"/>
          </a:xfrm>
          <a:prstGeom xmlns:a="http://schemas.openxmlformats.org/drawingml/2006/main" prst="roundRect">
            <a:avLst>
              <a:gd name="adj" fmla="val 10000"/>
            </a:avLst>
          </a:prstGeom>
          <a:solidFill xmlns:a="http://schemas.openxmlformats.org/drawingml/2006/main">
            <a:srgbClr val="E9F2F8"/>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Decidir acción</a:t>
            </a:r>
            <a:endParaRPr sz="1400"/>
          </a:p>
        </p:txBody>
      </p:sp>
      <p:sp>
        <p:nvSpPr>
          <p:cNvPr id="27" name="Text 24">
            <a:extLst xmlns:a="http://schemas.openxmlformats.org/drawingml/2006/main">
              <a:ext uri="{FF2B5EF4-FFF2-40B4-BE49-F238E27FC236}">
                <a16:creationId xmlns:a16="http://schemas.microsoft.com/office/drawing/2014/main" id="{EA39DC83-F2BB-4C17-82EB-263D5FE94F83}"/>
              </a:ext>
            </a:extLst>
          </p:cNvPr>
          <p:cNvSpPr>
            <a:spLocks xmlns:a="http://schemas.openxmlformats.org/drawingml/2006/main" noGrp="1"/>
          </p:cNvSpPr>
          <p:nvPr/>
        </p:nvSpPr>
        <p:spPr>
          <a:xfrm xmlns:a="http://schemas.openxmlformats.org/drawingml/2006/main">
            <a:off x="9125712" y="402336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6B4B"/>
                </a:solidFill>
                <a:latin typeface="Calibri"/>
                <a:ea typeface="Calibri"/>
                <a:cs typeface="Calibri"/>
              </a:rPr>
              <a:t>→</a:t>
            </a:r>
            <a:endParaRPr sz="1800"/>
          </a:p>
        </p:txBody>
      </p:sp>
      <p:sp>
        <p:nvSpPr>
          <p:cNvPr id="28" name="Text 25">
            <a:extLst xmlns:a="http://schemas.openxmlformats.org/drawingml/2006/main">
              <a:ext uri="{FF2B5EF4-FFF2-40B4-BE49-F238E27FC236}">
                <a16:creationId xmlns:a16="http://schemas.microsoft.com/office/drawing/2014/main" id="{FB33913D-9261-401D-A547-916C6FB844EC}"/>
              </a:ext>
            </a:extLst>
          </p:cNvPr>
          <p:cNvSpPr>
            <a:spLocks xmlns:a="http://schemas.openxmlformats.org/drawingml/2006/main" noGrp="1"/>
          </p:cNvSpPr>
          <p:nvPr/>
        </p:nvSpPr>
        <p:spPr>
          <a:xfrm xmlns:a="http://schemas.openxmlformats.org/drawingml/2006/main">
            <a:off x="9400032" y="3749040"/>
            <a:ext cx="1938528" cy="914400"/>
          </a:xfrm>
          <a:prstGeom xmlns:a="http://schemas.openxmlformats.org/drawingml/2006/main" prst="roundRect">
            <a:avLst>
              <a:gd name="adj" fmla="val 10000"/>
            </a:avLst>
          </a:prstGeom>
          <a:solidFill xmlns:a="http://schemas.openxmlformats.org/drawingml/2006/main">
            <a:srgbClr val="E9F2F8"/>
          </a:solidFill>
          <a:ln xmlns:a="http://schemas.openxmlformats.org/drawingml/2006/main" w="9525">
            <a:solidFill>
              <a:srgbClr val="176B4B"/>
            </a:solidFill>
          </a:ln>
          <a:effectLst xmlns:a="http://schemas.openxmlformats.org/drawingml/2006/main">
            <a:outerShdw blurRad="76200" dist="25400" dir="5400000" sx="100000" sy="100000" kx="0" ky="0" algn="bl" rotWithShape="0">
              <a:srgbClr val="000000">
                <a:alpha val="10000"/>
              </a:srgbClr>
            </a:outerShdw>
          </a:effectLst>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400" b="1">
                <a:solidFill>
                  <a:srgbClr val="18392D"/>
                </a:solidFill>
                <a:latin typeface="Calibri"/>
                <a:ea typeface="Calibri"/>
                <a:cs typeface="Calibri"/>
              </a:rPr>
              <a:t>Volver a cargar o cerrar</a:t>
            </a:r>
            <a:endParaRPr sz="1400"/>
          </a:p>
        </p:txBody>
      </p:sp>
      <p:sp>
        <p:nvSpPr>
          <p:cNvPr id="29" name="Shape 26">
            <a:extLst xmlns:a="http://schemas.openxmlformats.org/drawingml/2006/main">
              <a:ext uri="{FF2B5EF4-FFF2-40B4-BE49-F238E27FC236}">
                <a16:creationId xmlns:a16="http://schemas.microsoft.com/office/drawing/2014/main" id="{131DE0D6-E195-4110-B963-F26AC3A031B0}"/>
              </a:ext>
            </a:extLst>
          </p:cNvPr>
          <p:cNvSpPr>
            <a:spLocks xmlns:a="http://schemas.openxmlformats.org/drawingml/2006/main" noGrp="1"/>
          </p:cNvSpPr>
          <p:nvPr/>
        </p:nvSpPr>
        <p:spPr>
          <a:xfrm xmlns:a="http://schemas.openxmlformats.org/drawingml/2006/main">
            <a:off x="548640" y="5120640"/>
            <a:ext cx="11064240" cy="100584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30" name="Text 27">
            <a:extLst xmlns:a="http://schemas.openxmlformats.org/drawingml/2006/main">
              <a:ext uri="{FF2B5EF4-FFF2-40B4-BE49-F238E27FC236}">
                <a16:creationId xmlns:a16="http://schemas.microsoft.com/office/drawing/2014/main" id="{E2A2E211-721D-4458-8141-5065AD9D599D}"/>
              </a:ext>
            </a:extLst>
          </p:cNvPr>
          <p:cNvSpPr>
            <a:spLocks xmlns:a="http://schemas.openxmlformats.org/drawingml/2006/main" noGrp="1"/>
          </p:cNvSpPr>
          <p:nvPr/>
        </p:nvSpPr>
        <p:spPr>
          <a:xfrm xmlns:a="http://schemas.openxmlformats.org/drawingml/2006/main">
            <a:off x="822960" y="5257800"/>
            <a:ext cx="10515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925"/>
                </a:solidFill>
                <a:latin typeface="Calibri"/>
                <a:ea typeface="Calibri"/>
                <a:cs typeface="Calibri"/>
              </a:rPr>
              <a:t>Ramas de recuperación: </a:t>
            </a:r>
            <a:r>
              <a:rPr sz="1400">
                <a:solidFill>
                  <a:srgbClr val="1E2925"/>
                </a:solidFill>
                <a:latin typeface="Calibri"/>
                <a:ea typeface="Calibri"/>
                <a:cs typeface="Calibri"/>
              </a:rPr>
              <a:t>si el archivo es inválido se explica la causa y se permite reemplazarlo; si hay error, se conserva la entrada y se ofrece reintentar. Frecuencia e importancia de cada tarea: estimadas, por validar.</a:t>
            </a:r>
            <a:endParaRPr sz="1400"/>
          </a:p>
        </p:txBody>
      </p:sp>
    </p:spTree>
    <p:extLst>
      <p:ext uri="{BB962C8B-B14F-4D97-AF65-F5344CB8AC3E}">
        <p14:creationId xmlns:p14="http://schemas.microsoft.com/office/powerpoint/2010/main" val="2142694854"/>
      </p:ext>
    </p:extLst>
  </p:cSld>
</p:sld>
</file>

<file path=ppt/slides/slide7.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114173-60B1-443E-9BD2-54359EB265CA}"/>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LENGUAJE QUE LA PERSONA RECONOCE</a:t>
            </a:r>
            <a:endParaRPr sz="1200"/>
          </a:p>
        </p:txBody>
      </p:sp>
      <p:sp>
        <p:nvSpPr>
          <p:cNvPr id="3" name="Text 1">
            <a:extLst xmlns:a="http://schemas.openxmlformats.org/drawingml/2006/main">
              <a:ext uri="{FF2B5EF4-FFF2-40B4-BE49-F238E27FC236}">
                <a16:creationId xmlns:a16="http://schemas.microsoft.com/office/drawing/2014/main" id="{2A175219-4976-45D7-B88A-81E677B9DE5A}"/>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Modelo conceptual y vocabulario del dominio</a:t>
            </a:r>
            <a:endParaRPr sz="3000"/>
          </a:p>
        </p:txBody>
      </p:sp>
      <p:sp>
        <p:nvSpPr>
          <p:cNvPr id="4" name="Text 2">
            <a:extLst xmlns:a="http://schemas.openxmlformats.org/drawingml/2006/main">
              <a:ext uri="{FF2B5EF4-FFF2-40B4-BE49-F238E27FC236}">
                <a16:creationId xmlns:a16="http://schemas.microsoft.com/office/drawing/2014/main" id="{262BE070-8DAB-4414-ACA6-6E692CD08661}"/>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7 / 13</a:t>
            </a:r>
            <a:endParaRPr sz="1000"/>
          </a:p>
        </p:txBody>
      </p:sp>
      <p:sp>
        <p:nvSpPr>
          <p:cNvPr id="5" name="Text 3">
            <a:extLst xmlns:a="http://schemas.openxmlformats.org/drawingml/2006/main">
              <a:ext uri="{FF2B5EF4-FFF2-40B4-BE49-F238E27FC236}">
                <a16:creationId xmlns:a16="http://schemas.microsoft.com/office/drawing/2014/main" id="{748BAF71-34E6-4C7C-A02A-770285316290}"/>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Text 4">
            <a:extLst xmlns:a="http://schemas.openxmlformats.org/drawingml/2006/main">
              <a:ext uri="{FF2B5EF4-FFF2-40B4-BE49-F238E27FC236}">
                <a16:creationId xmlns:a16="http://schemas.microsoft.com/office/drawing/2014/main" id="{53EED300-ABEB-4A68-9AAA-7E19F408EC22}"/>
              </a:ext>
            </a:extLst>
          </p:cNvPr>
          <p:cNvSpPr>
            <a:spLocks xmlns:a="http://schemas.openxmlformats.org/drawingml/2006/main" noGrp="1"/>
          </p:cNvSpPr>
          <p:nvPr/>
        </p:nvSpPr>
        <p:spPr>
          <a:xfrm xmlns:a="http://schemas.openxmlformats.org/drawingml/2006/main">
            <a:off x="548640" y="1508760"/>
            <a:ext cx="1920240" cy="640080"/>
          </a:xfrm>
          <a:prstGeom xmlns:a="http://schemas.openxmlformats.org/drawingml/2006/main" prst="roundRect">
            <a:avLst>
              <a:gd name="adj" fmla="val 14286"/>
            </a:avLst>
          </a:prstGeom>
          <a:solidFill xmlns:a="http://schemas.openxmlformats.org/drawingml/2006/main">
            <a:srgbClr val="176B4B"/>
          </a:solidFill>
        </p:spPr>
        <p:txBody>
          <a:bodyPr xmlns:a="http://schemas.openxmlformats.org/drawingml/2006/main" wrap="square" lIns="25400" tIns="25400" rIns="25400" bIns="2540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Archivo</a:t>
            </a:r>
            <a:endParaRPr sz="1400"/>
          </a:p>
        </p:txBody>
      </p:sp>
      <p:sp>
        <p:nvSpPr>
          <p:cNvPr id="8" name="Text 5">
            <a:extLst xmlns:a="http://schemas.openxmlformats.org/drawingml/2006/main">
              <a:ext uri="{FF2B5EF4-FFF2-40B4-BE49-F238E27FC236}">
                <a16:creationId xmlns:a16="http://schemas.microsoft.com/office/drawing/2014/main" id="{74CCC9F2-606E-4046-8D77-AFF55F8A7897}"/>
              </a:ext>
            </a:extLst>
          </p:cNvPr>
          <p:cNvSpPr>
            <a:spLocks xmlns:a="http://schemas.openxmlformats.org/drawingml/2006/main" noGrp="1"/>
          </p:cNvSpPr>
          <p:nvPr/>
        </p:nvSpPr>
        <p:spPr>
          <a:xfrm xmlns:a="http://schemas.openxmlformats.org/drawingml/2006/main">
            <a:off x="2468880" y="1600200"/>
            <a:ext cx="365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176B4B"/>
                </a:solidFill>
                <a:latin typeface="Calibri"/>
                <a:ea typeface="Calibri"/>
                <a:cs typeface="Calibri"/>
              </a:rPr>
              <a:t>→</a:t>
            </a:r>
            <a:endParaRPr sz="2000"/>
          </a:p>
        </p:txBody>
      </p:sp>
      <p:sp>
        <p:nvSpPr>
          <p:cNvPr id="9" name="Text 6">
            <a:extLst xmlns:a="http://schemas.openxmlformats.org/drawingml/2006/main">
              <a:ext uri="{FF2B5EF4-FFF2-40B4-BE49-F238E27FC236}">
                <a16:creationId xmlns:a16="http://schemas.microsoft.com/office/drawing/2014/main" id="{CDB65D8D-1B6B-4E9A-A85F-C0D02338071F}"/>
              </a:ext>
            </a:extLst>
          </p:cNvPr>
          <p:cNvSpPr>
            <a:spLocks xmlns:a="http://schemas.openxmlformats.org/drawingml/2006/main" noGrp="1"/>
          </p:cNvSpPr>
          <p:nvPr/>
        </p:nvSpPr>
        <p:spPr>
          <a:xfrm xmlns:a="http://schemas.openxmlformats.org/drawingml/2006/main">
            <a:off x="2834640" y="1508760"/>
            <a:ext cx="1920240" cy="640080"/>
          </a:xfrm>
          <a:prstGeom xmlns:a="http://schemas.openxmlformats.org/drawingml/2006/main" prst="roundRect">
            <a:avLst>
              <a:gd name="adj" fmla="val 14286"/>
            </a:avLst>
          </a:prstGeom>
          <a:solidFill xmlns:a="http://schemas.openxmlformats.org/drawingml/2006/main">
            <a:srgbClr val="176B4B"/>
          </a:solidFill>
        </p:spPr>
        <p:txBody>
          <a:bodyPr xmlns:a="http://schemas.openxmlformats.org/drawingml/2006/main" wrap="square" lIns="25400" tIns="25400" rIns="25400" bIns="2540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Lote</a:t>
            </a:r>
            <a:endParaRPr sz="1400"/>
          </a:p>
        </p:txBody>
      </p:sp>
      <p:sp>
        <p:nvSpPr>
          <p:cNvPr id="10" name="Text 7">
            <a:extLst xmlns:a="http://schemas.openxmlformats.org/drawingml/2006/main">
              <a:ext uri="{FF2B5EF4-FFF2-40B4-BE49-F238E27FC236}">
                <a16:creationId xmlns:a16="http://schemas.microsoft.com/office/drawing/2014/main" id="{66A569BD-EE92-42A4-8309-BB0FE255D55F}"/>
              </a:ext>
            </a:extLst>
          </p:cNvPr>
          <p:cNvSpPr>
            <a:spLocks xmlns:a="http://schemas.openxmlformats.org/drawingml/2006/main" noGrp="1"/>
          </p:cNvSpPr>
          <p:nvPr/>
        </p:nvSpPr>
        <p:spPr>
          <a:xfrm xmlns:a="http://schemas.openxmlformats.org/drawingml/2006/main">
            <a:off x="4754880" y="1600200"/>
            <a:ext cx="365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176B4B"/>
                </a:solidFill>
                <a:latin typeface="Calibri"/>
                <a:ea typeface="Calibri"/>
                <a:cs typeface="Calibri"/>
              </a:rPr>
              <a:t>→</a:t>
            </a:r>
            <a:endParaRPr sz="2000"/>
          </a:p>
        </p:txBody>
      </p:sp>
      <p:sp>
        <p:nvSpPr>
          <p:cNvPr id="11" name="Text 8">
            <a:extLst xmlns:a="http://schemas.openxmlformats.org/drawingml/2006/main">
              <a:ext uri="{FF2B5EF4-FFF2-40B4-BE49-F238E27FC236}">
                <a16:creationId xmlns:a16="http://schemas.microsoft.com/office/drawing/2014/main" id="{7341897C-AD37-4D65-919C-D7EF6D5945DB}"/>
              </a:ext>
            </a:extLst>
          </p:cNvPr>
          <p:cNvSpPr>
            <a:spLocks xmlns:a="http://schemas.openxmlformats.org/drawingml/2006/main" noGrp="1"/>
          </p:cNvSpPr>
          <p:nvPr/>
        </p:nvSpPr>
        <p:spPr>
          <a:xfrm xmlns:a="http://schemas.openxmlformats.org/drawingml/2006/main">
            <a:off x="5120640" y="1508760"/>
            <a:ext cx="1920240" cy="640080"/>
          </a:xfrm>
          <a:prstGeom xmlns:a="http://schemas.openxmlformats.org/drawingml/2006/main" prst="roundRect">
            <a:avLst>
              <a:gd name="adj" fmla="val 14286"/>
            </a:avLst>
          </a:prstGeom>
          <a:solidFill xmlns:a="http://schemas.openxmlformats.org/drawingml/2006/main">
            <a:srgbClr val="176B4B"/>
          </a:solidFill>
        </p:spPr>
        <p:txBody>
          <a:bodyPr xmlns:a="http://schemas.openxmlformats.org/drawingml/2006/main" wrap="square" lIns="25400" tIns="25400" rIns="25400" bIns="2540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Etapa</a:t>
            </a:r>
            <a:endParaRPr sz="1400"/>
          </a:p>
        </p:txBody>
      </p:sp>
      <p:sp>
        <p:nvSpPr>
          <p:cNvPr id="12" name="Text 9">
            <a:extLst xmlns:a="http://schemas.openxmlformats.org/drawingml/2006/main">
              <a:ext uri="{FF2B5EF4-FFF2-40B4-BE49-F238E27FC236}">
                <a16:creationId xmlns:a16="http://schemas.microsoft.com/office/drawing/2014/main" id="{54F60A83-46BB-485E-B66C-95AE8140F811}"/>
              </a:ext>
            </a:extLst>
          </p:cNvPr>
          <p:cNvSpPr>
            <a:spLocks xmlns:a="http://schemas.openxmlformats.org/drawingml/2006/main" noGrp="1"/>
          </p:cNvSpPr>
          <p:nvPr/>
        </p:nvSpPr>
        <p:spPr>
          <a:xfrm xmlns:a="http://schemas.openxmlformats.org/drawingml/2006/main">
            <a:off x="7040880" y="1600200"/>
            <a:ext cx="365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176B4B"/>
                </a:solidFill>
                <a:latin typeface="Calibri"/>
                <a:ea typeface="Calibri"/>
                <a:cs typeface="Calibri"/>
              </a:rPr>
              <a:t>→</a:t>
            </a:r>
            <a:endParaRPr sz="2000"/>
          </a:p>
        </p:txBody>
      </p:sp>
      <p:sp>
        <p:nvSpPr>
          <p:cNvPr id="13" name="Text 10">
            <a:extLst xmlns:a="http://schemas.openxmlformats.org/drawingml/2006/main">
              <a:ext uri="{FF2B5EF4-FFF2-40B4-BE49-F238E27FC236}">
                <a16:creationId xmlns:a16="http://schemas.microsoft.com/office/drawing/2014/main" id="{B55CB00D-9C5D-47BA-81D4-6F1CDFC5EEFB}"/>
              </a:ext>
            </a:extLst>
          </p:cNvPr>
          <p:cNvSpPr>
            <a:spLocks xmlns:a="http://schemas.openxmlformats.org/drawingml/2006/main" noGrp="1"/>
          </p:cNvSpPr>
          <p:nvPr/>
        </p:nvSpPr>
        <p:spPr>
          <a:xfrm xmlns:a="http://schemas.openxmlformats.org/drawingml/2006/main">
            <a:off x="7406640" y="1508760"/>
            <a:ext cx="1920240" cy="640080"/>
          </a:xfrm>
          <a:prstGeom xmlns:a="http://schemas.openxmlformats.org/drawingml/2006/main" prst="roundRect">
            <a:avLst>
              <a:gd name="adj" fmla="val 14286"/>
            </a:avLst>
          </a:prstGeom>
          <a:solidFill xmlns:a="http://schemas.openxmlformats.org/drawingml/2006/main">
            <a:srgbClr val="176B4B"/>
          </a:solidFill>
        </p:spPr>
        <p:txBody>
          <a:bodyPr xmlns:a="http://schemas.openxmlformats.org/drawingml/2006/main" wrap="square" lIns="25400" tIns="25400" rIns="25400" bIns="2540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Registro verificado</a:t>
            </a:r>
            <a:endParaRPr sz="1400"/>
          </a:p>
        </p:txBody>
      </p:sp>
      <p:sp>
        <p:nvSpPr>
          <p:cNvPr id="14" name="Text 11">
            <a:extLst xmlns:a="http://schemas.openxmlformats.org/drawingml/2006/main">
              <a:ext uri="{FF2B5EF4-FFF2-40B4-BE49-F238E27FC236}">
                <a16:creationId xmlns:a16="http://schemas.microsoft.com/office/drawing/2014/main" id="{4C789362-6D92-4B4F-9EAE-9B76DB050772}"/>
              </a:ext>
            </a:extLst>
          </p:cNvPr>
          <p:cNvSpPr>
            <a:spLocks xmlns:a="http://schemas.openxmlformats.org/drawingml/2006/main" noGrp="1"/>
          </p:cNvSpPr>
          <p:nvPr/>
        </p:nvSpPr>
        <p:spPr>
          <a:xfrm xmlns:a="http://schemas.openxmlformats.org/drawingml/2006/main">
            <a:off x="9326880" y="1600200"/>
            <a:ext cx="365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176B4B"/>
                </a:solidFill>
                <a:latin typeface="Calibri"/>
                <a:ea typeface="Calibri"/>
                <a:cs typeface="Calibri"/>
              </a:rPr>
              <a:t>→</a:t>
            </a:r>
            <a:endParaRPr sz="2000"/>
          </a:p>
        </p:txBody>
      </p:sp>
      <p:sp>
        <p:nvSpPr>
          <p:cNvPr id="15" name="Text 12">
            <a:extLst xmlns:a="http://schemas.openxmlformats.org/drawingml/2006/main">
              <a:ext uri="{FF2B5EF4-FFF2-40B4-BE49-F238E27FC236}">
                <a16:creationId xmlns:a16="http://schemas.microsoft.com/office/drawing/2014/main" id="{64F13700-8843-4CCD-B51E-959F70F5C937}"/>
              </a:ext>
            </a:extLst>
          </p:cNvPr>
          <p:cNvSpPr>
            <a:spLocks xmlns:a="http://schemas.openxmlformats.org/drawingml/2006/main" noGrp="1"/>
          </p:cNvSpPr>
          <p:nvPr/>
        </p:nvSpPr>
        <p:spPr>
          <a:xfrm xmlns:a="http://schemas.openxmlformats.org/drawingml/2006/main">
            <a:off x="9692640" y="1508760"/>
            <a:ext cx="1920240" cy="640080"/>
          </a:xfrm>
          <a:prstGeom xmlns:a="http://schemas.openxmlformats.org/drawingml/2006/main" prst="roundRect">
            <a:avLst>
              <a:gd name="adj" fmla="val 14286"/>
            </a:avLst>
          </a:prstGeom>
          <a:solidFill xmlns:a="http://schemas.openxmlformats.org/drawingml/2006/main">
            <a:srgbClr val="176B4B"/>
          </a:solidFill>
        </p:spPr>
        <p:txBody>
          <a:bodyPr xmlns:a="http://schemas.openxmlformats.org/drawingml/2006/main" wrap="square" lIns="25400" tIns="25400" rIns="25400" bIns="2540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Inventario maestro</a:t>
            </a:r>
            <a:endParaRPr sz="1400"/>
          </a:p>
        </p:txBody>
      </p:sp>
      <p:sp>
        <p:nvSpPr>
          <p:cNvPr id="16" name="Text 13">
            <a:extLst xmlns:a="http://schemas.openxmlformats.org/drawingml/2006/main">
              <a:ext uri="{FF2B5EF4-FFF2-40B4-BE49-F238E27FC236}">
                <a16:creationId xmlns:a16="http://schemas.microsoft.com/office/drawing/2014/main" id="{0102EEEB-84D2-4895-9382-4EC7E3099F1B}"/>
              </a:ext>
            </a:extLst>
          </p:cNvPr>
          <p:cNvSpPr>
            <a:spLocks xmlns:a="http://schemas.openxmlformats.org/drawingml/2006/main" noGrp="1"/>
          </p:cNvSpPr>
          <p:nvPr/>
        </p:nvSpPr>
        <p:spPr>
          <a:xfrm xmlns:a="http://schemas.openxmlformats.org/drawingml/2006/main">
            <a:off x="548640" y="2286000"/>
            <a:ext cx="10972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5736D"/>
                </a:solidFill>
                <a:latin typeface="Calibri"/>
                <a:ea typeface="Calibri"/>
                <a:cs typeface="Calibri"/>
              </a:rPr>
              <a:t>Una etapa que rechaza produce un hallazgo de calidad que se consulta en Auditoría.</a:t>
            </a:r>
            <a:endParaRPr sz="1300"/>
          </a:p>
        </p:txBody>
      </p:sp>
      <p:sp>
        <p:nvSpPr>
          <p:cNvPr id="17" name="Shape 14">
            <a:extLst xmlns:a="http://schemas.openxmlformats.org/drawingml/2006/main">
              <a:ext uri="{FF2B5EF4-FFF2-40B4-BE49-F238E27FC236}">
                <a16:creationId xmlns:a16="http://schemas.microsoft.com/office/drawing/2014/main" id="{56DA218C-632D-4AE8-81C6-8E48EACFE614}"/>
              </a:ext>
            </a:extLst>
          </p:cNvPr>
          <p:cNvSpPr>
            <a:spLocks xmlns:a="http://schemas.openxmlformats.org/drawingml/2006/main" noGrp="1"/>
          </p:cNvSpPr>
          <p:nvPr/>
        </p:nvSpPr>
        <p:spPr>
          <a:xfrm xmlns:a="http://schemas.openxmlformats.org/drawingml/2006/main">
            <a:off x="548640" y="2788920"/>
            <a:ext cx="11064240" cy="502920"/>
          </a:xfrm>
          <a:prstGeom xmlns:a="http://schemas.openxmlformats.org/drawingml/2006/main" prst="rect">
            <a:avLst/>
          </a:prstGeom>
          <a:solidFill xmlns:a="http://schemas.openxmlformats.org/drawingml/2006/main">
            <a:srgbClr val="18392D"/>
          </a:solidFill>
          <a:ln xmlns:a="http://schemas.openxmlformats.org/drawingml/2006/main" w="6350">
            <a:solidFill>
              <a:srgbClr val="D9E1DC"/>
            </a:solidFill>
            <a:prstDash val="solid"/>
          </a:ln>
        </p:spPr>
      </p:sp>
      <p:sp>
        <p:nvSpPr>
          <p:cNvPr id="18" name="Text 15">
            <a:extLst xmlns:a="http://schemas.openxmlformats.org/drawingml/2006/main">
              <a:ext uri="{FF2B5EF4-FFF2-40B4-BE49-F238E27FC236}">
                <a16:creationId xmlns:a16="http://schemas.microsoft.com/office/drawing/2014/main" id="{2BC78693-79CF-462F-ACEB-46E10BEB21CE}"/>
              </a:ext>
            </a:extLst>
          </p:cNvPr>
          <p:cNvSpPr>
            <a:spLocks xmlns:a="http://schemas.openxmlformats.org/drawingml/2006/main" noGrp="1"/>
          </p:cNvSpPr>
          <p:nvPr/>
        </p:nvSpPr>
        <p:spPr>
          <a:xfrm xmlns:a="http://schemas.openxmlformats.org/drawingml/2006/main">
            <a:off x="777240" y="2788920"/>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Código técnico</a:t>
            </a:r>
            <a:endParaRPr sz="1500"/>
          </a:p>
        </p:txBody>
      </p:sp>
      <p:sp>
        <p:nvSpPr>
          <p:cNvPr id="19" name="Text 16">
            <a:extLst xmlns:a="http://schemas.openxmlformats.org/drawingml/2006/main">
              <a:ext uri="{FF2B5EF4-FFF2-40B4-BE49-F238E27FC236}">
                <a16:creationId xmlns:a16="http://schemas.microsoft.com/office/drawing/2014/main" id="{1F26B119-AC8A-4803-ABBD-2B9C62B4FD56}"/>
              </a:ext>
            </a:extLst>
          </p:cNvPr>
          <p:cNvSpPr>
            <a:spLocks xmlns:a="http://schemas.openxmlformats.org/drawingml/2006/main" noGrp="1"/>
          </p:cNvSpPr>
          <p:nvPr/>
        </p:nvSpPr>
        <p:spPr>
          <a:xfrm xmlns:a="http://schemas.openxmlformats.org/drawingml/2006/main">
            <a:off x="6217920" y="2788920"/>
            <a:ext cx="52120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En la interfaz</a:t>
            </a:r>
            <a:endParaRPr sz="1500"/>
          </a:p>
        </p:txBody>
      </p:sp>
      <p:sp>
        <p:nvSpPr>
          <p:cNvPr id="20" name="Shape 17">
            <a:extLst xmlns:a="http://schemas.openxmlformats.org/drawingml/2006/main">
              <a:ext uri="{FF2B5EF4-FFF2-40B4-BE49-F238E27FC236}">
                <a16:creationId xmlns:a16="http://schemas.microsoft.com/office/drawing/2014/main" id="{11AE1C3E-11A8-4EB9-947F-5B3BCB4364B3}"/>
              </a:ext>
            </a:extLst>
          </p:cNvPr>
          <p:cNvSpPr>
            <a:spLocks xmlns:a="http://schemas.openxmlformats.org/drawingml/2006/main" noGrp="1"/>
          </p:cNvSpPr>
          <p:nvPr/>
        </p:nvSpPr>
        <p:spPr>
          <a:xfrm xmlns:a="http://schemas.openxmlformats.org/drawingml/2006/main">
            <a:off x="548640" y="3355848"/>
            <a:ext cx="11064240" cy="502920"/>
          </a:xfrm>
          <a:prstGeom xmlns:a="http://schemas.openxmlformats.org/drawingml/2006/main" prst="rect">
            <a:avLst/>
          </a:prstGeom>
          <a:solidFill xmlns:a="http://schemas.openxmlformats.org/drawingml/2006/main">
            <a:srgbClr val="FFFFFF"/>
          </a:solidFill>
          <a:ln xmlns:a="http://schemas.openxmlformats.org/drawingml/2006/main" w="6350">
            <a:solidFill>
              <a:srgbClr val="D9E1DC"/>
            </a:solidFill>
            <a:prstDash val="solid"/>
          </a:ln>
        </p:spPr>
      </p:sp>
      <p:sp>
        <p:nvSpPr>
          <p:cNvPr id="21" name="Text 18">
            <a:extLst xmlns:a="http://schemas.openxmlformats.org/drawingml/2006/main">
              <a:ext uri="{FF2B5EF4-FFF2-40B4-BE49-F238E27FC236}">
                <a16:creationId xmlns:a16="http://schemas.microsoft.com/office/drawing/2014/main" id="{7F895D1D-B9FC-4B10-87E4-A361EDC8CB96}"/>
              </a:ext>
            </a:extLst>
          </p:cNvPr>
          <p:cNvSpPr>
            <a:spLocks xmlns:a="http://schemas.openxmlformats.org/drawingml/2006/main" noGrp="1"/>
          </p:cNvSpPr>
          <p:nvPr/>
        </p:nvSpPr>
        <p:spPr>
          <a:xfrm xmlns:a="http://schemas.openxmlformats.org/drawingml/2006/main">
            <a:off x="777240" y="3355848"/>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ourier New"/>
                <a:ea typeface="Courier New"/>
                <a:cs typeface="Courier New"/>
              </a:rPr>
              <a:t>Compuerta G1</a:t>
            </a:r>
            <a:endParaRPr sz="1500"/>
          </a:p>
        </p:txBody>
      </p:sp>
      <p:sp>
        <p:nvSpPr>
          <p:cNvPr id="22" name="Text 19">
            <a:extLst xmlns:a="http://schemas.openxmlformats.org/drawingml/2006/main">
              <a:ext uri="{FF2B5EF4-FFF2-40B4-BE49-F238E27FC236}">
                <a16:creationId xmlns:a16="http://schemas.microsoft.com/office/drawing/2014/main" id="{50D2462A-BFE6-4C6A-B8A0-AED91F6B2442}"/>
              </a:ext>
            </a:extLst>
          </p:cNvPr>
          <p:cNvSpPr>
            <a:spLocks xmlns:a="http://schemas.openxmlformats.org/drawingml/2006/main" noGrp="1"/>
          </p:cNvSpPr>
          <p:nvPr/>
        </p:nvSpPr>
        <p:spPr>
          <a:xfrm xmlns:a="http://schemas.openxmlformats.org/drawingml/2006/main">
            <a:off x="6217920" y="3355848"/>
            <a:ext cx="52120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76B4B"/>
                </a:solidFill>
                <a:latin typeface="Calibri"/>
                <a:ea typeface="Calibri"/>
                <a:cs typeface="Calibri"/>
              </a:rPr>
              <a:t>Lectura del archivo</a:t>
            </a:r>
            <a:endParaRPr sz="1500"/>
          </a:p>
        </p:txBody>
      </p:sp>
      <p:sp>
        <p:nvSpPr>
          <p:cNvPr id="23" name="Shape 20">
            <a:extLst xmlns:a="http://schemas.openxmlformats.org/drawingml/2006/main">
              <a:ext uri="{FF2B5EF4-FFF2-40B4-BE49-F238E27FC236}">
                <a16:creationId xmlns:a16="http://schemas.microsoft.com/office/drawing/2014/main" id="{46ABBE5E-48F2-416E-B2FC-7043ACE2BBBB}"/>
              </a:ext>
            </a:extLst>
          </p:cNvPr>
          <p:cNvSpPr>
            <a:spLocks xmlns:a="http://schemas.openxmlformats.org/drawingml/2006/main" noGrp="1"/>
          </p:cNvSpPr>
          <p:nvPr/>
        </p:nvSpPr>
        <p:spPr>
          <a:xfrm xmlns:a="http://schemas.openxmlformats.org/drawingml/2006/main">
            <a:off x="548640" y="3922776"/>
            <a:ext cx="11064240" cy="502920"/>
          </a:xfrm>
          <a:prstGeom xmlns:a="http://schemas.openxmlformats.org/drawingml/2006/main" prst="rect">
            <a:avLst/>
          </a:prstGeom>
          <a:solidFill xmlns:a="http://schemas.openxmlformats.org/drawingml/2006/main">
            <a:srgbClr val="E5F2EB"/>
          </a:solidFill>
          <a:ln xmlns:a="http://schemas.openxmlformats.org/drawingml/2006/main" w="6350">
            <a:solidFill>
              <a:srgbClr val="D9E1DC"/>
            </a:solidFill>
            <a:prstDash val="solid"/>
          </a:ln>
        </p:spPr>
      </p:sp>
      <p:sp>
        <p:nvSpPr>
          <p:cNvPr id="24" name="Text 21">
            <a:extLst xmlns:a="http://schemas.openxmlformats.org/drawingml/2006/main">
              <a:ext uri="{FF2B5EF4-FFF2-40B4-BE49-F238E27FC236}">
                <a16:creationId xmlns:a16="http://schemas.microsoft.com/office/drawing/2014/main" id="{13A912F3-A9B5-4204-88A3-DDF51CAC3CDC}"/>
              </a:ext>
            </a:extLst>
          </p:cNvPr>
          <p:cNvSpPr>
            <a:spLocks xmlns:a="http://schemas.openxmlformats.org/drawingml/2006/main" noGrp="1"/>
          </p:cNvSpPr>
          <p:nvPr/>
        </p:nvSpPr>
        <p:spPr>
          <a:xfrm xmlns:a="http://schemas.openxmlformats.org/drawingml/2006/main">
            <a:off x="777240" y="3922776"/>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ourier New"/>
                <a:ea typeface="Courier New"/>
                <a:cs typeface="Courier New"/>
              </a:rPr>
              <a:t>Compuerta G2</a:t>
            </a:r>
            <a:endParaRPr sz="1500"/>
          </a:p>
        </p:txBody>
      </p:sp>
      <p:sp>
        <p:nvSpPr>
          <p:cNvPr id="25" name="Text 22">
            <a:extLst xmlns:a="http://schemas.openxmlformats.org/drawingml/2006/main">
              <a:ext uri="{FF2B5EF4-FFF2-40B4-BE49-F238E27FC236}">
                <a16:creationId xmlns:a16="http://schemas.microsoft.com/office/drawing/2014/main" id="{F1ED6C9E-8666-465C-84FC-DE044F4C53C0}"/>
              </a:ext>
            </a:extLst>
          </p:cNvPr>
          <p:cNvSpPr>
            <a:spLocks xmlns:a="http://schemas.openxmlformats.org/drawingml/2006/main" noGrp="1"/>
          </p:cNvSpPr>
          <p:nvPr/>
        </p:nvSpPr>
        <p:spPr>
          <a:xfrm xmlns:a="http://schemas.openxmlformats.org/drawingml/2006/main">
            <a:off x="6217920" y="3922776"/>
            <a:ext cx="52120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76B4B"/>
                </a:solidFill>
                <a:latin typeface="Calibri"/>
                <a:ea typeface="Calibri"/>
                <a:cs typeface="Calibri"/>
              </a:rPr>
              <a:t>Validación de valores</a:t>
            </a:r>
            <a:endParaRPr sz="1500"/>
          </a:p>
        </p:txBody>
      </p:sp>
      <p:sp>
        <p:nvSpPr>
          <p:cNvPr id="26" name="Shape 23">
            <a:extLst xmlns:a="http://schemas.openxmlformats.org/drawingml/2006/main">
              <a:ext uri="{FF2B5EF4-FFF2-40B4-BE49-F238E27FC236}">
                <a16:creationId xmlns:a16="http://schemas.microsoft.com/office/drawing/2014/main" id="{98A2026F-F09C-406C-8572-16EEDEDD9AF9}"/>
              </a:ext>
            </a:extLst>
          </p:cNvPr>
          <p:cNvSpPr>
            <a:spLocks xmlns:a="http://schemas.openxmlformats.org/drawingml/2006/main" noGrp="1"/>
          </p:cNvSpPr>
          <p:nvPr/>
        </p:nvSpPr>
        <p:spPr>
          <a:xfrm xmlns:a="http://schemas.openxmlformats.org/drawingml/2006/main">
            <a:off x="548640" y="4489704"/>
            <a:ext cx="11064240" cy="502920"/>
          </a:xfrm>
          <a:prstGeom xmlns:a="http://schemas.openxmlformats.org/drawingml/2006/main" prst="rect">
            <a:avLst/>
          </a:prstGeom>
          <a:solidFill xmlns:a="http://schemas.openxmlformats.org/drawingml/2006/main">
            <a:srgbClr val="FFFFFF"/>
          </a:solidFill>
          <a:ln xmlns:a="http://schemas.openxmlformats.org/drawingml/2006/main" w="6350">
            <a:solidFill>
              <a:srgbClr val="D9E1DC"/>
            </a:solidFill>
            <a:prstDash val="solid"/>
          </a:ln>
        </p:spPr>
      </p:sp>
      <p:sp>
        <p:nvSpPr>
          <p:cNvPr id="27" name="Text 24">
            <a:extLst xmlns:a="http://schemas.openxmlformats.org/drawingml/2006/main">
              <a:ext uri="{FF2B5EF4-FFF2-40B4-BE49-F238E27FC236}">
                <a16:creationId xmlns:a16="http://schemas.microsoft.com/office/drawing/2014/main" id="{AA11A5C5-016D-4F3C-857C-732EBC79E641}"/>
              </a:ext>
            </a:extLst>
          </p:cNvPr>
          <p:cNvSpPr>
            <a:spLocks xmlns:a="http://schemas.openxmlformats.org/drawingml/2006/main" noGrp="1"/>
          </p:cNvSpPr>
          <p:nvPr/>
        </p:nvSpPr>
        <p:spPr>
          <a:xfrm xmlns:a="http://schemas.openxmlformats.org/drawingml/2006/main">
            <a:off x="777240" y="4489704"/>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ourier New"/>
                <a:ea typeface="Courier New"/>
                <a:cs typeface="Courier New"/>
              </a:rPr>
              <a:t>Compuerta G3</a:t>
            </a:r>
            <a:endParaRPr sz="1500"/>
          </a:p>
        </p:txBody>
      </p:sp>
      <p:sp>
        <p:nvSpPr>
          <p:cNvPr id="28" name="Text 25">
            <a:extLst xmlns:a="http://schemas.openxmlformats.org/drawingml/2006/main">
              <a:ext uri="{FF2B5EF4-FFF2-40B4-BE49-F238E27FC236}">
                <a16:creationId xmlns:a16="http://schemas.microsoft.com/office/drawing/2014/main" id="{56FC20FA-BAE1-44AC-B95C-BAA0E720EB3C}"/>
              </a:ext>
            </a:extLst>
          </p:cNvPr>
          <p:cNvSpPr>
            <a:spLocks xmlns:a="http://schemas.openxmlformats.org/drawingml/2006/main" noGrp="1"/>
          </p:cNvSpPr>
          <p:nvPr/>
        </p:nvSpPr>
        <p:spPr>
          <a:xfrm xmlns:a="http://schemas.openxmlformats.org/drawingml/2006/main">
            <a:off x="6217920" y="4489704"/>
            <a:ext cx="52120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76B4B"/>
                </a:solidFill>
                <a:latin typeface="Calibri"/>
                <a:ea typeface="Calibri"/>
                <a:cs typeface="Calibri"/>
              </a:rPr>
              <a:t>Limpieza de datos</a:t>
            </a:r>
            <a:endParaRPr sz="1500"/>
          </a:p>
        </p:txBody>
      </p:sp>
      <p:sp>
        <p:nvSpPr>
          <p:cNvPr id="29" name="Shape 26">
            <a:extLst xmlns:a="http://schemas.openxmlformats.org/drawingml/2006/main">
              <a:ext uri="{FF2B5EF4-FFF2-40B4-BE49-F238E27FC236}">
                <a16:creationId xmlns:a16="http://schemas.microsoft.com/office/drawing/2014/main" id="{CB6B94F8-F1B2-4ECC-B85C-C157C4481A44}"/>
              </a:ext>
            </a:extLst>
          </p:cNvPr>
          <p:cNvSpPr>
            <a:spLocks xmlns:a="http://schemas.openxmlformats.org/drawingml/2006/main" noGrp="1"/>
          </p:cNvSpPr>
          <p:nvPr/>
        </p:nvSpPr>
        <p:spPr>
          <a:xfrm xmlns:a="http://schemas.openxmlformats.org/drawingml/2006/main">
            <a:off x="548640" y="5056632"/>
            <a:ext cx="11064240" cy="502920"/>
          </a:xfrm>
          <a:prstGeom xmlns:a="http://schemas.openxmlformats.org/drawingml/2006/main" prst="rect">
            <a:avLst/>
          </a:prstGeom>
          <a:solidFill xmlns:a="http://schemas.openxmlformats.org/drawingml/2006/main">
            <a:srgbClr val="E5F2EB"/>
          </a:solidFill>
          <a:ln xmlns:a="http://schemas.openxmlformats.org/drawingml/2006/main" w="6350">
            <a:solidFill>
              <a:srgbClr val="D9E1DC"/>
            </a:solidFill>
            <a:prstDash val="solid"/>
          </a:ln>
        </p:spPr>
      </p:sp>
      <p:sp>
        <p:nvSpPr>
          <p:cNvPr id="30" name="Text 27">
            <a:extLst xmlns:a="http://schemas.openxmlformats.org/drawingml/2006/main">
              <a:ext uri="{FF2B5EF4-FFF2-40B4-BE49-F238E27FC236}">
                <a16:creationId xmlns:a16="http://schemas.microsoft.com/office/drawing/2014/main" id="{BA7F878D-B72B-4B5A-A7C3-6E9B0F6BF12D}"/>
              </a:ext>
            </a:extLst>
          </p:cNvPr>
          <p:cNvSpPr>
            <a:spLocks xmlns:a="http://schemas.openxmlformats.org/drawingml/2006/main" noGrp="1"/>
          </p:cNvSpPr>
          <p:nvPr/>
        </p:nvSpPr>
        <p:spPr>
          <a:xfrm xmlns:a="http://schemas.openxmlformats.org/drawingml/2006/main">
            <a:off x="777240" y="5056632"/>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ourier New"/>
                <a:ea typeface="Courier New"/>
                <a:cs typeface="Courier New"/>
              </a:rPr>
              <a:t>Compuerta G4</a:t>
            </a:r>
            <a:endParaRPr sz="1500"/>
          </a:p>
        </p:txBody>
      </p:sp>
      <p:sp>
        <p:nvSpPr>
          <p:cNvPr id="31" name="Text 28">
            <a:extLst xmlns:a="http://schemas.openxmlformats.org/drawingml/2006/main">
              <a:ext uri="{FF2B5EF4-FFF2-40B4-BE49-F238E27FC236}">
                <a16:creationId xmlns:a16="http://schemas.microsoft.com/office/drawing/2014/main" id="{2459FBBF-31CE-4153-8757-B83C31CFB9BB}"/>
              </a:ext>
            </a:extLst>
          </p:cNvPr>
          <p:cNvSpPr>
            <a:spLocks xmlns:a="http://schemas.openxmlformats.org/drawingml/2006/main" noGrp="1"/>
          </p:cNvSpPr>
          <p:nvPr/>
        </p:nvSpPr>
        <p:spPr>
          <a:xfrm xmlns:a="http://schemas.openxmlformats.org/drawingml/2006/main">
            <a:off x="6217920" y="5056632"/>
            <a:ext cx="52120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76B4B"/>
                </a:solidFill>
                <a:latin typeface="Calibri"/>
                <a:ea typeface="Calibri"/>
                <a:cs typeface="Calibri"/>
              </a:rPr>
              <a:t>Revisión de calidad</a:t>
            </a:r>
            <a:endParaRPr sz="1500"/>
          </a:p>
        </p:txBody>
      </p:sp>
      <p:sp>
        <p:nvSpPr>
          <p:cNvPr id="32" name="Shape 29">
            <a:extLst xmlns:a="http://schemas.openxmlformats.org/drawingml/2006/main">
              <a:ext uri="{FF2B5EF4-FFF2-40B4-BE49-F238E27FC236}">
                <a16:creationId xmlns:a16="http://schemas.microsoft.com/office/drawing/2014/main" id="{7A5BBF17-8B7E-464C-8F31-C3837F3AA5CC}"/>
              </a:ext>
            </a:extLst>
          </p:cNvPr>
          <p:cNvSpPr>
            <a:spLocks xmlns:a="http://schemas.openxmlformats.org/drawingml/2006/main" noGrp="1"/>
          </p:cNvSpPr>
          <p:nvPr/>
        </p:nvSpPr>
        <p:spPr>
          <a:xfrm xmlns:a="http://schemas.openxmlformats.org/drawingml/2006/main">
            <a:off x="548640" y="5623560"/>
            <a:ext cx="11064240" cy="502920"/>
          </a:xfrm>
          <a:prstGeom xmlns:a="http://schemas.openxmlformats.org/drawingml/2006/main" prst="rect">
            <a:avLst/>
          </a:prstGeom>
          <a:solidFill xmlns:a="http://schemas.openxmlformats.org/drawingml/2006/main">
            <a:srgbClr val="FFFFFF"/>
          </a:solidFill>
          <a:ln xmlns:a="http://schemas.openxmlformats.org/drawingml/2006/main" w="6350">
            <a:solidFill>
              <a:srgbClr val="D9E1DC"/>
            </a:solidFill>
            <a:prstDash val="solid"/>
          </a:ln>
        </p:spPr>
      </p:sp>
      <p:sp>
        <p:nvSpPr>
          <p:cNvPr id="33" name="Text 30">
            <a:extLst xmlns:a="http://schemas.openxmlformats.org/drawingml/2006/main">
              <a:ext uri="{FF2B5EF4-FFF2-40B4-BE49-F238E27FC236}">
                <a16:creationId xmlns:a16="http://schemas.microsoft.com/office/drawing/2014/main" id="{740290A6-870D-4442-B3EC-2CEEE4C7DD79}"/>
              </a:ext>
            </a:extLst>
          </p:cNvPr>
          <p:cNvSpPr>
            <a:spLocks xmlns:a="http://schemas.openxmlformats.org/drawingml/2006/main" noGrp="1"/>
          </p:cNvSpPr>
          <p:nvPr/>
        </p:nvSpPr>
        <p:spPr>
          <a:xfrm xmlns:a="http://schemas.openxmlformats.org/drawingml/2006/main">
            <a:off x="777240" y="5623560"/>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925"/>
                </a:solidFill>
                <a:latin typeface="Courier New"/>
                <a:ea typeface="Courier New"/>
                <a:cs typeface="Courier New"/>
              </a:rPr>
              <a:t>Rechazo / log</a:t>
            </a:r>
            <a:endParaRPr sz="1500"/>
          </a:p>
        </p:txBody>
      </p:sp>
      <p:sp>
        <p:nvSpPr>
          <p:cNvPr id="34" name="Text 31">
            <a:extLst xmlns:a="http://schemas.openxmlformats.org/drawingml/2006/main">
              <a:ext uri="{FF2B5EF4-FFF2-40B4-BE49-F238E27FC236}">
                <a16:creationId xmlns:a16="http://schemas.microsoft.com/office/drawing/2014/main" id="{BBAF6DF8-449A-4D9B-9464-A9A6AF6C40ED}"/>
              </a:ext>
            </a:extLst>
          </p:cNvPr>
          <p:cNvSpPr>
            <a:spLocks xmlns:a="http://schemas.openxmlformats.org/drawingml/2006/main" noGrp="1"/>
          </p:cNvSpPr>
          <p:nvPr/>
        </p:nvSpPr>
        <p:spPr>
          <a:xfrm xmlns:a="http://schemas.openxmlformats.org/drawingml/2006/main">
            <a:off x="6217920" y="5623560"/>
            <a:ext cx="52120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76B4B"/>
                </a:solidFill>
                <a:latin typeface="Calibri"/>
                <a:ea typeface="Calibri"/>
                <a:cs typeface="Calibri"/>
              </a:rPr>
              <a:t>Registro por revisar, con motivo y regla</a:t>
            </a:r>
            <a:endParaRPr sz="1500"/>
          </a:p>
        </p:txBody>
      </p:sp>
    </p:spTree>
    <p:extLst>
      <p:ext uri="{BB962C8B-B14F-4D97-AF65-F5344CB8AC3E}">
        <p14:creationId xmlns:p14="http://schemas.microsoft.com/office/powerpoint/2010/main" val="155859165"/>
      </p:ext>
    </p:extLst>
  </p:cSld>
</p:sld>
</file>

<file path=ppt/slides/slide8.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1004BDD-097C-4F1C-B7BD-88AE81AAE42E}"/>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CAPTURAS DEL PROTOTIPO · DATOS FICTICIOS</a:t>
            </a:r>
            <a:endParaRPr sz="1200"/>
          </a:p>
        </p:txBody>
      </p:sp>
      <p:sp>
        <p:nvSpPr>
          <p:cNvPr id="3" name="Text 1">
            <a:extLst xmlns:a="http://schemas.openxmlformats.org/drawingml/2006/main">
              <a:ext uri="{FF2B5EF4-FFF2-40B4-BE49-F238E27FC236}">
                <a16:creationId xmlns:a16="http://schemas.microsoft.com/office/drawing/2014/main" id="{8CC51EE5-DB1A-413C-AB34-17E236997C53}"/>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Prototipo navegable de 10 pantallas</a:t>
            </a:r>
            <a:endParaRPr sz="3000"/>
          </a:p>
        </p:txBody>
      </p:sp>
      <p:sp>
        <p:nvSpPr>
          <p:cNvPr id="4" name="Text 2">
            <a:extLst xmlns:a="http://schemas.openxmlformats.org/drawingml/2006/main">
              <a:ext uri="{FF2B5EF4-FFF2-40B4-BE49-F238E27FC236}">
                <a16:creationId xmlns:a16="http://schemas.microsoft.com/office/drawing/2014/main" id="{41FAA08A-3E85-44B1-8438-B861E489E81F}"/>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8 / 13</a:t>
            </a:r>
            <a:endParaRPr sz="1000"/>
          </a:p>
        </p:txBody>
      </p:sp>
      <p:sp>
        <p:nvSpPr>
          <p:cNvPr id="5" name="Text 3">
            <a:extLst xmlns:a="http://schemas.openxmlformats.org/drawingml/2006/main">
              <a:ext uri="{FF2B5EF4-FFF2-40B4-BE49-F238E27FC236}">
                <a16:creationId xmlns:a16="http://schemas.microsoft.com/office/drawing/2014/main" id="{726CB84A-12F6-4965-B787-7B4737080CF3}"/>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Shape 4">
            <a:extLst xmlns:a="http://schemas.openxmlformats.org/drawingml/2006/main">
              <a:ext uri="{FF2B5EF4-FFF2-40B4-BE49-F238E27FC236}">
                <a16:creationId xmlns:a16="http://schemas.microsoft.com/office/drawing/2014/main" id="{129DDEE2-7D0F-4A8B-865C-6A5A2888B20C}"/>
              </a:ext>
            </a:extLst>
          </p:cNvPr>
          <p:cNvSpPr>
            <a:spLocks xmlns:a="http://schemas.openxmlformats.org/drawingml/2006/main" noGrp="1"/>
          </p:cNvSpPr>
          <p:nvPr/>
        </p:nvSpPr>
        <p:spPr>
          <a:xfrm xmlns:a="http://schemas.openxmlformats.org/drawingml/2006/main">
            <a:off x="548640" y="1463040"/>
            <a:ext cx="2057400" cy="173736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pic>
        <p:nvPicPr>
          <p:cNvPr id="45" name="Image 0"/>
          <p:cNvPicPr>
            <a:picLocks xmlns:a="http://schemas.openxmlformats.org/drawingml/2006/main" noChangeAspect="1"/>
          </p:cNvPicPr>
          <p:nvPr/>
        </p:nvPicPr>
        <p:blipFill>
          <a:blip xmlns:r="http://schemas.openxmlformats.org/officeDocument/2006/relationships" xmlns:a="http://schemas.openxmlformats.org/drawingml/2006/main" r:embed="R6cb3d75581bb4473"/>
          <a:stretch xmlns:a="http://schemas.openxmlformats.org/drawingml/2006/main">
            <a:fillRect l="0" t="0" r="0" b="0"/>
          </a:stretch>
        </p:blipFill>
        <p:spPr>
          <a:xfrm xmlns:a="http://schemas.openxmlformats.org/drawingml/2006/main">
            <a:off x="621792" y="1536192"/>
            <a:ext cx="1911096" cy="1325880"/>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809EE172-A741-4004-AA38-DEE0C34E71D6}"/>
              </a:ext>
            </a:extLst>
          </p:cNvPr>
          <p:cNvSpPr>
            <a:spLocks xmlns:a="http://schemas.openxmlformats.org/drawingml/2006/main" noGrp="1"/>
          </p:cNvSpPr>
          <p:nvPr/>
        </p:nvSpPr>
        <p:spPr>
          <a:xfrm xmlns:a="http://schemas.openxmlformats.org/drawingml/2006/main">
            <a:off x="548640" y="3291840"/>
            <a:ext cx="2057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E2925"/>
                </a:solidFill>
                <a:latin typeface="Calibri"/>
                <a:ea typeface="Calibri"/>
                <a:cs typeface="Calibri"/>
              </a:rPr>
              <a:t>1 · Resumen</a:t>
            </a:r>
            <a:endParaRPr sz="1200"/>
          </a:p>
        </p:txBody>
      </p:sp>
      <p:sp>
        <p:nvSpPr>
          <p:cNvPr id="10" name="Shape 6">
            <a:extLst xmlns:a="http://schemas.openxmlformats.org/drawingml/2006/main">
              <a:ext uri="{FF2B5EF4-FFF2-40B4-BE49-F238E27FC236}">
                <a16:creationId xmlns:a16="http://schemas.microsoft.com/office/drawing/2014/main" id="{3333B449-9768-43B7-98A2-AD97FEFE7039}"/>
              </a:ext>
            </a:extLst>
          </p:cNvPr>
          <p:cNvSpPr>
            <a:spLocks xmlns:a="http://schemas.openxmlformats.org/drawingml/2006/main" noGrp="1"/>
          </p:cNvSpPr>
          <p:nvPr/>
        </p:nvSpPr>
        <p:spPr>
          <a:xfrm xmlns:a="http://schemas.openxmlformats.org/drawingml/2006/main">
            <a:off x="2788920" y="1463040"/>
            <a:ext cx="2057400" cy="173736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5f0f6b23ddc1483f"/>
          <a:stretch xmlns:a="http://schemas.openxmlformats.org/drawingml/2006/main">
            <a:fillRect l="0" t="0" r="0" b="0"/>
          </a:stretch>
        </p:blipFill>
        <p:spPr>
          <a:xfrm xmlns:a="http://schemas.openxmlformats.org/drawingml/2006/main">
            <a:off x="2862072" y="1536192"/>
            <a:ext cx="1911096" cy="132588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FE891865-7BEF-4BCF-8E08-3EB90823548D}"/>
              </a:ext>
            </a:extLst>
          </p:cNvPr>
          <p:cNvSpPr>
            <a:spLocks xmlns:a="http://schemas.openxmlformats.org/drawingml/2006/main" noGrp="1"/>
          </p:cNvSpPr>
          <p:nvPr/>
        </p:nvSpPr>
        <p:spPr>
          <a:xfrm xmlns:a="http://schemas.openxmlformats.org/drawingml/2006/main">
            <a:off x="2788920" y="3291840"/>
            <a:ext cx="2057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E2925"/>
                </a:solidFill>
                <a:latin typeface="Calibri"/>
                <a:ea typeface="Calibri"/>
                <a:cs typeface="Calibri"/>
              </a:rPr>
              <a:t>2 · Selección de archivo</a:t>
            </a:r>
            <a:endParaRPr sz="1200"/>
          </a:p>
        </p:txBody>
      </p:sp>
      <p:sp>
        <p:nvSpPr>
          <p:cNvPr id="13" name="Shape 8">
            <a:extLst xmlns:a="http://schemas.openxmlformats.org/drawingml/2006/main">
              <a:ext uri="{FF2B5EF4-FFF2-40B4-BE49-F238E27FC236}">
                <a16:creationId xmlns:a16="http://schemas.microsoft.com/office/drawing/2014/main" id="{3E7B19D5-28F5-4BFA-B232-355AA914EF73}"/>
              </a:ext>
            </a:extLst>
          </p:cNvPr>
          <p:cNvSpPr>
            <a:spLocks xmlns:a="http://schemas.openxmlformats.org/drawingml/2006/main" noGrp="1"/>
          </p:cNvSpPr>
          <p:nvPr/>
        </p:nvSpPr>
        <p:spPr>
          <a:xfrm xmlns:a="http://schemas.openxmlformats.org/drawingml/2006/main">
            <a:off x="5029200" y="1463040"/>
            <a:ext cx="2057400" cy="173736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pic>
        <p:nvPicPr>
          <p:cNvPr id="51" name="Image 2"/>
          <p:cNvPicPr>
            <a:picLocks xmlns:a="http://schemas.openxmlformats.org/drawingml/2006/main" noChangeAspect="1"/>
          </p:cNvPicPr>
          <p:nvPr/>
        </p:nvPicPr>
        <p:blipFill>
          <a:blip xmlns:r="http://schemas.openxmlformats.org/officeDocument/2006/relationships" xmlns:a="http://schemas.openxmlformats.org/drawingml/2006/main" r:embed="R6f07d7002e5d41a0"/>
          <a:stretch xmlns:a="http://schemas.openxmlformats.org/drawingml/2006/main">
            <a:fillRect l="0" t="0" r="0" b="0"/>
          </a:stretch>
        </p:blipFill>
        <p:spPr>
          <a:xfrm xmlns:a="http://schemas.openxmlformats.org/drawingml/2006/main">
            <a:off x="5102352" y="1536192"/>
            <a:ext cx="1911096" cy="132588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4D9F65B1-57EA-4F4A-A9EF-46C8726AE630}"/>
              </a:ext>
            </a:extLst>
          </p:cNvPr>
          <p:cNvSpPr>
            <a:spLocks xmlns:a="http://schemas.openxmlformats.org/drawingml/2006/main" noGrp="1"/>
          </p:cNvSpPr>
          <p:nvPr/>
        </p:nvSpPr>
        <p:spPr>
          <a:xfrm xmlns:a="http://schemas.openxmlformats.org/drawingml/2006/main">
            <a:off x="5029200" y="3291840"/>
            <a:ext cx="2057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E2925"/>
                </a:solidFill>
                <a:latin typeface="Calibri"/>
                <a:ea typeface="Calibri"/>
                <a:cs typeface="Calibri"/>
              </a:rPr>
              <a:t>4 · Asignación de columnas</a:t>
            </a:r>
            <a:endParaRPr sz="1200"/>
          </a:p>
        </p:txBody>
      </p:sp>
      <p:sp>
        <p:nvSpPr>
          <p:cNvPr id="16" name="Shape 10">
            <a:extLst xmlns:a="http://schemas.openxmlformats.org/drawingml/2006/main">
              <a:ext uri="{FF2B5EF4-FFF2-40B4-BE49-F238E27FC236}">
                <a16:creationId xmlns:a16="http://schemas.microsoft.com/office/drawing/2014/main" id="{56107050-9945-457E-B69B-F6C5C42F6B12}"/>
              </a:ext>
            </a:extLst>
          </p:cNvPr>
          <p:cNvSpPr>
            <a:spLocks xmlns:a="http://schemas.openxmlformats.org/drawingml/2006/main" noGrp="1"/>
          </p:cNvSpPr>
          <p:nvPr/>
        </p:nvSpPr>
        <p:spPr>
          <a:xfrm xmlns:a="http://schemas.openxmlformats.org/drawingml/2006/main">
            <a:off x="7269480" y="1463040"/>
            <a:ext cx="2057400" cy="173736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pic>
        <p:nvPicPr>
          <p:cNvPr id="54" name="Image 3"/>
          <p:cNvPicPr>
            <a:picLocks xmlns:a="http://schemas.openxmlformats.org/drawingml/2006/main" noChangeAspect="1"/>
          </p:cNvPicPr>
          <p:nvPr/>
        </p:nvPicPr>
        <p:blipFill>
          <a:blip xmlns:r="http://schemas.openxmlformats.org/officeDocument/2006/relationships" xmlns:a="http://schemas.openxmlformats.org/drawingml/2006/main" r:embed="R919bc9ff3883435f"/>
          <a:stretch xmlns:a="http://schemas.openxmlformats.org/drawingml/2006/main">
            <a:fillRect l="0" t="0" r="0" b="0"/>
          </a:stretch>
        </p:blipFill>
        <p:spPr>
          <a:xfrm xmlns:a="http://schemas.openxmlformats.org/drawingml/2006/main">
            <a:off x="7342632" y="1536192"/>
            <a:ext cx="1911096" cy="1325880"/>
          </a:xfrm>
          <a:prstGeom xmlns:a="http://schemas.openxmlformats.org/drawingml/2006/main" prst="rect">
            <a:avLst/>
          </a:prstGeom>
        </p:spPr>
      </p:pic>
      <p:sp>
        <p:nvSpPr>
          <p:cNvPr id="18" name="Text 11">
            <a:extLst xmlns:a="http://schemas.openxmlformats.org/drawingml/2006/main">
              <a:ext uri="{FF2B5EF4-FFF2-40B4-BE49-F238E27FC236}">
                <a16:creationId xmlns:a16="http://schemas.microsoft.com/office/drawing/2014/main" id="{F49FEC69-C4A7-4E4C-9E76-1F2A38C6E4FB}"/>
              </a:ext>
            </a:extLst>
          </p:cNvPr>
          <p:cNvSpPr>
            <a:spLocks xmlns:a="http://schemas.openxmlformats.org/drawingml/2006/main" noGrp="1"/>
          </p:cNvSpPr>
          <p:nvPr/>
        </p:nvSpPr>
        <p:spPr>
          <a:xfrm xmlns:a="http://schemas.openxmlformats.org/drawingml/2006/main">
            <a:off x="7269480" y="3291840"/>
            <a:ext cx="2057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E2925"/>
                </a:solidFill>
                <a:latin typeface="Calibri"/>
                <a:ea typeface="Calibri"/>
                <a:cs typeface="Calibri"/>
              </a:rPr>
              <a:t>5 · Confirmación</a:t>
            </a:r>
            <a:endParaRPr sz="1200"/>
          </a:p>
        </p:txBody>
      </p:sp>
      <p:sp>
        <p:nvSpPr>
          <p:cNvPr id="19" name="Shape 12">
            <a:extLst xmlns:a="http://schemas.openxmlformats.org/drawingml/2006/main">
              <a:ext uri="{FF2B5EF4-FFF2-40B4-BE49-F238E27FC236}">
                <a16:creationId xmlns:a16="http://schemas.microsoft.com/office/drawing/2014/main" id="{E5E092AA-EBD6-48E8-B026-4E28A693FD75}"/>
              </a:ext>
            </a:extLst>
          </p:cNvPr>
          <p:cNvSpPr>
            <a:spLocks xmlns:a="http://schemas.openxmlformats.org/drawingml/2006/main" noGrp="1"/>
          </p:cNvSpPr>
          <p:nvPr/>
        </p:nvSpPr>
        <p:spPr>
          <a:xfrm xmlns:a="http://schemas.openxmlformats.org/drawingml/2006/main">
            <a:off x="9509760" y="1463040"/>
            <a:ext cx="2057400" cy="173736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pic>
        <p:nvPicPr>
          <p:cNvPr id="57" name="Image 4"/>
          <p:cNvPicPr>
            <a:picLocks xmlns:a="http://schemas.openxmlformats.org/drawingml/2006/main" noChangeAspect="1"/>
          </p:cNvPicPr>
          <p:nvPr/>
        </p:nvPicPr>
        <p:blipFill>
          <a:blip xmlns:r="http://schemas.openxmlformats.org/officeDocument/2006/relationships" xmlns:a="http://schemas.openxmlformats.org/drawingml/2006/main" r:embed="R92d9b350c3db4676"/>
          <a:stretch xmlns:a="http://schemas.openxmlformats.org/drawingml/2006/main">
            <a:fillRect l="0" t="0" r="0" b="0"/>
          </a:stretch>
        </p:blipFill>
        <p:spPr>
          <a:xfrm xmlns:a="http://schemas.openxmlformats.org/drawingml/2006/main">
            <a:off x="9582912" y="1536192"/>
            <a:ext cx="1911096" cy="1325880"/>
          </a:xfrm>
          <a:prstGeom xmlns:a="http://schemas.openxmlformats.org/drawingml/2006/main" prst="rect">
            <a:avLst/>
          </a:prstGeom>
        </p:spPr>
      </p:pic>
      <p:sp>
        <p:nvSpPr>
          <p:cNvPr id="21" name="Text 13">
            <a:extLst xmlns:a="http://schemas.openxmlformats.org/drawingml/2006/main">
              <a:ext uri="{FF2B5EF4-FFF2-40B4-BE49-F238E27FC236}">
                <a16:creationId xmlns:a16="http://schemas.microsoft.com/office/drawing/2014/main" id="{B16A445F-29AF-4420-8C7D-CB4F70F920E8}"/>
              </a:ext>
            </a:extLst>
          </p:cNvPr>
          <p:cNvSpPr>
            <a:spLocks xmlns:a="http://schemas.openxmlformats.org/drawingml/2006/main" noGrp="1"/>
          </p:cNvSpPr>
          <p:nvPr/>
        </p:nvSpPr>
        <p:spPr>
          <a:xfrm xmlns:a="http://schemas.openxmlformats.org/drawingml/2006/main">
            <a:off x="9509760" y="3291840"/>
            <a:ext cx="2057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E2925"/>
                </a:solidFill>
                <a:latin typeface="Calibri"/>
                <a:ea typeface="Calibri"/>
                <a:cs typeface="Calibri"/>
              </a:rPr>
              <a:t>6 · Progreso</a:t>
            </a:r>
            <a:endParaRPr sz="1200"/>
          </a:p>
        </p:txBody>
      </p:sp>
      <p:sp>
        <p:nvSpPr>
          <p:cNvPr id="22" name="Shape 14">
            <a:extLst xmlns:a="http://schemas.openxmlformats.org/drawingml/2006/main">
              <a:ext uri="{FF2B5EF4-FFF2-40B4-BE49-F238E27FC236}">
                <a16:creationId xmlns:a16="http://schemas.microsoft.com/office/drawing/2014/main" id="{77AD8D8C-6A77-4664-B553-9A4A3BB8F096}"/>
              </a:ext>
            </a:extLst>
          </p:cNvPr>
          <p:cNvSpPr>
            <a:spLocks xmlns:a="http://schemas.openxmlformats.org/drawingml/2006/main" noGrp="1"/>
          </p:cNvSpPr>
          <p:nvPr/>
        </p:nvSpPr>
        <p:spPr>
          <a:xfrm xmlns:a="http://schemas.openxmlformats.org/drawingml/2006/main">
            <a:off x="548640" y="3840480"/>
            <a:ext cx="2651760" cy="1463040"/>
          </a:xfrm>
          <a:prstGeom xmlns:a="http://schemas.openxmlformats.org/drawingml/2006/main" prst="roundRect">
            <a:avLst>
              <a:gd name="adj" fmla="val 5000"/>
            </a:avLst>
          </a:prstGeom>
          <a:solidFill xmlns:a="http://schemas.openxmlformats.org/drawingml/2006/main">
            <a:srgbClr val="E5F2EB"/>
          </a:solidFill>
          <a:ln xmlns:a="http://schemas.openxmlformats.org/drawingml/2006/main" w="9525">
            <a:solidFill>
              <a:srgbClr val="176B4B"/>
            </a:solidFill>
            <a:prstDash val="solid"/>
          </a:ln>
        </p:spPr>
      </p:sp>
      <p:sp>
        <p:nvSpPr>
          <p:cNvPr id="23" name="Text 15">
            <a:extLst xmlns:a="http://schemas.openxmlformats.org/drawingml/2006/main">
              <a:ext uri="{FF2B5EF4-FFF2-40B4-BE49-F238E27FC236}">
                <a16:creationId xmlns:a16="http://schemas.microsoft.com/office/drawing/2014/main" id="{F2E8566F-BB48-43CF-8AF7-A4FBEFE0790C}"/>
              </a:ext>
            </a:extLst>
          </p:cNvPr>
          <p:cNvSpPr>
            <a:spLocks xmlns:a="http://schemas.openxmlformats.org/drawingml/2006/main" noGrp="1"/>
          </p:cNvSpPr>
          <p:nvPr/>
        </p:nvSpPr>
        <p:spPr>
          <a:xfrm xmlns:a="http://schemas.openxmlformats.org/drawingml/2006/main">
            <a:off x="731520" y="3977640"/>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6B4B"/>
                </a:solidFill>
                <a:latin typeface="Cambria"/>
                <a:ea typeface="Cambria"/>
                <a:cs typeface="Cambria"/>
              </a:rPr>
              <a:t>Carga (T1)</a:t>
            </a:r>
            <a:endParaRPr sz="1600"/>
          </a:p>
        </p:txBody>
      </p:sp>
      <p:sp>
        <p:nvSpPr>
          <p:cNvPr id="24" name="Text 16">
            <a:extLst xmlns:a="http://schemas.openxmlformats.org/drawingml/2006/main">
              <a:ext uri="{FF2B5EF4-FFF2-40B4-BE49-F238E27FC236}">
                <a16:creationId xmlns:a16="http://schemas.microsoft.com/office/drawing/2014/main" id="{D1467DAF-6312-4D0B-8992-AB8F1E047B4C}"/>
              </a:ext>
            </a:extLst>
          </p:cNvPr>
          <p:cNvSpPr>
            <a:spLocks xmlns:a="http://schemas.openxmlformats.org/drawingml/2006/main" noGrp="1"/>
          </p:cNvSpPr>
          <p:nvPr/>
        </p:nvSpPr>
        <p:spPr>
          <a:xfrm xmlns:a="http://schemas.openxmlformats.org/drawingml/2006/main">
            <a:off x="731520" y="438912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25"/>
                </a:solidFill>
                <a:latin typeface="Calibri"/>
                <a:ea typeface="Calibri"/>
                <a:cs typeface="Calibri"/>
              </a:rPr>
              <a:t>Pantallas 2 a 5: selección, vista previa, asignación y confirmación</a:t>
            </a:r>
            <a:endParaRPr sz="1300"/>
          </a:p>
        </p:txBody>
      </p:sp>
      <p:sp>
        <p:nvSpPr>
          <p:cNvPr id="25" name="Shape 17">
            <a:extLst xmlns:a="http://schemas.openxmlformats.org/drawingml/2006/main">
              <a:ext uri="{FF2B5EF4-FFF2-40B4-BE49-F238E27FC236}">
                <a16:creationId xmlns:a16="http://schemas.microsoft.com/office/drawing/2014/main" id="{E72A37D3-BC29-4135-B7A5-372380201603}"/>
              </a:ext>
            </a:extLst>
          </p:cNvPr>
          <p:cNvSpPr>
            <a:spLocks xmlns:a="http://schemas.openxmlformats.org/drawingml/2006/main" noGrp="1"/>
          </p:cNvSpPr>
          <p:nvPr/>
        </p:nvSpPr>
        <p:spPr>
          <a:xfrm xmlns:a="http://schemas.openxmlformats.org/drawingml/2006/main">
            <a:off x="3346704" y="3840480"/>
            <a:ext cx="2651760" cy="1463040"/>
          </a:xfrm>
          <a:prstGeom xmlns:a="http://schemas.openxmlformats.org/drawingml/2006/main" prst="roundRect">
            <a:avLst>
              <a:gd name="adj" fmla="val 5000"/>
            </a:avLst>
          </a:prstGeom>
          <a:solidFill xmlns:a="http://schemas.openxmlformats.org/drawingml/2006/main">
            <a:srgbClr val="FFF0E6"/>
          </a:solidFill>
          <a:ln xmlns:a="http://schemas.openxmlformats.org/drawingml/2006/main" w="9525">
            <a:solidFill>
              <a:srgbClr val="A65022"/>
            </a:solidFill>
            <a:prstDash val="solid"/>
          </a:ln>
        </p:spPr>
      </p:sp>
      <p:sp>
        <p:nvSpPr>
          <p:cNvPr id="26" name="Text 18">
            <a:extLst xmlns:a="http://schemas.openxmlformats.org/drawingml/2006/main">
              <a:ext uri="{FF2B5EF4-FFF2-40B4-BE49-F238E27FC236}">
                <a16:creationId xmlns:a16="http://schemas.microsoft.com/office/drawing/2014/main" id="{55EC4EF8-80EA-4F3F-83A7-3B491B15E2F4}"/>
              </a:ext>
            </a:extLst>
          </p:cNvPr>
          <p:cNvSpPr>
            <a:spLocks xmlns:a="http://schemas.openxmlformats.org/drawingml/2006/main" noGrp="1"/>
          </p:cNvSpPr>
          <p:nvPr/>
        </p:nvSpPr>
        <p:spPr>
          <a:xfrm xmlns:a="http://schemas.openxmlformats.org/drawingml/2006/main">
            <a:off x="3529584" y="3977640"/>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A65022"/>
                </a:solidFill>
                <a:latin typeface="Cambria"/>
                <a:ea typeface="Cambria"/>
                <a:cs typeface="Cambria"/>
              </a:rPr>
              <a:t>Progreso y resultados</a:t>
            </a:r>
            <a:endParaRPr sz="1600"/>
          </a:p>
        </p:txBody>
      </p:sp>
      <p:sp>
        <p:nvSpPr>
          <p:cNvPr id="27" name="Text 19">
            <a:extLst xmlns:a="http://schemas.openxmlformats.org/drawingml/2006/main">
              <a:ext uri="{FF2B5EF4-FFF2-40B4-BE49-F238E27FC236}">
                <a16:creationId xmlns:a16="http://schemas.microsoft.com/office/drawing/2014/main" id="{3E8B7E96-B162-4977-A35A-222DA9FD6DB0}"/>
              </a:ext>
            </a:extLst>
          </p:cNvPr>
          <p:cNvSpPr>
            <a:spLocks xmlns:a="http://schemas.openxmlformats.org/drawingml/2006/main" noGrp="1"/>
          </p:cNvSpPr>
          <p:nvPr/>
        </p:nvSpPr>
        <p:spPr>
          <a:xfrm xmlns:a="http://schemas.openxmlformats.org/drawingml/2006/main">
            <a:off x="3529584" y="438912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25"/>
                </a:solidFill>
                <a:latin typeface="Calibri"/>
                <a:ea typeface="Calibri"/>
                <a:cs typeface="Calibri"/>
              </a:rPr>
              <a:t>Pantallas 6 y 7: cuatro etapas simuladas y resumen del lote</a:t>
            </a:r>
            <a:endParaRPr sz="1300"/>
          </a:p>
        </p:txBody>
      </p:sp>
      <p:sp>
        <p:nvSpPr>
          <p:cNvPr id="28" name="Shape 20">
            <a:extLst xmlns:a="http://schemas.openxmlformats.org/drawingml/2006/main">
              <a:ext uri="{FF2B5EF4-FFF2-40B4-BE49-F238E27FC236}">
                <a16:creationId xmlns:a16="http://schemas.microsoft.com/office/drawing/2014/main" id="{FF7FA029-3AB3-41BE-A952-9595B5C7AE9C}"/>
              </a:ext>
            </a:extLst>
          </p:cNvPr>
          <p:cNvSpPr>
            <a:spLocks xmlns:a="http://schemas.openxmlformats.org/drawingml/2006/main" noGrp="1"/>
          </p:cNvSpPr>
          <p:nvPr/>
        </p:nvSpPr>
        <p:spPr>
          <a:xfrm xmlns:a="http://schemas.openxmlformats.org/drawingml/2006/main">
            <a:off x="6144768" y="3840480"/>
            <a:ext cx="2651760" cy="1463040"/>
          </a:xfrm>
          <a:prstGeom xmlns:a="http://schemas.openxmlformats.org/drawingml/2006/main" prst="roundRect">
            <a:avLst>
              <a:gd name="adj" fmla="val 5000"/>
            </a:avLst>
          </a:prstGeom>
          <a:solidFill xmlns:a="http://schemas.openxmlformats.org/drawingml/2006/main">
            <a:srgbClr val="FCEAEA"/>
          </a:solidFill>
          <a:ln xmlns:a="http://schemas.openxmlformats.org/drawingml/2006/main" w="9525">
            <a:solidFill>
              <a:srgbClr val="A53535"/>
            </a:solidFill>
            <a:prstDash val="solid"/>
          </a:ln>
        </p:spPr>
      </p:sp>
      <p:sp>
        <p:nvSpPr>
          <p:cNvPr id="29" name="Text 21">
            <a:extLst xmlns:a="http://schemas.openxmlformats.org/drawingml/2006/main">
              <a:ext uri="{FF2B5EF4-FFF2-40B4-BE49-F238E27FC236}">
                <a16:creationId xmlns:a16="http://schemas.microsoft.com/office/drawing/2014/main" id="{754E7B4E-FA6E-474F-A7AD-4ECBC4680533}"/>
              </a:ext>
            </a:extLst>
          </p:cNvPr>
          <p:cNvSpPr>
            <a:spLocks xmlns:a="http://schemas.openxmlformats.org/drawingml/2006/main" noGrp="1"/>
          </p:cNvSpPr>
          <p:nvPr/>
        </p:nvSpPr>
        <p:spPr>
          <a:xfrm xmlns:a="http://schemas.openxmlformats.org/drawingml/2006/main">
            <a:off x="6327648" y="3977640"/>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A53535"/>
                </a:solidFill>
                <a:latin typeface="Cambria"/>
                <a:ea typeface="Cambria"/>
                <a:cs typeface="Cambria"/>
              </a:rPr>
              <a:t>Auditoría (T2)</a:t>
            </a:r>
            <a:endParaRPr sz="1600"/>
          </a:p>
        </p:txBody>
      </p:sp>
      <p:sp>
        <p:nvSpPr>
          <p:cNvPr id="30" name="Text 22">
            <a:extLst xmlns:a="http://schemas.openxmlformats.org/drawingml/2006/main">
              <a:ext uri="{FF2B5EF4-FFF2-40B4-BE49-F238E27FC236}">
                <a16:creationId xmlns:a16="http://schemas.microsoft.com/office/drawing/2014/main" id="{52C22F19-B0B9-40B5-968E-C8BF2F351832}"/>
              </a:ext>
            </a:extLst>
          </p:cNvPr>
          <p:cNvSpPr>
            <a:spLocks xmlns:a="http://schemas.openxmlformats.org/drawingml/2006/main" noGrp="1"/>
          </p:cNvSpPr>
          <p:nvPr/>
        </p:nvSpPr>
        <p:spPr>
          <a:xfrm xmlns:a="http://schemas.openxmlformats.org/drawingml/2006/main">
            <a:off x="6327648" y="438912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25"/>
                </a:solidFill>
                <a:latin typeface="Calibri"/>
                <a:ea typeface="Calibri"/>
                <a:cs typeface="Calibri"/>
              </a:rPr>
              <a:t>Pantallas 8 y 9: lista filtrable y diagnóstico de un registro</a:t>
            </a:r>
            <a:endParaRPr sz="1300"/>
          </a:p>
        </p:txBody>
      </p:sp>
      <p:sp>
        <p:nvSpPr>
          <p:cNvPr id="31" name="Shape 23">
            <a:extLst xmlns:a="http://schemas.openxmlformats.org/drawingml/2006/main">
              <a:ext uri="{FF2B5EF4-FFF2-40B4-BE49-F238E27FC236}">
                <a16:creationId xmlns:a16="http://schemas.microsoft.com/office/drawing/2014/main" id="{2F3E5631-7F3E-4B81-BDE8-29B6A47B922C}"/>
              </a:ext>
            </a:extLst>
          </p:cNvPr>
          <p:cNvSpPr>
            <a:spLocks xmlns:a="http://schemas.openxmlformats.org/drawingml/2006/main" noGrp="1"/>
          </p:cNvSpPr>
          <p:nvPr/>
        </p:nvSpPr>
        <p:spPr>
          <a:xfrm xmlns:a="http://schemas.openxmlformats.org/drawingml/2006/main">
            <a:off x="8942832" y="3840480"/>
            <a:ext cx="2651760" cy="1463040"/>
          </a:xfrm>
          <a:prstGeom xmlns:a="http://schemas.openxmlformats.org/drawingml/2006/main" prst="roundRect">
            <a:avLst>
              <a:gd name="adj" fmla="val 5000"/>
            </a:avLst>
          </a:prstGeom>
          <a:solidFill xmlns:a="http://schemas.openxmlformats.org/drawingml/2006/main">
            <a:srgbClr val="E9F2F8"/>
          </a:solidFill>
          <a:ln xmlns:a="http://schemas.openxmlformats.org/drawingml/2006/main" w="9525">
            <a:solidFill>
              <a:srgbClr val="285F83"/>
            </a:solidFill>
            <a:prstDash val="solid"/>
          </a:ln>
        </p:spPr>
      </p:sp>
      <p:sp>
        <p:nvSpPr>
          <p:cNvPr id="32" name="Text 24">
            <a:extLst xmlns:a="http://schemas.openxmlformats.org/drawingml/2006/main">
              <a:ext uri="{FF2B5EF4-FFF2-40B4-BE49-F238E27FC236}">
                <a16:creationId xmlns:a16="http://schemas.microsoft.com/office/drawing/2014/main" id="{511A4FD4-7B52-455B-AE2D-D6B8DE0B7EE1}"/>
              </a:ext>
            </a:extLst>
          </p:cNvPr>
          <p:cNvSpPr>
            <a:spLocks xmlns:a="http://schemas.openxmlformats.org/drawingml/2006/main" noGrp="1"/>
          </p:cNvSpPr>
          <p:nvPr/>
        </p:nvSpPr>
        <p:spPr>
          <a:xfrm xmlns:a="http://schemas.openxmlformats.org/drawingml/2006/main">
            <a:off x="9125712" y="3977640"/>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285F83"/>
                </a:solidFill>
                <a:latin typeface="Cambria"/>
                <a:ea typeface="Cambria"/>
                <a:cs typeface="Cambria"/>
              </a:rPr>
              <a:t>Consulta</a:t>
            </a:r>
            <a:endParaRPr sz="1600"/>
          </a:p>
        </p:txBody>
      </p:sp>
      <p:sp>
        <p:nvSpPr>
          <p:cNvPr id="33" name="Text 25">
            <a:extLst xmlns:a="http://schemas.openxmlformats.org/drawingml/2006/main">
              <a:ext uri="{FF2B5EF4-FFF2-40B4-BE49-F238E27FC236}">
                <a16:creationId xmlns:a16="http://schemas.microsoft.com/office/drawing/2014/main" id="{87FF9EF8-3E74-4623-988B-0B2103CF6679}"/>
              </a:ext>
            </a:extLst>
          </p:cNvPr>
          <p:cNvSpPr>
            <a:spLocks xmlns:a="http://schemas.openxmlformats.org/drawingml/2006/main" noGrp="1"/>
          </p:cNvSpPr>
          <p:nvPr/>
        </p:nvSpPr>
        <p:spPr>
          <a:xfrm xmlns:a="http://schemas.openxmlformats.org/drawingml/2006/main">
            <a:off x="9125712" y="438912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25"/>
                </a:solidFill>
                <a:latin typeface="Calibri"/>
                <a:ea typeface="Calibri"/>
                <a:cs typeface="Calibri"/>
              </a:rPr>
              <a:t>Pantallas 1 y 10: resumen e inventario con exportación de muestra</a:t>
            </a:r>
            <a:endParaRPr sz="1300"/>
          </a:p>
        </p:txBody>
      </p:sp>
      <p:sp>
        <p:nvSpPr>
          <p:cNvPr id="34" name="Text 26">
            <a:extLst xmlns:a="http://schemas.openxmlformats.org/drawingml/2006/main">
              <a:ext uri="{FF2B5EF4-FFF2-40B4-BE49-F238E27FC236}">
                <a16:creationId xmlns:a16="http://schemas.microsoft.com/office/drawing/2014/main" id="{47D1BD58-0318-43C7-86B9-46B43CD18788}"/>
              </a:ext>
            </a:extLst>
          </p:cNvPr>
          <p:cNvSpPr>
            <a:spLocks xmlns:a="http://schemas.openxmlformats.org/drawingml/2006/main" noGrp="1"/>
          </p:cNvSpPr>
          <p:nvPr/>
        </p:nvSpPr>
        <p:spPr>
          <a:xfrm xmlns:a="http://schemas.openxmlformats.org/drawingml/2006/main">
            <a:off x="548640" y="5669280"/>
            <a:ext cx="10972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65736D"/>
                </a:solidFill>
                <a:latin typeface="Calibri"/>
                <a:ea typeface="Calibri"/>
                <a:cs typeface="Calibri"/>
              </a:rPr>
              <a:t>Archivo: prototipo/index.html · Accesibilidad básica aplicada (idioma es, foco visible, estados con texto), sin auditoría WCAG.</a:t>
            </a:r>
            <a:endParaRPr sz="1200"/>
          </a:p>
        </p:txBody>
      </p:sp>
    </p:spTree>
    <p:extLst>
      <p:ext uri="{BB962C8B-B14F-4D97-AF65-F5344CB8AC3E}">
        <p14:creationId xmlns:p14="http://schemas.microsoft.com/office/powerpoint/2010/main" val="139530493"/>
      </p:ext>
    </p:extLst>
  </p:cSld>
</p:sld>
</file>

<file path=ppt/slides/slide9.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3C2BBC-53DF-424E-A035-AE1D49081173}"/>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INSPECCIÓN DE ESCRITORIO DEL EQUIPO · 29-09-2026</a:t>
            </a:r>
            <a:endParaRPr sz="1200"/>
          </a:p>
        </p:txBody>
      </p:sp>
      <p:sp>
        <p:nvSpPr>
          <p:cNvPr id="3" name="Text 1">
            <a:extLst xmlns:a="http://schemas.openxmlformats.org/drawingml/2006/main">
              <a:ext uri="{FF2B5EF4-FFF2-40B4-BE49-F238E27FC236}">
                <a16:creationId xmlns:a16="http://schemas.microsoft.com/office/drawing/2014/main" id="{3181FDFA-5F95-48EA-A12E-D7B8D15A9EE6}"/>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Evaluación heurística: 10 hallazgos, ninguno catastrófico</a:t>
            </a:r>
            <a:endParaRPr sz="3000"/>
          </a:p>
        </p:txBody>
      </p:sp>
      <p:sp>
        <p:nvSpPr>
          <p:cNvPr id="4" name="Text 2">
            <a:extLst xmlns:a="http://schemas.openxmlformats.org/drawingml/2006/main">
              <a:ext uri="{FF2B5EF4-FFF2-40B4-BE49-F238E27FC236}">
                <a16:creationId xmlns:a16="http://schemas.microsoft.com/office/drawing/2014/main" id="{314800F0-3918-43A3-9ABA-069C1643F162}"/>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9 / 13</a:t>
            </a:r>
            <a:endParaRPr sz="1000"/>
          </a:p>
        </p:txBody>
      </p:sp>
      <p:sp>
        <p:nvSpPr>
          <p:cNvPr id="5" name="Text 3">
            <a:extLst xmlns:a="http://schemas.openxmlformats.org/drawingml/2006/main">
              <a:ext uri="{FF2B5EF4-FFF2-40B4-BE49-F238E27FC236}">
                <a16:creationId xmlns:a16="http://schemas.microsoft.com/office/drawing/2014/main" id="{48348AC3-55DD-45BE-9FD6-4FD4E1979436}"/>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graphicFrame>
        <p:nvGraphicFramePr>
          <p:cNvPr id="30" name="Chart 0"/>
          <p:cNvGraphicFramePr/>
          <p:nvPr/>
        </p:nvGraphicFramePr>
        <p:xfrm>
          <a:off xmlns:a="http://schemas.openxmlformats.org/drawingml/2006/main" x="548640" y="1463040"/>
          <a:ext xmlns:a="http://schemas.openxmlformats.org/drawingml/2006/main" cx="4846320" cy="4206240"/>
        </p:xfrm>
        <a:graphic xmlns:a="http://schemas.openxmlformats.org/drawingml/2006/main">
          <a:graphicData uri="http://schemas.openxmlformats.org/drawingml/2006/chart">
            <c:chart xmlns:r="http://schemas.openxmlformats.org/officeDocument/2006/relationships" xmlns:c="http://schemas.openxmlformats.org/drawingml/2006/chart" r:id="Rdd8273d42ab444e2"/>
          </a:graphicData>
        </a:graphic>
      </p:graphicFrame>
      <p:sp>
        <p:nvSpPr>
          <p:cNvPr id="8" name="Shape 4">
            <a:extLst xmlns:a="http://schemas.openxmlformats.org/drawingml/2006/main">
              <a:ext uri="{FF2B5EF4-FFF2-40B4-BE49-F238E27FC236}">
                <a16:creationId xmlns:a16="http://schemas.microsoft.com/office/drawing/2014/main" id="{522D3920-243B-4235-A68A-66A634B4B556}"/>
              </a:ext>
            </a:extLst>
          </p:cNvPr>
          <p:cNvSpPr>
            <a:spLocks xmlns:a="http://schemas.openxmlformats.org/drawingml/2006/main" noGrp="1"/>
          </p:cNvSpPr>
          <p:nvPr/>
        </p:nvSpPr>
        <p:spPr>
          <a:xfrm xmlns:a="http://schemas.openxmlformats.org/drawingml/2006/main">
            <a:off x="5669280" y="1463040"/>
            <a:ext cx="594360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9" name="Text 5">
            <a:extLst xmlns:a="http://schemas.openxmlformats.org/drawingml/2006/main">
              <a:ext uri="{FF2B5EF4-FFF2-40B4-BE49-F238E27FC236}">
                <a16:creationId xmlns:a16="http://schemas.microsoft.com/office/drawing/2014/main" id="{2334E5A9-FEAC-44AB-BB0F-E0E6DF7446F4}"/>
              </a:ext>
            </a:extLst>
          </p:cNvPr>
          <p:cNvSpPr>
            <a:spLocks xmlns:a="http://schemas.openxmlformats.org/drawingml/2006/main" noGrp="1"/>
          </p:cNvSpPr>
          <p:nvPr/>
        </p:nvSpPr>
        <p:spPr>
          <a:xfrm xmlns:a="http://schemas.openxmlformats.org/drawingml/2006/main">
            <a:off x="5852160" y="1600200"/>
            <a:ext cx="1188720" cy="274320"/>
          </a:xfrm>
          <a:prstGeom xmlns:a="http://schemas.openxmlformats.org/drawingml/2006/main" prst="roundRect">
            <a:avLst>
              <a:gd name="adj" fmla="val 50000"/>
            </a:avLst>
          </a:prstGeom>
          <a:solidFill xmlns:a="http://schemas.openxmlformats.org/drawingml/2006/main">
            <a:srgbClr val="FCEAEA"/>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53535"/>
                </a:solidFill>
                <a:latin typeface="Calibri"/>
                <a:ea typeface="Calibri"/>
                <a:cs typeface="Calibri"/>
              </a:rPr>
              <a:t>Gravedad 3</a:t>
            </a:r>
            <a:endParaRPr sz="1100"/>
          </a:p>
        </p:txBody>
      </p:sp>
      <p:sp>
        <p:nvSpPr>
          <p:cNvPr id="10" name="Text 6">
            <a:extLst xmlns:a="http://schemas.openxmlformats.org/drawingml/2006/main">
              <a:ext uri="{FF2B5EF4-FFF2-40B4-BE49-F238E27FC236}">
                <a16:creationId xmlns:a16="http://schemas.microsoft.com/office/drawing/2014/main" id="{AA7AE77E-3833-414C-A125-FA653A25F315}"/>
              </a:ext>
            </a:extLst>
          </p:cNvPr>
          <p:cNvSpPr>
            <a:spLocks xmlns:a="http://schemas.openxmlformats.org/drawingml/2006/main" noGrp="1"/>
          </p:cNvSpPr>
          <p:nvPr/>
        </p:nvSpPr>
        <p:spPr>
          <a:xfrm xmlns:a="http://schemas.openxmlformats.org/drawingml/2006/main">
            <a:off x="7178040" y="1572768"/>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2925"/>
                </a:solidFill>
                <a:latin typeface="Cambria"/>
                <a:ea typeface="Cambria"/>
                <a:cs typeface="Cambria"/>
              </a:rPr>
              <a:t>H5 · Prevención de errores</a:t>
            </a:r>
            <a:endParaRPr sz="1500"/>
          </a:p>
        </p:txBody>
      </p:sp>
      <p:sp>
        <p:nvSpPr>
          <p:cNvPr id="11" name="Text 7">
            <a:extLst xmlns:a="http://schemas.openxmlformats.org/drawingml/2006/main">
              <a:ext uri="{FF2B5EF4-FFF2-40B4-BE49-F238E27FC236}">
                <a16:creationId xmlns:a16="http://schemas.microsoft.com/office/drawing/2014/main" id="{7D438DBE-5517-4656-B1F1-A197243428FA}"/>
              </a:ext>
            </a:extLst>
          </p:cNvPr>
          <p:cNvSpPr>
            <a:spLocks xmlns:a="http://schemas.openxmlformats.org/drawingml/2006/main" noGrp="1"/>
          </p:cNvSpPr>
          <p:nvPr/>
        </p:nvSpPr>
        <p:spPr>
          <a:xfrm xmlns:a="http://schemas.openxmlformats.org/drawingml/2006/main">
            <a:off x="7178040" y="189280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65736D"/>
                </a:solidFill>
                <a:latin typeface="Calibri"/>
                <a:ea typeface="Calibri"/>
                <a:cs typeface="Calibri"/>
              </a:rPr>
              <a:t>Verifica extensión y tamaño, no contenido; la casilla de mapeo no valida.</a:t>
            </a:r>
            <a:endParaRPr sz="1200"/>
          </a:p>
        </p:txBody>
      </p:sp>
      <p:sp>
        <p:nvSpPr>
          <p:cNvPr id="12" name="Shape 8">
            <a:extLst xmlns:a="http://schemas.openxmlformats.org/drawingml/2006/main">
              <a:ext uri="{FF2B5EF4-FFF2-40B4-BE49-F238E27FC236}">
                <a16:creationId xmlns:a16="http://schemas.microsoft.com/office/drawing/2014/main" id="{2385B7EF-F184-4838-803B-B40B92BF2D9F}"/>
              </a:ext>
            </a:extLst>
          </p:cNvPr>
          <p:cNvSpPr>
            <a:spLocks xmlns:a="http://schemas.openxmlformats.org/drawingml/2006/main" noGrp="1"/>
          </p:cNvSpPr>
          <p:nvPr/>
        </p:nvSpPr>
        <p:spPr>
          <a:xfrm xmlns:a="http://schemas.openxmlformats.org/drawingml/2006/main">
            <a:off x="5669280" y="2542032"/>
            <a:ext cx="594360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3" name="Text 9">
            <a:extLst xmlns:a="http://schemas.openxmlformats.org/drawingml/2006/main">
              <a:ext uri="{FF2B5EF4-FFF2-40B4-BE49-F238E27FC236}">
                <a16:creationId xmlns:a16="http://schemas.microsoft.com/office/drawing/2014/main" id="{7206ACB6-6C02-425E-A08B-31E0A8666027}"/>
              </a:ext>
            </a:extLst>
          </p:cNvPr>
          <p:cNvSpPr>
            <a:spLocks xmlns:a="http://schemas.openxmlformats.org/drawingml/2006/main" noGrp="1"/>
          </p:cNvSpPr>
          <p:nvPr/>
        </p:nvSpPr>
        <p:spPr>
          <a:xfrm xmlns:a="http://schemas.openxmlformats.org/drawingml/2006/main">
            <a:off x="5852160" y="2679192"/>
            <a:ext cx="1188720" cy="274320"/>
          </a:xfrm>
          <a:prstGeom xmlns:a="http://schemas.openxmlformats.org/drawingml/2006/main" prst="roundRect">
            <a:avLst>
              <a:gd name="adj" fmla="val 50000"/>
            </a:avLst>
          </a:prstGeom>
          <a:solidFill xmlns:a="http://schemas.openxmlformats.org/drawingml/2006/main">
            <a:srgbClr val="FCEAEA"/>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53535"/>
                </a:solidFill>
                <a:latin typeface="Calibri"/>
                <a:ea typeface="Calibri"/>
                <a:cs typeface="Calibri"/>
              </a:rPr>
              <a:t>Gravedad 3</a:t>
            </a:r>
            <a:endParaRPr sz="1100"/>
          </a:p>
        </p:txBody>
      </p:sp>
      <p:sp>
        <p:nvSpPr>
          <p:cNvPr id="14" name="Text 10">
            <a:extLst xmlns:a="http://schemas.openxmlformats.org/drawingml/2006/main">
              <a:ext uri="{FF2B5EF4-FFF2-40B4-BE49-F238E27FC236}">
                <a16:creationId xmlns:a16="http://schemas.microsoft.com/office/drawing/2014/main" id="{084F3E91-40B0-4362-BEA3-ED328B3F1CB9}"/>
              </a:ext>
            </a:extLst>
          </p:cNvPr>
          <p:cNvSpPr>
            <a:spLocks xmlns:a="http://schemas.openxmlformats.org/drawingml/2006/main" noGrp="1"/>
          </p:cNvSpPr>
          <p:nvPr/>
        </p:nvSpPr>
        <p:spPr>
          <a:xfrm xmlns:a="http://schemas.openxmlformats.org/drawingml/2006/main">
            <a:off x="7178040" y="2651760"/>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2925"/>
                </a:solidFill>
                <a:latin typeface="Cambria"/>
                <a:ea typeface="Cambria"/>
                <a:cs typeface="Cambria"/>
              </a:rPr>
              <a:t>H8 · Diseño minimalista</a:t>
            </a:r>
            <a:endParaRPr sz="1500"/>
          </a:p>
        </p:txBody>
      </p:sp>
      <p:sp>
        <p:nvSpPr>
          <p:cNvPr id="15" name="Text 11">
            <a:extLst xmlns:a="http://schemas.openxmlformats.org/drawingml/2006/main">
              <a:ext uri="{FF2B5EF4-FFF2-40B4-BE49-F238E27FC236}">
                <a16:creationId xmlns:a16="http://schemas.microsoft.com/office/drawing/2014/main" id="{60CFCE3D-3D84-4BAF-B89D-8EC4DCA8F46D}"/>
              </a:ext>
            </a:extLst>
          </p:cNvPr>
          <p:cNvSpPr>
            <a:spLocks xmlns:a="http://schemas.openxmlformats.org/drawingml/2006/main" noGrp="1"/>
          </p:cNvSpPr>
          <p:nvPr/>
        </p:nvSpPr>
        <p:spPr>
          <a:xfrm xmlns:a="http://schemas.openxmlformats.org/drawingml/2006/main">
            <a:off x="7178040" y="2971800"/>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65736D"/>
                </a:solidFill>
                <a:latin typeface="Calibri"/>
                <a:ea typeface="Calibri"/>
                <a:cs typeface="Calibri"/>
              </a:rPr>
              <a:t>Cifras ficticias podrían tomarse por métricas reales.</a:t>
            </a:r>
            <a:endParaRPr sz="1200"/>
          </a:p>
        </p:txBody>
      </p:sp>
      <p:sp>
        <p:nvSpPr>
          <p:cNvPr id="16" name="Shape 12">
            <a:extLst xmlns:a="http://schemas.openxmlformats.org/drawingml/2006/main">
              <a:ext uri="{FF2B5EF4-FFF2-40B4-BE49-F238E27FC236}">
                <a16:creationId xmlns:a16="http://schemas.microsoft.com/office/drawing/2014/main" id="{D30FDE1B-638B-413B-8FAE-B3BB34DFC72F}"/>
              </a:ext>
            </a:extLst>
          </p:cNvPr>
          <p:cNvSpPr>
            <a:spLocks xmlns:a="http://schemas.openxmlformats.org/drawingml/2006/main" noGrp="1"/>
          </p:cNvSpPr>
          <p:nvPr/>
        </p:nvSpPr>
        <p:spPr>
          <a:xfrm xmlns:a="http://schemas.openxmlformats.org/drawingml/2006/main">
            <a:off x="5669280" y="3621024"/>
            <a:ext cx="594360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7" name="Text 13">
            <a:extLst xmlns:a="http://schemas.openxmlformats.org/drawingml/2006/main">
              <a:ext uri="{FF2B5EF4-FFF2-40B4-BE49-F238E27FC236}">
                <a16:creationId xmlns:a16="http://schemas.microsoft.com/office/drawing/2014/main" id="{E2BEDBEC-F239-4439-8EA5-19EC66C662AE}"/>
              </a:ext>
            </a:extLst>
          </p:cNvPr>
          <p:cNvSpPr>
            <a:spLocks xmlns:a="http://schemas.openxmlformats.org/drawingml/2006/main" noGrp="1"/>
          </p:cNvSpPr>
          <p:nvPr/>
        </p:nvSpPr>
        <p:spPr>
          <a:xfrm xmlns:a="http://schemas.openxmlformats.org/drawingml/2006/main">
            <a:off x="5852160" y="3758184"/>
            <a:ext cx="118872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Gravedad 2</a:t>
            </a:r>
            <a:endParaRPr sz="1100"/>
          </a:p>
        </p:txBody>
      </p:sp>
      <p:sp>
        <p:nvSpPr>
          <p:cNvPr id="18" name="Text 14">
            <a:extLst xmlns:a="http://schemas.openxmlformats.org/drawingml/2006/main">
              <a:ext uri="{FF2B5EF4-FFF2-40B4-BE49-F238E27FC236}">
                <a16:creationId xmlns:a16="http://schemas.microsoft.com/office/drawing/2014/main" id="{511796AE-D631-47D8-B826-9BB61D874B21}"/>
              </a:ext>
            </a:extLst>
          </p:cNvPr>
          <p:cNvSpPr>
            <a:spLocks xmlns:a="http://schemas.openxmlformats.org/drawingml/2006/main" noGrp="1"/>
          </p:cNvSpPr>
          <p:nvPr/>
        </p:nvSpPr>
        <p:spPr>
          <a:xfrm xmlns:a="http://schemas.openxmlformats.org/drawingml/2006/main">
            <a:off x="7178040" y="3730752"/>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2925"/>
                </a:solidFill>
                <a:latin typeface="Cambria"/>
                <a:ea typeface="Cambria"/>
                <a:cs typeface="Cambria"/>
              </a:rPr>
              <a:t>H6 · Reconocimiento</a:t>
            </a:r>
            <a:endParaRPr sz="1500"/>
          </a:p>
        </p:txBody>
      </p:sp>
      <p:sp>
        <p:nvSpPr>
          <p:cNvPr id="19" name="Text 15">
            <a:extLst xmlns:a="http://schemas.openxmlformats.org/drawingml/2006/main">
              <a:ext uri="{FF2B5EF4-FFF2-40B4-BE49-F238E27FC236}">
                <a16:creationId xmlns:a16="http://schemas.microsoft.com/office/drawing/2014/main" id="{65EF30DB-0915-4278-A3FC-C68FA62565E2}"/>
              </a:ext>
            </a:extLst>
          </p:cNvPr>
          <p:cNvSpPr>
            <a:spLocks xmlns:a="http://schemas.openxmlformats.org/drawingml/2006/main" noGrp="1"/>
          </p:cNvSpPr>
          <p:nvPr/>
        </p:nvSpPr>
        <p:spPr>
          <a:xfrm xmlns:a="http://schemas.openxmlformats.org/drawingml/2006/main">
            <a:off x="7178040" y="4050792"/>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65736D"/>
                </a:solidFill>
                <a:latin typeface="Calibri"/>
                <a:ea typeface="Calibri"/>
                <a:cs typeface="Calibri"/>
              </a:rPr>
              <a:t>Los selectores no muestran la correspondencia de cada alias.</a:t>
            </a:r>
            <a:endParaRPr sz="1200"/>
          </a:p>
        </p:txBody>
      </p:sp>
      <p:sp>
        <p:nvSpPr>
          <p:cNvPr id="20" name="Shape 16">
            <a:extLst xmlns:a="http://schemas.openxmlformats.org/drawingml/2006/main">
              <a:ext uri="{FF2B5EF4-FFF2-40B4-BE49-F238E27FC236}">
                <a16:creationId xmlns:a16="http://schemas.microsoft.com/office/drawing/2014/main" id="{FA07BB70-8C78-48AD-9E80-5A2F8F605448}"/>
              </a:ext>
            </a:extLst>
          </p:cNvPr>
          <p:cNvSpPr>
            <a:spLocks xmlns:a="http://schemas.openxmlformats.org/drawingml/2006/main" noGrp="1"/>
          </p:cNvSpPr>
          <p:nvPr/>
        </p:nvSpPr>
        <p:spPr>
          <a:xfrm xmlns:a="http://schemas.openxmlformats.org/drawingml/2006/main">
            <a:off x="5669280" y="4700016"/>
            <a:ext cx="594360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1" name="Text 17">
            <a:extLst xmlns:a="http://schemas.openxmlformats.org/drawingml/2006/main">
              <a:ext uri="{FF2B5EF4-FFF2-40B4-BE49-F238E27FC236}">
                <a16:creationId xmlns:a16="http://schemas.microsoft.com/office/drawing/2014/main" id="{83AED5A6-3CFE-446E-A230-1E5BAE5D645A}"/>
              </a:ext>
            </a:extLst>
          </p:cNvPr>
          <p:cNvSpPr>
            <a:spLocks xmlns:a="http://schemas.openxmlformats.org/drawingml/2006/main" noGrp="1"/>
          </p:cNvSpPr>
          <p:nvPr/>
        </p:nvSpPr>
        <p:spPr>
          <a:xfrm xmlns:a="http://schemas.openxmlformats.org/drawingml/2006/main">
            <a:off x="5852160" y="4837176"/>
            <a:ext cx="118872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Gravedad 2</a:t>
            </a:r>
            <a:endParaRPr sz="1100"/>
          </a:p>
        </p:txBody>
      </p:sp>
      <p:sp>
        <p:nvSpPr>
          <p:cNvPr id="22" name="Text 18">
            <a:extLst xmlns:a="http://schemas.openxmlformats.org/drawingml/2006/main">
              <a:ext uri="{FF2B5EF4-FFF2-40B4-BE49-F238E27FC236}">
                <a16:creationId xmlns:a16="http://schemas.microsoft.com/office/drawing/2014/main" id="{CD5D56C4-29B5-40F6-A6E1-92877C75A0F4}"/>
              </a:ext>
            </a:extLst>
          </p:cNvPr>
          <p:cNvSpPr>
            <a:spLocks xmlns:a="http://schemas.openxmlformats.org/drawingml/2006/main" noGrp="1"/>
          </p:cNvSpPr>
          <p:nvPr/>
        </p:nvSpPr>
        <p:spPr>
          <a:xfrm xmlns:a="http://schemas.openxmlformats.org/drawingml/2006/main">
            <a:off x="7178040" y="4809744"/>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2925"/>
                </a:solidFill>
                <a:latin typeface="Cambria"/>
                <a:ea typeface="Cambria"/>
                <a:cs typeface="Cambria"/>
              </a:rPr>
              <a:t>H10 · Ayuda</a:t>
            </a:r>
            <a:endParaRPr sz="1500"/>
          </a:p>
        </p:txBody>
      </p:sp>
      <p:sp>
        <p:nvSpPr>
          <p:cNvPr id="23" name="Text 19">
            <a:extLst xmlns:a="http://schemas.openxmlformats.org/drawingml/2006/main">
              <a:ext uri="{FF2B5EF4-FFF2-40B4-BE49-F238E27FC236}">
                <a16:creationId xmlns:a16="http://schemas.microsoft.com/office/drawing/2014/main" id="{568D9BEC-0AFE-40A6-8750-BEC816828CBD}"/>
              </a:ext>
            </a:extLst>
          </p:cNvPr>
          <p:cNvSpPr>
            <a:spLocks xmlns:a="http://schemas.openxmlformats.org/drawingml/2006/main" noGrp="1"/>
          </p:cNvSpPr>
          <p:nvPr/>
        </p:nvSpPr>
        <p:spPr>
          <a:xfrm xmlns:a="http://schemas.openxmlformats.org/drawingml/2006/main">
            <a:off x="7178040" y="5129784"/>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65736D"/>
                </a:solidFill>
                <a:latin typeface="Calibri"/>
                <a:ea typeface="Calibri"/>
                <a:cs typeface="Calibri"/>
              </a:rPr>
              <a:t>Falta ayuda contextual y glosario de etapas.</a:t>
            </a:r>
            <a:endParaRPr sz="1200"/>
          </a:p>
        </p:txBody>
      </p:sp>
      <p:sp>
        <p:nvSpPr>
          <p:cNvPr id="24" name="Text 20">
            <a:extLst xmlns:a="http://schemas.openxmlformats.org/drawingml/2006/main">
              <a:ext uri="{FF2B5EF4-FFF2-40B4-BE49-F238E27FC236}">
                <a16:creationId xmlns:a16="http://schemas.microsoft.com/office/drawing/2014/main" id="{2EDDABE4-8261-4497-8910-A98FA5CFAA5D}"/>
              </a:ext>
            </a:extLst>
          </p:cNvPr>
          <p:cNvSpPr>
            <a:spLocks xmlns:a="http://schemas.openxmlformats.org/drawingml/2006/main" noGrp="1"/>
          </p:cNvSpPr>
          <p:nvPr/>
        </p:nvSpPr>
        <p:spPr>
          <a:xfrm xmlns:a="http://schemas.openxmlformats.org/drawingml/2006/main">
            <a:off x="5669280" y="5852160"/>
            <a:ext cx="594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176B4B"/>
                </a:solidFill>
                <a:latin typeface="Calibri"/>
                <a:ea typeface="Calibri"/>
                <a:cs typeface="Calibri"/>
              </a:rPr>
              <a:t>Prioridad propuesta: H5, luego H8 y H6.</a:t>
            </a:r>
            <a:endParaRPr sz="1400"/>
          </a:p>
        </p:txBody>
      </p:sp>
    </p:spTree>
    <p:extLst>
      <p:ext uri="{BB962C8B-B14F-4D97-AF65-F5344CB8AC3E}">
        <p14:creationId xmlns:p14="http://schemas.microsoft.com/office/powerpoint/2010/main" val="40901126"/>
      </p:ext>
    </p:extLst>
  </p:cSld>
</p:sld>
</file>

<file path=ppt/slides/slide10.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729D9C-9B12-4FC7-9E35-B86C4A9C9D7B}"/>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PLAN DE EVALUACIÓN CON TRES PERSONAS</a:t>
            </a:r>
            <a:endParaRPr sz="1200"/>
          </a:p>
        </p:txBody>
      </p:sp>
      <p:sp>
        <p:nvSpPr>
          <p:cNvPr id="3" name="Text 1">
            <a:extLst xmlns:a="http://schemas.openxmlformats.org/drawingml/2006/main">
              <a:ext uri="{FF2B5EF4-FFF2-40B4-BE49-F238E27FC236}">
                <a16:creationId xmlns:a16="http://schemas.microsoft.com/office/drawing/2014/main" id="{7BE87C12-1A20-4198-BBFC-EA347F8F4B32}"/>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Prueba de usabilidad: diseñada, aún no ejecutada</a:t>
            </a:r>
            <a:endParaRPr sz="3000"/>
          </a:p>
        </p:txBody>
      </p:sp>
      <p:sp>
        <p:nvSpPr>
          <p:cNvPr id="4" name="Text 2">
            <a:extLst xmlns:a="http://schemas.openxmlformats.org/drawingml/2006/main">
              <a:ext uri="{FF2B5EF4-FFF2-40B4-BE49-F238E27FC236}">
                <a16:creationId xmlns:a16="http://schemas.microsoft.com/office/drawing/2014/main" id="{1E16FA5F-1E2E-4A88-8EFE-DFE903CBB54F}"/>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10 / 13</a:t>
            </a:r>
            <a:endParaRPr sz="1000"/>
          </a:p>
        </p:txBody>
      </p:sp>
      <p:sp>
        <p:nvSpPr>
          <p:cNvPr id="5" name="Text 3">
            <a:extLst xmlns:a="http://schemas.openxmlformats.org/drawingml/2006/main">
              <a:ext uri="{FF2B5EF4-FFF2-40B4-BE49-F238E27FC236}">
                <a16:creationId xmlns:a16="http://schemas.microsoft.com/office/drawing/2014/main" id="{1591DE0D-12F8-4EE2-9921-241AF969903D}"/>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Shape 4">
            <a:extLst xmlns:a="http://schemas.openxmlformats.org/drawingml/2006/main">
              <a:ext uri="{FF2B5EF4-FFF2-40B4-BE49-F238E27FC236}">
                <a16:creationId xmlns:a16="http://schemas.microsoft.com/office/drawing/2014/main" id="{78666850-DBCF-4255-808C-6D366DCB0623}"/>
              </a:ext>
            </a:extLst>
          </p:cNvPr>
          <p:cNvSpPr>
            <a:spLocks xmlns:a="http://schemas.openxmlformats.org/drawingml/2006/main" noGrp="1"/>
          </p:cNvSpPr>
          <p:nvPr/>
        </p:nvSpPr>
        <p:spPr>
          <a:xfrm xmlns:a="http://schemas.openxmlformats.org/drawingml/2006/main">
            <a:off x="548640" y="1508760"/>
            <a:ext cx="3566160" cy="1325880"/>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8" name="Text 5">
            <a:extLst xmlns:a="http://schemas.openxmlformats.org/drawingml/2006/main">
              <a:ext uri="{FF2B5EF4-FFF2-40B4-BE49-F238E27FC236}">
                <a16:creationId xmlns:a16="http://schemas.microsoft.com/office/drawing/2014/main" id="{99202D67-6795-411F-9C8B-E89E4984D158}"/>
              </a:ext>
            </a:extLst>
          </p:cNvPr>
          <p:cNvSpPr>
            <a:spLocks xmlns:a="http://schemas.openxmlformats.org/drawingml/2006/main" noGrp="1"/>
          </p:cNvSpPr>
          <p:nvPr/>
        </p:nvSpPr>
        <p:spPr>
          <a:xfrm xmlns:a="http://schemas.openxmlformats.org/drawingml/2006/main">
            <a:off x="777240" y="164592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76B4B"/>
                </a:solidFill>
                <a:latin typeface="Cambria"/>
                <a:ea typeface="Cambria"/>
                <a:cs typeface="Cambria"/>
              </a:rPr>
              <a:t>T1</a:t>
            </a:r>
            <a:endParaRPr sz="2400"/>
          </a:p>
        </p:txBody>
      </p:sp>
      <p:sp>
        <p:nvSpPr>
          <p:cNvPr id="9" name="Text 6">
            <a:extLst xmlns:a="http://schemas.openxmlformats.org/drawingml/2006/main">
              <a:ext uri="{FF2B5EF4-FFF2-40B4-BE49-F238E27FC236}">
                <a16:creationId xmlns:a16="http://schemas.microsoft.com/office/drawing/2014/main" id="{D5E8196C-33B1-44E5-A2CD-9F22CAB40F49}"/>
              </a:ext>
            </a:extLst>
          </p:cNvPr>
          <p:cNvSpPr>
            <a:spLocks xmlns:a="http://schemas.openxmlformats.org/drawingml/2006/main" noGrp="1"/>
          </p:cNvSpPr>
          <p:nvPr/>
        </p:nvSpPr>
        <p:spPr>
          <a:xfrm xmlns:a="http://schemas.openxmlformats.org/drawingml/2006/main">
            <a:off x="777240" y="2194560"/>
            <a:ext cx="31089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E2925"/>
                </a:solidFill>
                <a:latin typeface="Calibri"/>
                <a:ea typeface="Calibri"/>
                <a:cs typeface="Calibri"/>
              </a:rPr>
              <a:t>Cargar un archivo y saber si puede continuar</a:t>
            </a:r>
            <a:endParaRPr sz="1400"/>
          </a:p>
        </p:txBody>
      </p:sp>
      <p:sp>
        <p:nvSpPr>
          <p:cNvPr id="10" name="Shape 7">
            <a:extLst xmlns:a="http://schemas.openxmlformats.org/drawingml/2006/main">
              <a:ext uri="{FF2B5EF4-FFF2-40B4-BE49-F238E27FC236}">
                <a16:creationId xmlns:a16="http://schemas.microsoft.com/office/drawing/2014/main" id="{1204977F-5168-473D-B9D4-8C7B9C2DFEE9}"/>
              </a:ext>
            </a:extLst>
          </p:cNvPr>
          <p:cNvSpPr>
            <a:spLocks xmlns:a="http://schemas.openxmlformats.org/drawingml/2006/main" noGrp="1"/>
          </p:cNvSpPr>
          <p:nvPr/>
        </p:nvSpPr>
        <p:spPr>
          <a:xfrm xmlns:a="http://schemas.openxmlformats.org/drawingml/2006/main">
            <a:off x="4297680" y="1508760"/>
            <a:ext cx="3566160" cy="1325880"/>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1" name="Text 8">
            <a:extLst xmlns:a="http://schemas.openxmlformats.org/drawingml/2006/main">
              <a:ext uri="{FF2B5EF4-FFF2-40B4-BE49-F238E27FC236}">
                <a16:creationId xmlns:a16="http://schemas.microsoft.com/office/drawing/2014/main" id="{900F4D78-9FE6-4614-9333-7AC7E2AFBDF4}"/>
              </a:ext>
            </a:extLst>
          </p:cNvPr>
          <p:cNvSpPr>
            <a:spLocks xmlns:a="http://schemas.openxmlformats.org/drawingml/2006/main" noGrp="1"/>
          </p:cNvSpPr>
          <p:nvPr/>
        </p:nvSpPr>
        <p:spPr>
          <a:xfrm xmlns:a="http://schemas.openxmlformats.org/drawingml/2006/main">
            <a:off x="4526280" y="164592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76B4B"/>
                </a:solidFill>
                <a:latin typeface="Cambria"/>
                <a:ea typeface="Cambria"/>
                <a:cs typeface="Cambria"/>
              </a:rPr>
              <a:t>T2</a:t>
            </a:r>
            <a:endParaRPr sz="2400"/>
          </a:p>
        </p:txBody>
      </p:sp>
      <p:sp>
        <p:nvSpPr>
          <p:cNvPr id="12" name="Text 9">
            <a:extLst xmlns:a="http://schemas.openxmlformats.org/drawingml/2006/main">
              <a:ext uri="{FF2B5EF4-FFF2-40B4-BE49-F238E27FC236}">
                <a16:creationId xmlns:a16="http://schemas.microsoft.com/office/drawing/2014/main" id="{A42F191F-29C8-4A62-B88E-8A27E4891635}"/>
              </a:ext>
            </a:extLst>
          </p:cNvPr>
          <p:cNvSpPr>
            <a:spLocks xmlns:a="http://schemas.openxmlformats.org/drawingml/2006/main" noGrp="1"/>
          </p:cNvSpPr>
          <p:nvPr/>
        </p:nvSpPr>
        <p:spPr>
          <a:xfrm xmlns:a="http://schemas.openxmlformats.org/drawingml/2006/main">
            <a:off x="4526280" y="2194560"/>
            <a:ext cx="31089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E2925"/>
                </a:solidFill>
                <a:latin typeface="Calibri"/>
                <a:ea typeface="Calibri"/>
                <a:cs typeface="Calibri"/>
              </a:rPr>
              <a:t>Comprender un rechazo y elegir una acción segura</a:t>
            </a:r>
            <a:endParaRPr sz="1400"/>
          </a:p>
        </p:txBody>
      </p:sp>
      <p:sp>
        <p:nvSpPr>
          <p:cNvPr id="13" name="Shape 10">
            <a:extLst xmlns:a="http://schemas.openxmlformats.org/drawingml/2006/main">
              <a:ext uri="{FF2B5EF4-FFF2-40B4-BE49-F238E27FC236}">
                <a16:creationId xmlns:a16="http://schemas.microsoft.com/office/drawing/2014/main" id="{67831D9E-21D9-4C14-9EFE-AB5CDFEDA0DD}"/>
              </a:ext>
            </a:extLst>
          </p:cNvPr>
          <p:cNvSpPr>
            <a:spLocks xmlns:a="http://schemas.openxmlformats.org/drawingml/2006/main" noGrp="1"/>
          </p:cNvSpPr>
          <p:nvPr/>
        </p:nvSpPr>
        <p:spPr>
          <a:xfrm xmlns:a="http://schemas.openxmlformats.org/drawingml/2006/main">
            <a:off x="8046720" y="1508760"/>
            <a:ext cx="3566160" cy="1325880"/>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4" name="Text 11">
            <a:extLst xmlns:a="http://schemas.openxmlformats.org/drawingml/2006/main">
              <a:ext uri="{FF2B5EF4-FFF2-40B4-BE49-F238E27FC236}">
                <a16:creationId xmlns:a16="http://schemas.microsoft.com/office/drawing/2014/main" id="{779707FD-B09E-4605-980D-9C71FA3FF39A}"/>
              </a:ext>
            </a:extLst>
          </p:cNvPr>
          <p:cNvSpPr>
            <a:spLocks xmlns:a="http://schemas.openxmlformats.org/drawingml/2006/main" noGrp="1"/>
          </p:cNvSpPr>
          <p:nvPr/>
        </p:nvSpPr>
        <p:spPr>
          <a:xfrm xmlns:a="http://schemas.openxmlformats.org/drawingml/2006/main">
            <a:off x="8275320" y="164592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76B4B"/>
                </a:solidFill>
                <a:latin typeface="Cambria"/>
                <a:ea typeface="Cambria"/>
                <a:cs typeface="Cambria"/>
              </a:rPr>
              <a:t>T3</a:t>
            </a:r>
            <a:endParaRPr sz="2400"/>
          </a:p>
        </p:txBody>
      </p:sp>
      <p:sp>
        <p:nvSpPr>
          <p:cNvPr id="15" name="Text 12">
            <a:extLst xmlns:a="http://schemas.openxmlformats.org/drawingml/2006/main">
              <a:ext uri="{FF2B5EF4-FFF2-40B4-BE49-F238E27FC236}">
                <a16:creationId xmlns:a16="http://schemas.microsoft.com/office/drawing/2014/main" id="{815DB1A9-3173-420D-B645-D1FF59401BDE}"/>
              </a:ext>
            </a:extLst>
          </p:cNvPr>
          <p:cNvSpPr>
            <a:spLocks xmlns:a="http://schemas.openxmlformats.org/drawingml/2006/main" noGrp="1"/>
          </p:cNvSpPr>
          <p:nvPr/>
        </p:nvSpPr>
        <p:spPr>
          <a:xfrm xmlns:a="http://schemas.openxmlformats.org/drawingml/2006/main">
            <a:off x="8275320" y="2194560"/>
            <a:ext cx="31089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E2925"/>
                </a:solidFill>
                <a:latin typeface="Calibri"/>
                <a:ea typeface="Calibri"/>
                <a:cs typeface="Calibri"/>
              </a:rPr>
              <a:t>Localizar un registro con filtros</a:t>
            </a:r>
            <a:endParaRPr sz="1400"/>
          </a:p>
        </p:txBody>
      </p:sp>
      <p:sp>
        <p:nvSpPr>
          <p:cNvPr id="16" name="Text 13">
            <a:extLst xmlns:a="http://schemas.openxmlformats.org/drawingml/2006/main">
              <a:ext uri="{FF2B5EF4-FFF2-40B4-BE49-F238E27FC236}">
                <a16:creationId xmlns:a16="http://schemas.microsoft.com/office/drawing/2014/main" id="{B0C8FA6F-4461-4470-BDFA-38DA8BFE2DC3}"/>
              </a:ext>
            </a:extLst>
          </p:cNvPr>
          <p:cNvSpPr>
            <a:spLocks xmlns:a="http://schemas.openxmlformats.org/drawingml/2006/main" noGrp="1"/>
          </p:cNvSpPr>
          <p:nvPr/>
        </p:nvSpPr>
        <p:spPr>
          <a:xfrm xmlns:a="http://schemas.openxmlformats.org/drawingml/2006/main">
            <a:off x="548640" y="310896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E2925"/>
                </a:solidFill>
                <a:latin typeface="Cambria"/>
                <a:ea typeface="Cambria"/>
                <a:cs typeface="Cambria"/>
              </a:rPr>
              <a:t>Métricas que se registrarán</a:t>
            </a:r>
            <a:endParaRPr sz="1800"/>
          </a:p>
        </p:txBody>
      </p:sp>
      <p:sp>
        <p:nvSpPr>
          <p:cNvPr id="17" name="Text 14">
            <a:extLst xmlns:a="http://schemas.openxmlformats.org/drawingml/2006/main">
              <a:ext uri="{FF2B5EF4-FFF2-40B4-BE49-F238E27FC236}">
                <a16:creationId xmlns:a16="http://schemas.microsoft.com/office/drawing/2014/main" id="{18AD7A88-0B56-4E45-A7EC-A2F2786969C0}"/>
              </a:ext>
            </a:extLst>
          </p:cNvPr>
          <p:cNvSpPr>
            <a:spLocks xmlns:a="http://schemas.openxmlformats.org/drawingml/2006/main" noGrp="1"/>
          </p:cNvSpPr>
          <p:nvPr/>
        </p:nvSpPr>
        <p:spPr>
          <a:xfrm xmlns:a="http://schemas.openxmlformats.org/drawingml/2006/main">
            <a:off x="548640" y="3520440"/>
            <a:ext cx="475488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500"/>
              </a:spcAft>
              <a:buSzPct val="100000"/>
              <a:buChar char="•"/>
            </a:pPr>
            <a:r>
              <a:rPr sz="1500">
                <a:solidFill>
                  <a:srgbClr val="1E2925"/>
                </a:solidFill>
                <a:latin typeface="Calibri"/>
                <a:ea typeface="Calibri"/>
                <a:cs typeface="Calibri"/>
              </a:rPr>
              <a:t>Finalización: completa, parcial o no (con n)</a:t>
            </a:r>
            <a:endParaRPr sz="1500"/>
          </a:p>
          <a:p xmlns:a="http://schemas.openxmlformats.org/drawingml/2006/main">
            <a:pPr marL="342900" indent="-342900">
              <a:spcAft>
                <a:spcPts val="500"/>
              </a:spcAft>
              <a:buSzPct val="100000"/>
              <a:buChar char="•"/>
            </a:pPr>
            <a:r>
              <a:rPr sz="1500">
                <a:solidFill>
                  <a:srgbClr val="1E2925"/>
                </a:solidFill>
                <a:latin typeface="Calibri"/>
                <a:ea typeface="Calibri"/>
                <a:cs typeface="Calibri"/>
              </a:rPr>
              <a:t>Tiempo: mediana y rango</a:t>
            </a:r>
            <a:endParaRPr sz="1500"/>
          </a:p>
          <a:p xmlns:a="http://schemas.openxmlformats.org/drawingml/2006/main">
            <a:pPr marL="342900" indent="-342900">
              <a:spcAft>
                <a:spcPts val="500"/>
              </a:spcAft>
              <a:buSzPct val="100000"/>
              <a:buChar char="•"/>
            </a:pPr>
            <a:r>
              <a:rPr sz="1500">
                <a:solidFill>
                  <a:srgbClr val="1E2925"/>
                </a:solidFill>
                <a:latin typeface="Calibri"/>
                <a:ea typeface="Calibri"/>
                <a:cs typeface="Calibri"/>
              </a:rPr>
              <a:t>Errores y ayudas solicitadas</a:t>
            </a:r>
            <a:endParaRPr sz="1500"/>
          </a:p>
          <a:p xmlns:a="http://schemas.openxmlformats.org/drawingml/2006/main">
            <a:pPr marL="342900" indent="-342900">
              <a:spcAft>
                <a:spcPts val="500"/>
              </a:spcAft>
              <a:buSzPct val="100000"/>
              <a:buChar char="•"/>
            </a:pPr>
            <a:r>
              <a:rPr sz="1500">
                <a:solidFill>
                  <a:srgbClr val="1E2925"/>
                </a:solidFill>
                <a:latin typeface="Calibri"/>
                <a:ea typeface="Calibri"/>
                <a:cs typeface="Calibri"/>
              </a:rPr>
              <a:t>Satisfacción 1–5 por tarea</a:t>
            </a:r>
            <a:endParaRPr sz="1500"/>
          </a:p>
        </p:txBody>
      </p:sp>
      <p:graphicFrame>
        <p:nvGraphicFramePr>
          <p:cNvPr id="36" name="Table 0"/>
          <p:cNvGraphicFramePr/>
          <p:nvPr/>
        </p:nvGraphicFramePr>
        <p:xfrm>
          <a:off xmlns:a="http://schemas.openxmlformats.org/drawingml/2006/main" x="5669280" y="3520440"/>
          <a:ext xmlns:a="http://schemas.openxmlformats.org/drawingml/2006/main" cx="5943600" cy="914400"/>
        </p:xfrm>
        <a:graphic xmlns:a="http://schemas.openxmlformats.org/drawingml/2006/main">
          <a:graphicData uri="http://schemas.openxmlformats.org/drawingml/2006/table">
            <a:tbl>
              <a:tblPr/>
              <a:tblGrid>
                <a:gridCol w="1097280"/>
                <a:gridCol w="1280160"/>
                <a:gridCol w="1188720"/>
                <a:gridCol w="1097280"/>
                <a:gridCol w="1280160"/>
              </a:tblGrid>
              <a:tr h="457200">
                <a:tc>
                  <a:txBody>
                    <a:bodyPr/>
                    <a:lstStyle/>
                    <a:p>
                      <a:pPr marL="0" indent="0">
                        <a:buNone/>
                      </a:pPr>
                      <a:r>
                        <a:rPr sz="1200" b="1">
                          <a:solidFill>
                            <a:srgbClr val="FFFFFF"/>
                          </a:solidFill>
                          <a:latin typeface="Calibri"/>
                          <a:ea typeface="Calibri"/>
                          <a:cs typeface="Calibri"/>
                        </a:rPr>
                        <a:t>Participante</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18392D"/>
                    </a:solidFill>
                  </a:tcPr>
                </a:tc>
                <a:tc>
                  <a:txBody>
                    <a:bodyPr/>
                    <a:lstStyle/>
                    <a:p>
                      <a:pPr marL="0" indent="0">
                        <a:buNone/>
                      </a:pPr>
                      <a:r>
                        <a:rPr sz="1200" b="1">
                          <a:solidFill>
                            <a:srgbClr val="FFFFFF"/>
                          </a:solidFill>
                          <a:latin typeface="Calibri"/>
                          <a:ea typeface="Calibri"/>
                          <a:cs typeface="Calibri"/>
                        </a:rPr>
                        <a:t>Tarea</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18392D"/>
                    </a:solidFill>
                  </a:tcPr>
                </a:tc>
                <a:tc>
                  <a:txBody>
                    <a:bodyPr/>
                    <a:lstStyle/>
                    <a:p>
                      <a:pPr marL="0" indent="0">
                        <a:buNone/>
                      </a:pPr>
                      <a:r>
                        <a:rPr sz="1200" b="1">
                          <a:solidFill>
                            <a:srgbClr val="FFFFFF"/>
                          </a:solidFill>
                          <a:latin typeface="Calibri"/>
                          <a:ea typeface="Calibri"/>
                          <a:cs typeface="Calibri"/>
                        </a:rPr>
                        <a:t>Resultado</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18392D"/>
                    </a:solidFill>
                  </a:tcPr>
                </a:tc>
                <a:tc>
                  <a:txBody>
                    <a:bodyPr/>
                    <a:lstStyle/>
                    <a:p>
                      <a:pPr marL="0" indent="0">
                        <a:buNone/>
                      </a:pPr>
                      <a:r>
                        <a:rPr sz="1200" b="1">
                          <a:solidFill>
                            <a:srgbClr val="FFFFFF"/>
                          </a:solidFill>
                          <a:latin typeface="Calibri"/>
                          <a:ea typeface="Calibri"/>
                          <a:cs typeface="Calibri"/>
                        </a:rPr>
                        <a:t>Tiempo</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18392D"/>
                    </a:solidFill>
                  </a:tcPr>
                </a:tc>
                <a:tc>
                  <a:txBody>
                    <a:bodyPr/>
                    <a:lstStyle/>
                    <a:p>
                      <a:pPr marL="0" indent="0">
                        <a:buNone/>
                      </a:pPr>
                      <a:r>
                        <a:rPr sz="1200" b="1">
                          <a:solidFill>
                            <a:srgbClr val="FFFFFF"/>
                          </a:solidFill>
                          <a:latin typeface="Calibri"/>
                          <a:ea typeface="Calibri"/>
                          <a:cs typeface="Calibri"/>
                        </a:rPr>
                        <a:t>Satisfacción</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18392D"/>
                    </a:solidFill>
                  </a:tcPr>
                </a:tc>
              </a:tr>
              <a:tr h="457200">
                <a:tc>
                  <a:txBody>
                    <a:bodyPr/>
                    <a:lstStyle/>
                    <a:p>
                      <a:pPr marL="0" indent="0">
                        <a:buNone/>
                      </a:pPr>
                      <a:r>
                        <a:rPr sz="1200">
                          <a:solidFill>
                            <a:srgbClr val="1E2925"/>
                          </a:solidFill>
                          <a:latin typeface="Calibri"/>
                          <a:ea typeface="Calibri"/>
                          <a:cs typeface="Calibri"/>
                        </a:rPr>
                        <a:t>P01</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T1 · T2 · T3</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Pendiente</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Pendiente</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r>
              <a:tr h="457200">
                <a:tc>
                  <a:txBody>
                    <a:bodyPr/>
                    <a:lstStyle/>
                    <a:p>
                      <a:pPr marL="0" indent="0">
                        <a:buNone/>
                      </a:pPr>
                      <a:r>
                        <a:rPr sz="1200">
                          <a:solidFill>
                            <a:srgbClr val="1E2925"/>
                          </a:solidFill>
                          <a:latin typeface="Calibri"/>
                          <a:ea typeface="Calibri"/>
                          <a:cs typeface="Calibri"/>
                        </a:rPr>
                        <a:t>P02</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T1 · T2 · T3</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Pendiente</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Pendiente</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r>
              <a:tr h="457200">
                <a:tc>
                  <a:txBody>
                    <a:bodyPr/>
                    <a:lstStyle/>
                    <a:p>
                      <a:pPr marL="0" indent="0">
                        <a:buNone/>
                      </a:pPr>
                      <a:r>
                        <a:rPr sz="1200">
                          <a:solidFill>
                            <a:srgbClr val="1E2925"/>
                          </a:solidFill>
                          <a:latin typeface="Calibri"/>
                          <a:ea typeface="Calibri"/>
                          <a:cs typeface="Calibri"/>
                        </a:rPr>
                        <a:t>P03</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T1 · T2 · T3</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Pendiente</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Pendiente</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c>
                  <a:txBody>
                    <a:bodyPr/>
                    <a:lstStyle/>
                    <a:p>
                      <a:pPr marL="0" indent="0">
                        <a:buNone/>
                      </a:pPr>
                      <a:r>
                        <a:rPr sz="1200">
                          <a:solidFill>
                            <a:srgbClr val="1E2925"/>
                          </a:solidFill>
                          <a:latin typeface="Calibri"/>
                          <a:ea typeface="Calibri"/>
                          <a:cs typeface="Calibri"/>
                        </a:rPr>
                        <a:t>—</a:t>
                      </a:r>
                      <a:endParaRPr sz="1200">
                        <a:latin typeface="Calibri"/>
                        <a:ea typeface="Calibri"/>
                        <a:cs typeface="Calibri"/>
                      </a:endParaRPr>
                    </a:p>
                  </a:txBody>
                  <a:tcPr marL="91440" marR="91440" marT="45720" marB="45720">
                    <a:lnL w="9525" cmpd="sng">
                      <a:solidFill>
                        <a:srgbClr val="D9E1DC"/>
                      </a:solidFill>
                      <a:prstDash val="solid"/>
                    </a:lnL>
                    <a:lnR w="9525" cmpd="sng">
                      <a:solidFill>
                        <a:srgbClr val="D9E1DC"/>
                      </a:solidFill>
                      <a:prstDash val="solid"/>
                    </a:lnR>
                    <a:lnT w="9525" cmpd="sng">
                      <a:solidFill>
                        <a:srgbClr val="D9E1DC"/>
                      </a:solidFill>
                      <a:prstDash val="solid"/>
                    </a:lnT>
                    <a:lnB w="9525" cmpd="sng">
                      <a:solidFill>
                        <a:srgbClr val="D9E1DC"/>
                      </a:solidFill>
                      <a:prstDash val="solid"/>
                    </a:lnB>
                    <a:solidFill>
                      <a:srgbClr val="FFFFFF"/>
                    </a:solidFill>
                  </a:tcPr>
                </a:tc>
              </a:tr>
            </a:tbl>
          </a:graphicData>
        </a:graphic>
      </p:graphicFrame>
      <p:sp>
        <p:nvSpPr>
          <p:cNvPr id="19" name="Text 15">
            <a:extLst xmlns:a="http://schemas.openxmlformats.org/drawingml/2006/main">
              <a:ext uri="{FF2B5EF4-FFF2-40B4-BE49-F238E27FC236}">
                <a16:creationId xmlns:a16="http://schemas.microsoft.com/office/drawing/2014/main" id="{7E6EB22B-FA98-42B5-AC06-8C6EE2E4590F}"/>
              </a:ext>
            </a:extLst>
          </p:cNvPr>
          <p:cNvSpPr>
            <a:spLocks xmlns:a="http://schemas.openxmlformats.org/drawingml/2006/main" noGrp="1"/>
          </p:cNvSpPr>
          <p:nvPr/>
        </p:nvSpPr>
        <p:spPr>
          <a:xfrm xmlns:a="http://schemas.openxmlformats.org/drawingml/2006/main">
            <a:off x="5669280" y="5486400"/>
            <a:ext cx="5943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A65022"/>
                </a:solidFill>
                <a:latin typeface="Calibri"/>
                <a:ea typeface="Calibri"/>
                <a:cs typeface="Calibri"/>
              </a:rPr>
              <a:t>Hoja vacía a propósito: solo se llenará con observaciones reales.</a:t>
            </a:r>
            <a:endParaRPr sz="1300"/>
          </a:p>
        </p:txBody>
      </p:sp>
    </p:spTree>
    <p:extLst>
      <p:ext uri="{BB962C8B-B14F-4D97-AF65-F5344CB8AC3E}">
        <p14:creationId xmlns:p14="http://schemas.microsoft.com/office/powerpoint/2010/main" val="876804732"/>
      </p:ext>
    </p:extLst>
  </p:cSld>
</p:sld>
</file>

<file path=ppt/slides/slide11.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28E60F-AA96-45D4-98E8-CDAF0821470C}"/>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ANTES Y DESPUÉS EN EL PROTOTIPO</a:t>
            </a:r>
            <a:endParaRPr sz="1200"/>
          </a:p>
        </p:txBody>
      </p:sp>
      <p:sp>
        <p:nvSpPr>
          <p:cNvPr id="3" name="Text 1">
            <a:extLst xmlns:a="http://schemas.openxmlformats.org/drawingml/2006/main">
              <a:ext uri="{FF2B5EF4-FFF2-40B4-BE49-F238E27FC236}">
                <a16:creationId xmlns:a16="http://schemas.microsoft.com/office/drawing/2014/main" id="{8CC315CE-7B08-4423-9404-4760D040C1CB}"/>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Iteración del prototipo: tres mejoras aplicadas tras la inspección</a:t>
            </a:r>
            <a:endParaRPr sz="3000"/>
          </a:p>
        </p:txBody>
      </p:sp>
      <p:sp>
        <p:nvSpPr>
          <p:cNvPr id="4" name="Text 2">
            <a:extLst xmlns:a="http://schemas.openxmlformats.org/drawingml/2006/main">
              <a:ext uri="{FF2B5EF4-FFF2-40B4-BE49-F238E27FC236}">
                <a16:creationId xmlns:a16="http://schemas.microsoft.com/office/drawing/2014/main" id="{3287448E-7709-4426-82A0-E35DFD5716B3}"/>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11 / 13</a:t>
            </a:r>
            <a:endParaRPr sz="1000"/>
          </a:p>
        </p:txBody>
      </p:sp>
      <p:sp>
        <p:nvSpPr>
          <p:cNvPr id="5" name="Text 3">
            <a:extLst xmlns:a="http://schemas.openxmlformats.org/drawingml/2006/main">
              <a:ext uri="{FF2B5EF4-FFF2-40B4-BE49-F238E27FC236}">
                <a16:creationId xmlns:a16="http://schemas.microsoft.com/office/drawing/2014/main" id="{07373E3E-AE2D-4F74-8B16-7D2A78209FDE}"/>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Shape 4">
            <a:extLst xmlns:a="http://schemas.openxmlformats.org/drawingml/2006/main">
              <a:ext uri="{FF2B5EF4-FFF2-40B4-BE49-F238E27FC236}">
                <a16:creationId xmlns:a16="http://schemas.microsoft.com/office/drawing/2014/main" id="{7D9DDF22-771C-4C40-9AD7-D8E1B4A5F892}"/>
              </a:ext>
            </a:extLst>
          </p:cNvPr>
          <p:cNvSpPr>
            <a:spLocks xmlns:a="http://schemas.openxmlformats.org/drawingml/2006/main" noGrp="1"/>
          </p:cNvSpPr>
          <p:nvPr/>
        </p:nvSpPr>
        <p:spPr>
          <a:xfrm xmlns:a="http://schemas.openxmlformats.org/drawingml/2006/main">
            <a:off x="548640" y="1508760"/>
            <a:ext cx="11064240" cy="114300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8" name="Text 5">
            <a:extLst xmlns:a="http://schemas.openxmlformats.org/drawingml/2006/main">
              <a:ext uri="{FF2B5EF4-FFF2-40B4-BE49-F238E27FC236}">
                <a16:creationId xmlns:a16="http://schemas.microsoft.com/office/drawing/2014/main" id="{93B0BE20-E55A-42BF-A895-941C5DD82912}"/>
              </a:ext>
            </a:extLst>
          </p:cNvPr>
          <p:cNvSpPr>
            <a:spLocks xmlns:a="http://schemas.openxmlformats.org/drawingml/2006/main" noGrp="1"/>
          </p:cNvSpPr>
          <p:nvPr/>
        </p:nvSpPr>
        <p:spPr>
          <a:xfrm xmlns:a="http://schemas.openxmlformats.org/drawingml/2006/main">
            <a:off x="777240" y="1645920"/>
            <a:ext cx="731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76B4B"/>
                </a:solidFill>
                <a:latin typeface="Cambria"/>
                <a:ea typeface="Cambria"/>
                <a:cs typeface="Cambria"/>
              </a:rPr>
              <a:t>M1</a:t>
            </a:r>
            <a:endParaRPr sz="2400"/>
          </a:p>
        </p:txBody>
      </p:sp>
      <p:sp>
        <p:nvSpPr>
          <p:cNvPr id="9" name="Text 6">
            <a:extLst xmlns:a="http://schemas.openxmlformats.org/drawingml/2006/main">
              <a:ext uri="{FF2B5EF4-FFF2-40B4-BE49-F238E27FC236}">
                <a16:creationId xmlns:a16="http://schemas.microsoft.com/office/drawing/2014/main" id="{D61DD251-77E4-426C-88CF-ED1F9781F38A}"/>
              </a:ext>
            </a:extLst>
          </p:cNvPr>
          <p:cNvSpPr>
            <a:spLocks xmlns:a="http://schemas.openxmlformats.org/drawingml/2006/main" noGrp="1"/>
          </p:cNvSpPr>
          <p:nvPr/>
        </p:nvSpPr>
        <p:spPr>
          <a:xfrm xmlns:a="http://schemas.openxmlformats.org/drawingml/2006/main">
            <a:off x="777240" y="214884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65736D"/>
                </a:solidFill>
                <a:latin typeface="Calibri"/>
                <a:ea typeface="Calibri"/>
                <a:cs typeface="Calibri"/>
              </a:rPr>
              <a:t>Nombres de etapa</a:t>
            </a:r>
            <a:endParaRPr sz="1200"/>
          </a:p>
        </p:txBody>
      </p:sp>
      <p:sp>
        <p:nvSpPr>
          <p:cNvPr id="10" name="Text 7">
            <a:extLst xmlns:a="http://schemas.openxmlformats.org/drawingml/2006/main">
              <a:ext uri="{FF2B5EF4-FFF2-40B4-BE49-F238E27FC236}">
                <a16:creationId xmlns:a16="http://schemas.microsoft.com/office/drawing/2014/main" id="{36E0984C-5AC3-4934-A9DD-5DD5B286C040}"/>
              </a:ext>
            </a:extLst>
          </p:cNvPr>
          <p:cNvSpPr>
            <a:spLocks xmlns:a="http://schemas.openxmlformats.org/drawingml/2006/main" noGrp="1"/>
          </p:cNvSpPr>
          <p:nvPr/>
        </p:nvSpPr>
        <p:spPr>
          <a:xfrm xmlns:a="http://schemas.openxmlformats.org/drawingml/2006/main">
            <a:off x="2743200" y="164592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A53535"/>
                </a:solidFill>
                <a:latin typeface="Calibri"/>
                <a:ea typeface="Calibri"/>
                <a:cs typeface="Calibri"/>
              </a:rPr>
              <a:t>ANTES</a:t>
            </a:r>
            <a:endParaRPr sz="1100"/>
          </a:p>
        </p:txBody>
      </p:sp>
      <p:sp>
        <p:nvSpPr>
          <p:cNvPr id="11" name="Text 8">
            <a:extLst xmlns:a="http://schemas.openxmlformats.org/drawingml/2006/main">
              <a:ext uri="{FF2B5EF4-FFF2-40B4-BE49-F238E27FC236}">
                <a16:creationId xmlns:a16="http://schemas.microsoft.com/office/drawing/2014/main" id="{E43E3612-0DB4-4E6E-A5C8-348FACCFF1B1}"/>
              </a:ext>
            </a:extLst>
          </p:cNvPr>
          <p:cNvSpPr>
            <a:spLocks xmlns:a="http://schemas.openxmlformats.org/drawingml/2006/main" noGrp="1"/>
          </p:cNvSpPr>
          <p:nvPr/>
        </p:nvSpPr>
        <p:spPr>
          <a:xfrm xmlns:a="http://schemas.openxmlformats.org/drawingml/2006/main">
            <a:off x="2743200" y="1920240"/>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1E2925"/>
                </a:solidFill>
                <a:latin typeface="Calibri"/>
                <a:ea typeface="Calibri"/>
                <a:cs typeface="Calibri"/>
              </a:rPr>
              <a:t>G1–G4 o etapas genéricas</a:t>
            </a:r>
            <a:endParaRPr sz="1500"/>
          </a:p>
        </p:txBody>
      </p:sp>
      <p:sp>
        <p:nvSpPr>
          <p:cNvPr id="12" name="Text 9">
            <a:extLst xmlns:a="http://schemas.openxmlformats.org/drawingml/2006/main">
              <a:ext uri="{FF2B5EF4-FFF2-40B4-BE49-F238E27FC236}">
                <a16:creationId xmlns:a16="http://schemas.microsoft.com/office/drawing/2014/main" id="{C0B79FEA-D852-419E-8B88-6D30483FB526}"/>
              </a:ext>
            </a:extLst>
          </p:cNvPr>
          <p:cNvSpPr>
            <a:spLocks xmlns:a="http://schemas.openxmlformats.org/drawingml/2006/main" noGrp="1"/>
          </p:cNvSpPr>
          <p:nvPr/>
        </p:nvSpPr>
        <p:spPr>
          <a:xfrm xmlns:a="http://schemas.openxmlformats.org/drawingml/2006/main">
            <a:off x="6400800" y="18745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400" b="1">
                <a:solidFill>
                  <a:srgbClr val="176B4B"/>
                </a:solidFill>
                <a:latin typeface="Calibri"/>
                <a:ea typeface="Calibri"/>
                <a:cs typeface="Calibri"/>
              </a:rPr>
              <a:t>→</a:t>
            </a:r>
            <a:endParaRPr sz="2400"/>
          </a:p>
        </p:txBody>
      </p:sp>
      <p:sp>
        <p:nvSpPr>
          <p:cNvPr id="13" name="Text 10">
            <a:extLst xmlns:a="http://schemas.openxmlformats.org/drawingml/2006/main">
              <a:ext uri="{FF2B5EF4-FFF2-40B4-BE49-F238E27FC236}">
                <a16:creationId xmlns:a16="http://schemas.microsoft.com/office/drawing/2014/main" id="{521BE072-E4B3-4820-A81B-9E4AEBAAECF1}"/>
              </a:ext>
            </a:extLst>
          </p:cNvPr>
          <p:cNvSpPr>
            <a:spLocks xmlns:a="http://schemas.openxmlformats.org/drawingml/2006/main" noGrp="1"/>
          </p:cNvSpPr>
          <p:nvPr/>
        </p:nvSpPr>
        <p:spPr>
          <a:xfrm xmlns:a="http://schemas.openxmlformats.org/drawingml/2006/main">
            <a:off x="7040880" y="1645920"/>
            <a:ext cx="11887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76B4B"/>
                </a:solidFill>
                <a:latin typeface="Calibri"/>
                <a:ea typeface="Calibri"/>
                <a:cs typeface="Calibri"/>
              </a:rPr>
              <a:t>DESPUÉS</a:t>
            </a:r>
            <a:endParaRPr sz="1100"/>
          </a:p>
        </p:txBody>
      </p:sp>
      <p:sp>
        <p:nvSpPr>
          <p:cNvPr id="14" name="Text 11">
            <a:extLst xmlns:a="http://schemas.openxmlformats.org/drawingml/2006/main">
              <a:ext uri="{FF2B5EF4-FFF2-40B4-BE49-F238E27FC236}">
                <a16:creationId xmlns:a16="http://schemas.microsoft.com/office/drawing/2014/main" id="{3BCC31F0-84AA-44CE-B693-A37C52751E7E}"/>
              </a:ext>
            </a:extLst>
          </p:cNvPr>
          <p:cNvSpPr>
            <a:spLocks xmlns:a="http://schemas.openxmlformats.org/drawingml/2006/main" noGrp="1"/>
          </p:cNvSpPr>
          <p:nvPr/>
        </p:nvSpPr>
        <p:spPr>
          <a:xfrm xmlns:a="http://schemas.openxmlformats.org/drawingml/2006/main">
            <a:off x="7040880" y="1920240"/>
            <a:ext cx="2926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1E2925"/>
                </a:solidFill>
                <a:latin typeface="Calibri"/>
                <a:ea typeface="Calibri"/>
                <a:cs typeface="Calibri"/>
              </a:rPr>
              <a:t>Lectura, Validación, Limpieza y Revisión de calidad</a:t>
            </a:r>
            <a:endParaRPr sz="1400"/>
          </a:p>
        </p:txBody>
      </p:sp>
      <p:pic>
        <p:nvPicPr>
          <p:cNvPr id="51" name="Image 0"/>
          <p:cNvPicPr>
            <a:picLocks xmlns:a="http://schemas.openxmlformats.org/drawingml/2006/main" noChangeAspect="1"/>
          </p:cNvPicPr>
          <p:nvPr/>
        </p:nvPicPr>
        <p:blipFill>
          <a:blip xmlns:r="http://schemas.openxmlformats.org/officeDocument/2006/relationships" xmlns:a="http://schemas.openxmlformats.org/drawingml/2006/main" r:embed="R68303928637b4a9f"/>
          <a:stretch xmlns:a="http://schemas.openxmlformats.org/drawingml/2006/main">
            <a:fillRect l="0" t="0" r="0" b="0"/>
          </a:stretch>
        </p:blipFill>
        <p:spPr>
          <a:xfrm xmlns:a="http://schemas.openxmlformats.org/drawingml/2006/main">
            <a:off x="10104120" y="1600200"/>
            <a:ext cx="1371600" cy="950976"/>
          </a:xfrm>
          <a:prstGeom xmlns:a="http://schemas.openxmlformats.org/drawingml/2006/main" prst="rect">
            <a:avLst/>
          </a:prstGeom>
        </p:spPr>
      </p:pic>
      <p:sp>
        <p:nvSpPr>
          <p:cNvPr id="16" name="Shape 12">
            <a:extLst xmlns:a="http://schemas.openxmlformats.org/drawingml/2006/main">
              <a:ext uri="{FF2B5EF4-FFF2-40B4-BE49-F238E27FC236}">
                <a16:creationId xmlns:a16="http://schemas.microsoft.com/office/drawing/2014/main" id="{3AB2D969-E9C5-4F61-AB45-8A79AD91F80E}"/>
              </a:ext>
            </a:extLst>
          </p:cNvPr>
          <p:cNvSpPr>
            <a:spLocks xmlns:a="http://schemas.openxmlformats.org/drawingml/2006/main" noGrp="1"/>
          </p:cNvSpPr>
          <p:nvPr/>
        </p:nvSpPr>
        <p:spPr>
          <a:xfrm xmlns:a="http://schemas.openxmlformats.org/drawingml/2006/main">
            <a:off x="548640" y="2788920"/>
            <a:ext cx="11064240" cy="114300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7" name="Text 13">
            <a:extLst xmlns:a="http://schemas.openxmlformats.org/drawingml/2006/main">
              <a:ext uri="{FF2B5EF4-FFF2-40B4-BE49-F238E27FC236}">
                <a16:creationId xmlns:a16="http://schemas.microsoft.com/office/drawing/2014/main" id="{95A806D4-83DA-42D3-B3F2-34A456899F42}"/>
              </a:ext>
            </a:extLst>
          </p:cNvPr>
          <p:cNvSpPr>
            <a:spLocks xmlns:a="http://schemas.openxmlformats.org/drawingml/2006/main" noGrp="1"/>
          </p:cNvSpPr>
          <p:nvPr/>
        </p:nvSpPr>
        <p:spPr>
          <a:xfrm xmlns:a="http://schemas.openxmlformats.org/drawingml/2006/main">
            <a:off x="777240" y="2926080"/>
            <a:ext cx="731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76B4B"/>
                </a:solidFill>
                <a:latin typeface="Cambria"/>
                <a:ea typeface="Cambria"/>
                <a:cs typeface="Cambria"/>
              </a:rPr>
              <a:t>M2</a:t>
            </a:r>
            <a:endParaRPr sz="2400"/>
          </a:p>
        </p:txBody>
      </p:sp>
      <p:sp>
        <p:nvSpPr>
          <p:cNvPr id="18" name="Text 14">
            <a:extLst xmlns:a="http://schemas.openxmlformats.org/drawingml/2006/main">
              <a:ext uri="{FF2B5EF4-FFF2-40B4-BE49-F238E27FC236}">
                <a16:creationId xmlns:a16="http://schemas.microsoft.com/office/drawing/2014/main" id="{AEA54A5F-6F0F-43BA-B878-4CBCCB1FAB30}"/>
              </a:ext>
            </a:extLst>
          </p:cNvPr>
          <p:cNvSpPr>
            <a:spLocks xmlns:a="http://schemas.openxmlformats.org/drawingml/2006/main" noGrp="1"/>
          </p:cNvSpPr>
          <p:nvPr/>
        </p:nvSpPr>
        <p:spPr>
          <a:xfrm xmlns:a="http://schemas.openxmlformats.org/drawingml/2006/main">
            <a:off x="777240" y="342900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65736D"/>
                </a:solidFill>
                <a:latin typeface="Calibri"/>
                <a:ea typeface="Calibri"/>
                <a:cs typeface="Calibri"/>
              </a:rPr>
              <a:t>Campos reales</a:t>
            </a:r>
            <a:endParaRPr sz="1200"/>
          </a:p>
        </p:txBody>
      </p:sp>
      <p:sp>
        <p:nvSpPr>
          <p:cNvPr id="19" name="Text 15">
            <a:extLst xmlns:a="http://schemas.openxmlformats.org/drawingml/2006/main">
              <a:ext uri="{FF2B5EF4-FFF2-40B4-BE49-F238E27FC236}">
                <a16:creationId xmlns:a16="http://schemas.microsoft.com/office/drawing/2014/main" id="{BF5C2556-4844-4DDB-9539-598318D95060}"/>
              </a:ext>
            </a:extLst>
          </p:cNvPr>
          <p:cNvSpPr>
            <a:spLocks xmlns:a="http://schemas.openxmlformats.org/drawingml/2006/main" noGrp="1"/>
          </p:cNvSpPr>
          <p:nvPr/>
        </p:nvSpPr>
        <p:spPr>
          <a:xfrm xmlns:a="http://schemas.openxmlformats.org/drawingml/2006/main">
            <a:off x="2743200" y="292608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A53535"/>
                </a:solidFill>
                <a:latin typeface="Calibri"/>
                <a:ea typeface="Calibri"/>
                <a:cs typeface="Calibri"/>
              </a:rPr>
              <a:t>ANTES</a:t>
            </a:r>
            <a:endParaRPr sz="1100"/>
          </a:p>
        </p:txBody>
      </p:sp>
      <p:sp>
        <p:nvSpPr>
          <p:cNvPr id="20" name="Text 16">
            <a:extLst xmlns:a="http://schemas.openxmlformats.org/drawingml/2006/main">
              <a:ext uri="{FF2B5EF4-FFF2-40B4-BE49-F238E27FC236}">
                <a16:creationId xmlns:a16="http://schemas.microsoft.com/office/drawing/2014/main" id="{0BB81771-CB5B-480B-9E6B-65B5570FB57D}"/>
              </a:ext>
            </a:extLst>
          </p:cNvPr>
          <p:cNvSpPr>
            <a:spLocks xmlns:a="http://schemas.openxmlformats.org/drawingml/2006/main" noGrp="1"/>
          </p:cNvSpPr>
          <p:nvPr/>
        </p:nvSpPr>
        <p:spPr>
          <a:xfrm xmlns:a="http://schemas.openxmlformats.org/drawingml/2006/main">
            <a:off x="2743200" y="3200400"/>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1E2925"/>
                </a:solidFill>
                <a:latin typeface="Calibri"/>
                <a:ea typeface="Calibri"/>
                <a:cs typeface="Calibri"/>
              </a:rPr>
              <a:t>Sin baños; alias no reconocidos</a:t>
            </a:r>
            <a:endParaRPr sz="1500"/>
          </a:p>
        </p:txBody>
      </p:sp>
      <p:sp>
        <p:nvSpPr>
          <p:cNvPr id="21" name="Text 17">
            <a:extLst xmlns:a="http://schemas.openxmlformats.org/drawingml/2006/main">
              <a:ext uri="{FF2B5EF4-FFF2-40B4-BE49-F238E27FC236}">
                <a16:creationId xmlns:a16="http://schemas.microsoft.com/office/drawing/2014/main" id="{877F96B3-62B3-4D7F-A8F0-B439854F66FD}"/>
              </a:ext>
            </a:extLst>
          </p:cNvPr>
          <p:cNvSpPr>
            <a:spLocks xmlns:a="http://schemas.openxmlformats.org/drawingml/2006/main" noGrp="1"/>
          </p:cNvSpPr>
          <p:nvPr/>
        </p:nvSpPr>
        <p:spPr>
          <a:xfrm xmlns:a="http://schemas.openxmlformats.org/drawingml/2006/main">
            <a:off x="6400800" y="31546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400" b="1">
                <a:solidFill>
                  <a:srgbClr val="176B4B"/>
                </a:solidFill>
                <a:latin typeface="Calibri"/>
                <a:ea typeface="Calibri"/>
                <a:cs typeface="Calibri"/>
              </a:rPr>
              <a:t>→</a:t>
            </a:r>
            <a:endParaRPr sz="2400"/>
          </a:p>
        </p:txBody>
      </p:sp>
      <p:sp>
        <p:nvSpPr>
          <p:cNvPr id="22" name="Text 18">
            <a:extLst xmlns:a="http://schemas.openxmlformats.org/drawingml/2006/main">
              <a:ext uri="{FF2B5EF4-FFF2-40B4-BE49-F238E27FC236}">
                <a16:creationId xmlns:a16="http://schemas.microsoft.com/office/drawing/2014/main" id="{313D6D24-BACC-4A9A-B92F-22EB2365BD45}"/>
              </a:ext>
            </a:extLst>
          </p:cNvPr>
          <p:cNvSpPr>
            <a:spLocks xmlns:a="http://schemas.openxmlformats.org/drawingml/2006/main" noGrp="1"/>
          </p:cNvSpPr>
          <p:nvPr/>
        </p:nvSpPr>
        <p:spPr>
          <a:xfrm xmlns:a="http://schemas.openxmlformats.org/drawingml/2006/main">
            <a:off x="7040880" y="2926080"/>
            <a:ext cx="11887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76B4B"/>
                </a:solidFill>
                <a:latin typeface="Calibri"/>
                <a:ea typeface="Calibri"/>
                <a:cs typeface="Calibri"/>
              </a:rPr>
              <a:t>DESPUÉS</a:t>
            </a:r>
            <a:endParaRPr sz="1100"/>
          </a:p>
        </p:txBody>
      </p:sp>
      <p:sp>
        <p:nvSpPr>
          <p:cNvPr id="23" name="Text 19">
            <a:extLst xmlns:a="http://schemas.openxmlformats.org/drawingml/2006/main">
              <a:ext uri="{FF2B5EF4-FFF2-40B4-BE49-F238E27FC236}">
                <a16:creationId xmlns:a16="http://schemas.microsoft.com/office/drawing/2014/main" id="{50F7D5A0-7506-4ACB-8C42-65BAF8708C03}"/>
              </a:ext>
            </a:extLst>
          </p:cNvPr>
          <p:cNvSpPr>
            <a:spLocks xmlns:a="http://schemas.openxmlformats.org/drawingml/2006/main" noGrp="1"/>
          </p:cNvSpPr>
          <p:nvPr/>
        </p:nvSpPr>
        <p:spPr>
          <a:xfrm xmlns:a="http://schemas.openxmlformats.org/drawingml/2006/main">
            <a:off x="7040880" y="3200400"/>
            <a:ext cx="2926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1E2925"/>
                </a:solidFill>
                <a:latin typeface="Calibri"/>
                <a:ea typeface="Calibri"/>
                <a:cs typeface="Calibri"/>
              </a:rPr>
              <a:t>Seis campos con alias admitidos y rangos</a:t>
            </a:r>
            <a:endParaRPr sz="1400"/>
          </a:p>
        </p:txBody>
      </p:sp>
      <p:pic>
        <p:nvPicPr>
          <p:cNvPr id="60" name="Image 1"/>
          <p:cNvPicPr>
            <a:picLocks xmlns:a="http://schemas.openxmlformats.org/drawingml/2006/main" noChangeAspect="1"/>
          </p:cNvPicPr>
          <p:nvPr/>
        </p:nvPicPr>
        <p:blipFill>
          <a:blip xmlns:r="http://schemas.openxmlformats.org/officeDocument/2006/relationships" xmlns:a="http://schemas.openxmlformats.org/drawingml/2006/main" r:embed="Rd9ded97845774285"/>
          <a:stretch xmlns:a="http://schemas.openxmlformats.org/drawingml/2006/main">
            <a:fillRect l="0" t="0" r="0" b="0"/>
          </a:stretch>
        </p:blipFill>
        <p:spPr>
          <a:xfrm xmlns:a="http://schemas.openxmlformats.org/drawingml/2006/main">
            <a:off x="10104120" y="2880360"/>
            <a:ext cx="1371600" cy="950976"/>
          </a:xfrm>
          <a:prstGeom xmlns:a="http://schemas.openxmlformats.org/drawingml/2006/main" prst="rect">
            <a:avLst/>
          </a:prstGeom>
        </p:spPr>
      </p:pic>
      <p:sp>
        <p:nvSpPr>
          <p:cNvPr id="25" name="Shape 20">
            <a:extLst xmlns:a="http://schemas.openxmlformats.org/drawingml/2006/main">
              <a:ext uri="{FF2B5EF4-FFF2-40B4-BE49-F238E27FC236}">
                <a16:creationId xmlns:a16="http://schemas.microsoft.com/office/drawing/2014/main" id="{2B2F2F9C-91DC-4519-A264-9C4145DD9F5D}"/>
              </a:ext>
            </a:extLst>
          </p:cNvPr>
          <p:cNvSpPr>
            <a:spLocks xmlns:a="http://schemas.openxmlformats.org/drawingml/2006/main" noGrp="1"/>
          </p:cNvSpPr>
          <p:nvPr/>
        </p:nvSpPr>
        <p:spPr>
          <a:xfrm xmlns:a="http://schemas.openxmlformats.org/drawingml/2006/main">
            <a:off x="548640" y="4069080"/>
            <a:ext cx="11064240" cy="114300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6" name="Text 21">
            <a:extLst xmlns:a="http://schemas.openxmlformats.org/drawingml/2006/main">
              <a:ext uri="{FF2B5EF4-FFF2-40B4-BE49-F238E27FC236}">
                <a16:creationId xmlns:a16="http://schemas.microsoft.com/office/drawing/2014/main" id="{49E7CE30-675F-460F-BBF3-0770F9B615AD}"/>
              </a:ext>
            </a:extLst>
          </p:cNvPr>
          <p:cNvSpPr>
            <a:spLocks xmlns:a="http://schemas.openxmlformats.org/drawingml/2006/main" noGrp="1"/>
          </p:cNvSpPr>
          <p:nvPr/>
        </p:nvSpPr>
        <p:spPr>
          <a:xfrm xmlns:a="http://schemas.openxmlformats.org/drawingml/2006/main">
            <a:off x="777240" y="4206240"/>
            <a:ext cx="731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76B4B"/>
                </a:solidFill>
                <a:latin typeface="Cambria"/>
                <a:ea typeface="Cambria"/>
                <a:cs typeface="Cambria"/>
              </a:rPr>
              <a:t>M3</a:t>
            </a:r>
            <a:endParaRPr sz="2400"/>
          </a:p>
        </p:txBody>
      </p:sp>
      <p:sp>
        <p:nvSpPr>
          <p:cNvPr id="27" name="Text 22">
            <a:extLst xmlns:a="http://schemas.openxmlformats.org/drawingml/2006/main">
              <a:ext uri="{FF2B5EF4-FFF2-40B4-BE49-F238E27FC236}">
                <a16:creationId xmlns:a16="http://schemas.microsoft.com/office/drawing/2014/main" id="{D6ED387A-1E3D-4EFF-A796-5F5A3EF8C70D}"/>
              </a:ext>
            </a:extLst>
          </p:cNvPr>
          <p:cNvSpPr>
            <a:spLocks xmlns:a="http://schemas.openxmlformats.org/drawingml/2006/main" noGrp="1"/>
          </p:cNvSpPr>
          <p:nvPr/>
        </p:nvSpPr>
        <p:spPr>
          <a:xfrm xmlns:a="http://schemas.openxmlformats.org/drawingml/2006/main">
            <a:off x="777240" y="470916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65736D"/>
                </a:solidFill>
                <a:latin typeface="Calibri"/>
                <a:ea typeface="Calibri"/>
                <a:cs typeface="Calibri"/>
              </a:rPr>
              <a:t>Mensajes de carga</a:t>
            </a:r>
            <a:endParaRPr sz="1200"/>
          </a:p>
        </p:txBody>
      </p:sp>
      <p:sp>
        <p:nvSpPr>
          <p:cNvPr id="28" name="Text 23">
            <a:extLst xmlns:a="http://schemas.openxmlformats.org/drawingml/2006/main">
              <a:ext uri="{FF2B5EF4-FFF2-40B4-BE49-F238E27FC236}">
                <a16:creationId xmlns:a16="http://schemas.microsoft.com/office/drawing/2014/main" id="{67C6C79E-ED52-425A-AB77-276EBDAA17EE}"/>
              </a:ext>
            </a:extLst>
          </p:cNvPr>
          <p:cNvSpPr>
            <a:spLocks xmlns:a="http://schemas.openxmlformats.org/drawingml/2006/main" noGrp="1"/>
          </p:cNvSpPr>
          <p:nvPr/>
        </p:nvSpPr>
        <p:spPr>
          <a:xfrm xmlns:a="http://schemas.openxmlformats.org/drawingml/2006/main">
            <a:off x="2743200" y="420624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A53535"/>
                </a:solidFill>
                <a:latin typeface="Calibri"/>
                <a:ea typeface="Calibri"/>
                <a:cs typeface="Calibri"/>
              </a:rPr>
              <a:t>ANTES</a:t>
            </a:r>
            <a:endParaRPr sz="1100"/>
          </a:p>
        </p:txBody>
      </p:sp>
      <p:sp>
        <p:nvSpPr>
          <p:cNvPr id="29" name="Text 24">
            <a:extLst xmlns:a="http://schemas.openxmlformats.org/drawingml/2006/main">
              <a:ext uri="{FF2B5EF4-FFF2-40B4-BE49-F238E27FC236}">
                <a16:creationId xmlns:a16="http://schemas.microsoft.com/office/drawing/2014/main" id="{EBF58D31-2A02-4FC4-9DD3-2CFC1713D3D5}"/>
              </a:ext>
            </a:extLst>
          </p:cNvPr>
          <p:cNvSpPr>
            <a:spLocks xmlns:a="http://schemas.openxmlformats.org/drawingml/2006/main" noGrp="1"/>
          </p:cNvSpPr>
          <p:nvPr/>
        </p:nvSpPr>
        <p:spPr>
          <a:xfrm xmlns:a="http://schemas.openxmlformats.org/drawingml/2006/main">
            <a:off x="2743200" y="4480560"/>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1E2925"/>
                </a:solidFill>
                <a:latin typeface="Calibri"/>
                <a:ea typeface="Calibri"/>
                <a:cs typeface="Calibri"/>
              </a:rPr>
              <a:t>“Archivo legible”</a:t>
            </a:r>
            <a:endParaRPr sz="1500"/>
          </a:p>
        </p:txBody>
      </p:sp>
      <p:sp>
        <p:nvSpPr>
          <p:cNvPr id="30" name="Text 25">
            <a:extLst xmlns:a="http://schemas.openxmlformats.org/drawingml/2006/main">
              <a:ext uri="{FF2B5EF4-FFF2-40B4-BE49-F238E27FC236}">
                <a16:creationId xmlns:a16="http://schemas.microsoft.com/office/drawing/2014/main" id="{8EA8B688-5FB9-459B-9D43-7B297AB16FFA}"/>
              </a:ext>
            </a:extLst>
          </p:cNvPr>
          <p:cNvSpPr>
            <a:spLocks xmlns:a="http://schemas.openxmlformats.org/drawingml/2006/main" noGrp="1"/>
          </p:cNvSpPr>
          <p:nvPr/>
        </p:nvSpPr>
        <p:spPr>
          <a:xfrm xmlns:a="http://schemas.openxmlformats.org/drawingml/2006/main">
            <a:off x="6400800" y="44348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400" b="1">
                <a:solidFill>
                  <a:srgbClr val="176B4B"/>
                </a:solidFill>
                <a:latin typeface="Calibri"/>
                <a:ea typeface="Calibri"/>
                <a:cs typeface="Calibri"/>
              </a:rPr>
              <a:t>→</a:t>
            </a:r>
            <a:endParaRPr sz="2400"/>
          </a:p>
        </p:txBody>
      </p:sp>
      <p:sp>
        <p:nvSpPr>
          <p:cNvPr id="31" name="Text 26">
            <a:extLst xmlns:a="http://schemas.openxmlformats.org/drawingml/2006/main">
              <a:ext uri="{FF2B5EF4-FFF2-40B4-BE49-F238E27FC236}">
                <a16:creationId xmlns:a16="http://schemas.microsoft.com/office/drawing/2014/main" id="{9DCA03D4-C33B-485C-8A8C-8E6FBD9269D6}"/>
              </a:ext>
            </a:extLst>
          </p:cNvPr>
          <p:cNvSpPr>
            <a:spLocks xmlns:a="http://schemas.openxmlformats.org/drawingml/2006/main" noGrp="1"/>
          </p:cNvSpPr>
          <p:nvPr/>
        </p:nvSpPr>
        <p:spPr>
          <a:xfrm xmlns:a="http://schemas.openxmlformats.org/drawingml/2006/main">
            <a:off x="7040880" y="4206240"/>
            <a:ext cx="11887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76B4B"/>
                </a:solidFill>
                <a:latin typeface="Calibri"/>
                <a:ea typeface="Calibri"/>
                <a:cs typeface="Calibri"/>
              </a:rPr>
              <a:t>DESPUÉS</a:t>
            </a:r>
            <a:endParaRPr sz="1100"/>
          </a:p>
        </p:txBody>
      </p:sp>
      <p:sp>
        <p:nvSpPr>
          <p:cNvPr id="32" name="Text 27">
            <a:extLst xmlns:a="http://schemas.openxmlformats.org/drawingml/2006/main">
              <a:ext uri="{FF2B5EF4-FFF2-40B4-BE49-F238E27FC236}">
                <a16:creationId xmlns:a16="http://schemas.microsoft.com/office/drawing/2014/main" id="{EB57E7C5-2249-4CC5-B13F-9B91E036E735}"/>
              </a:ext>
            </a:extLst>
          </p:cNvPr>
          <p:cNvSpPr>
            <a:spLocks xmlns:a="http://schemas.openxmlformats.org/drawingml/2006/main" noGrp="1"/>
          </p:cNvSpPr>
          <p:nvPr/>
        </p:nvSpPr>
        <p:spPr>
          <a:xfrm xmlns:a="http://schemas.openxmlformats.org/drawingml/2006/main">
            <a:off x="7040880" y="4480560"/>
            <a:ext cx="2926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1E2925"/>
                </a:solidFill>
                <a:latin typeface="Calibri"/>
                <a:ea typeface="Calibri"/>
                <a:cs typeface="Calibri"/>
              </a:rPr>
              <a:t>“Formato admitido; contenido aún sin validar”</a:t>
            </a:r>
            <a:endParaRPr sz="1400"/>
          </a:p>
        </p:txBody>
      </p:sp>
      <p:pic>
        <p:nvPicPr>
          <p:cNvPr id="69" name="Image 2"/>
          <p:cNvPicPr>
            <a:picLocks xmlns:a="http://schemas.openxmlformats.org/drawingml/2006/main" noChangeAspect="1"/>
          </p:cNvPicPr>
          <p:nvPr/>
        </p:nvPicPr>
        <p:blipFill>
          <a:blip xmlns:r="http://schemas.openxmlformats.org/officeDocument/2006/relationships" xmlns:a="http://schemas.openxmlformats.org/drawingml/2006/main" r:embed="Rd24a513d0b774677"/>
          <a:stretch xmlns:a="http://schemas.openxmlformats.org/drawingml/2006/main">
            <a:fillRect l="0" t="0" r="0" b="0"/>
          </a:stretch>
        </p:blipFill>
        <p:spPr>
          <a:xfrm xmlns:a="http://schemas.openxmlformats.org/drawingml/2006/main">
            <a:off x="10104120" y="4160520"/>
            <a:ext cx="1371600" cy="950976"/>
          </a:xfrm>
          <a:prstGeom xmlns:a="http://schemas.openxmlformats.org/drawingml/2006/main" prst="rect">
            <a:avLst/>
          </a:prstGeom>
        </p:spPr>
      </p:pic>
      <p:sp>
        <p:nvSpPr>
          <p:cNvPr id="34" name="Shape 28">
            <a:extLst xmlns:a="http://schemas.openxmlformats.org/drawingml/2006/main">
              <a:ext uri="{FF2B5EF4-FFF2-40B4-BE49-F238E27FC236}">
                <a16:creationId xmlns:a16="http://schemas.microsoft.com/office/drawing/2014/main" id="{C3CFB743-B418-433D-97C3-2C17CFB2D67C}"/>
              </a:ext>
            </a:extLst>
          </p:cNvPr>
          <p:cNvSpPr>
            <a:spLocks xmlns:a="http://schemas.openxmlformats.org/drawingml/2006/main" noGrp="1"/>
          </p:cNvSpPr>
          <p:nvPr/>
        </p:nvSpPr>
        <p:spPr>
          <a:xfrm xmlns:a="http://schemas.openxmlformats.org/drawingml/2006/main">
            <a:off x="548640" y="5394960"/>
            <a:ext cx="11064240" cy="777240"/>
          </a:xfrm>
          <a:prstGeom xmlns:a="http://schemas.openxmlformats.org/drawingml/2006/main" prst="roundRect">
            <a:avLst>
              <a:gd name="adj" fmla="val 9412"/>
            </a:avLst>
          </a:prstGeom>
          <a:solidFill xmlns:a="http://schemas.openxmlformats.org/drawingml/2006/main">
            <a:srgbClr val="FFF0E6"/>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35" name="Text 29">
            <a:extLst xmlns:a="http://schemas.openxmlformats.org/drawingml/2006/main">
              <a:ext uri="{FF2B5EF4-FFF2-40B4-BE49-F238E27FC236}">
                <a16:creationId xmlns:a16="http://schemas.microsoft.com/office/drawing/2014/main" id="{FABB68E4-86FE-405B-9431-A792D5E54AE3}"/>
              </a:ext>
            </a:extLst>
          </p:cNvPr>
          <p:cNvSpPr>
            <a:spLocks xmlns:a="http://schemas.openxmlformats.org/drawingml/2006/main" noGrp="1"/>
          </p:cNvSpPr>
          <p:nvPr/>
        </p:nvSpPr>
        <p:spPr>
          <a:xfrm xmlns:a="http://schemas.openxmlformats.org/drawingml/2006/main">
            <a:off x="777240" y="5440680"/>
            <a:ext cx="10607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733919"/>
                </a:solidFill>
                <a:latin typeface="Calibri"/>
                <a:ea typeface="Calibri"/>
                <a:cs typeface="Calibri"/>
              </a:rPr>
              <a:t>Pendientes: </a:t>
            </a:r>
            <a:r>
              <a:rPr sz="1400">
                <a:solidFill>
                  <a:srgbClr val="733919"/>
                </a:solidFill>
                <a:latin typeface="Calibri"/>
                <a:ea typeface="Calibri"/>
                <a:cs typeface="Calibri"/>
              </a:rPr>
              <a:t>M4 validar el mapeo obligatorio · M5 búsqueda y filtros guardados · M6 ruta de reintento. Impacto por medir con el mismo guion en la siguiente iteración.</a:t>
            </a:r>
            <a:endParaRPr sz="1400"/>
          </a:p>
        </p:txBody>
      </p:sp>
    </p:spTree>
    <p:extLst>
      <p:ext uri="{BB962C8B-B14F-4D97-AF65-F5344CB8AC3E}">
        <p14:creationId xmlns:p14="http://schemas.microsoft.com/office/powerpoint/2010/main" val="1982920831"/>
      </p:ext>
    </p:extLst>
  </p:cSld>
</p:sld>
</file>

<file path=ppt/slides/slide12.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12F2CA-1EB6-49F3-AE90-C3AB2017C4EE}"/>
              </a:ext>
            </a:extLst>
          </p:cNvPr>
          <p:cNvSpPr>
            <a:spLocks xmlns:a="http://schemas.openxmlformats.org/drawingml/2006/main" noGrp="1"/>
          </p:cNvSpPr>
          <p:nvPr/>
        </p:nvSpPr>
        <p:spPr>
          <a:xfrm xmlns:a="http://schemas.openxmlformats.org/drawingml/2006/main">
            <a:off x="548640" y="3200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76B4B"/>
                </a:solidFill>
                <a:latin typeface="Calibri"/>
                <a:ea typeface="Calibri"/>
                <a:cs typeface="Calibri"/>
              </a:rPr>
              <a:t>ESTADO AL CIERRE DE LA FASE 2 Y HOJA DE RUTA</a:t>
            </a:r>
            <a:endParaRPr sz="1200"/>
          </a:p>
        </p:txBody>
      </p:sp>
      <p:sp>
        <p:nvSpPr>
          <p:cNvPr id="3" name="Text 1">
            <a:extLst xmlns:a="http://schemas.openxmlformats.org/drawingml/2006/main">
              <a:ext uri="{FF2B5EF4-FFF2-40B4-BE49-F238E27FC236}">
                <a16:creationId xmlns:a16="http://schemas.microsoft.com/office/drawing/2014/main" id="{616E6752-1E1E-418D-9486-D1D6DF0DC150}"/>
              </a:ext>
            </a:extLst>
          </p:cNvPr>
          <p:cNvSpPr>
            <a:spLocks xmlns:a="http://schemas.openxmlformats.org/drawingml/2006/main" noGrp="1"/>
          </p:cNvSpPr>
          <p:nvPr/>
        </p:nvSpPr>
        <p:spPr>
          <a:xfrm xmlns:a="http://schemas.openxmlformats.org/drawingml/2006/main">
            <a:off x="548640" y="594360"/>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925"/>
                </a:solidFill>
                <a:latin typeface="Cambria"/>
                <a:ea typeface="Cambria"/>
                <a:cs typeface="Cambria"/>
              </a:rPr>
              <a:t>Ciclo de vida: prototipado y evaluación inicial</a:t>
            </a:r>
            <a:endParaRPr sz="3000"/>
          </a:p>
        </p:txBody>
      </p:sp>
      <p:sp>
        <p:nvSpPr>
          <p:cNvPr id="4" name="Text 2">
            <a:extLst xmlns:a="http://schemas.openxmlformats.org/drawingml/2006/main">
              <a:ext uri="{FF2B5EF4-FFF2-40B4-BE49-F238E27FC236}">
                <a16:creationId xmlns:a16="http://schemas.microsoft.com/office/drawing/2014/main" id="{BCB7B928-9A7F-421F-BD17-B981673F24A4}"/>
              </a:ext>
            </a:extLst>
          </p:cNvPr>
          <p:cNvSpPr>
            <a:spLocks xmlns:a="http://schemas.openxmlformats.org/drawingml/2006/main" noGrp="1"/>
          </p:cNvSpPr>
          <p:nvPr/>
        </p:nvSpPr>
        <p:spPr>
          <a:xfrm xmlns:a="http://schemas.openxmlformats.org/drawingml/2006/main">
            <a:off x="10698480" y="6446520"/>
            <a:ext cx="1005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5736D"/>
                </a:solidFill>
                <a:latin typeface="Calibri"/>
                <a:ea typeface="Calibri"/>
                <a:cs typeface="Calibri"/>
              </a:rPr>
              <a:t>12 / 13</a:t>
            </a:r>
            <a:endParaRPr sz="1000"/>
          </a:p>
        </p:txBody>
      </p:sp>
      <p:sp>
        <p:nvSpPr>
          <p:cNvPr id="5" name="Text 3">
            <a:extLst xmlns:a="http://schemas.openxmlformats.org/drawingml/2006/main">
              <a:ext uri="{FF2B5EF4-FFF2-40B4-BE49-F238E27FC236}">
                <a16:creationId xmlns:a16="http://schemas.microsoft.com/office/drawing/2014/main" id="{8B9F7A7F-3640-45B5-BB53-E2550FB5D0CF}"/>
              </a:ext>
            </a:extLst>
          </p:cNvPr>
          <p:cNvSpPr>
            <a:spLocks xmlns:a="http://schemas.openxmlformats.org/drawingml/2006/main" noGrp="1"/>
          </p:cNvSpPr>
          <p:nvPr/>
        </p:nvSpPr>
        <p:spPr>
          <a:xfrm xmlns:a="http://schemas.openxmlformats.org/drawingml/2006/main">
            <a:off x="548640" y="6446520"/>
            <a:ext cx="457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5736D"/>
                </a:solidFill>
                <a:latin typeface="Calibri"/>
                <a:ea typeface="Calibri"/>
                <a:cs typeface="Calibri"/>
              </a:rPr>
              <a:t>InmoInsight Bogotá · IHC Fase 2</a:t>
            </a:r>
            <a:endParaRPr sz="1000"/>
          </a:p>
        </p:txBody>
      </p:sp>
      <p:sp>
        <p:nvSpPr>
          <p:cNvPr id="7" name="Shape 4">
            <a:extLst xmlns:a="http://schemas.openxmlformats.org/drawingml/2006/main">
              <a:ext uri="{FF2B5EF4-FFF2-40B4-BE49-F238E27FC236}">
                <a16:creationId xmlns:a16="http://schemas.microsoft.com/office/drawing/2014/main" id="{E87F2E9D-D6E1-4B76-AEC7-037D31C2B6EB}"/>
              </a:ext>
            </a:extLst>
          </p:cNvPr>
          <p:cNvSpPr>
            <a:spLocks xmlns:a="http://schemas.openxmlformats.org/drawingml/2006/main" noGrp="1"/>
          </p:cNvSpPr>
          <p:nvPr/>
        </p:nvSpPr>
        <p:spPr>
          <a:xfrm xmlns:a="http://schemas.openxmlformats.org/drawingml/2006/main">
            <a:off x="548640" y="1508760"/>
            <a:ext cx="585216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8" name="Text 5">
            <a:extLst xmlns:a="http://schemas.openxmlformats.org/drawingml/2006/main">
              <a:ext uri="{FF2B5EF4-FFF2-40B4-BE49-F238E27FC236}">
                <a16:creationId xmlns:a16="http://schemas.microsoft.com/office/drawing/2014/main" id="{0832C469-987E-4B77-8085-6C091D5788E0}"/>
              </a:ext>
            </a:extLst>
          </p:cNvPr>
          <p:cNvSpPr>
            <a:spLocks xmlns:a="http://schemas.openxmlformats.org/drawingml/2006/main" noGrp="1"/>
          </p:cNvSpPr>
          <p:nvPr/>
        </p:nvSpPr>
        <p:spPr>
          <a:xfrm xmlns:a="http://schemas.openxmlformats.org/drawingml/2006/main">
            <a:off x="777240" y="1508760"/>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925"/>
                </a:solidFill>
                <a:latin typeface="Cambria"/>
                <a:ea typeface="Cambria"/>
                <a:cs typeface="Cambria"/>
              </a:rPr>
              <a:t>Requerimientos</a:t>
            </a:r>
            <a:endParaRPr sz="1600"/>
          </a:p>
        </p:txBody>
      </p:sp>
      <p:sp>
        <p:nvSpPr>
          <p:cNvPr id="9" name="Text 6">
            <a:extLst xmlns:a="http://schemas.openxmlformats.org/drawingml/2006/main">
              <a:ext uri="{FF2B5EF4-FFF2-40B4-BE49-F238E27FC236}">
                <a16:creationId xmlns:a16="http://schemas.microsoft.com/office/drawing/2014/main" id="{18BE98F3-D4C0-4E71-A009-2653976968C3}"/>
              </a:ext>
            </a:extLst>
          </p:cNvPr>
          <p:cNvSpPr>
            <a:spLocks xmlns:a="http://schemas.openxmlformats.org/drawingml/2006/main" noGrp="1"/>
          </p:cNvSpPr>
          <p:nvPr/>
        </p:nvSpPr>
        <p:spPr>
          <a:xfrm xmlns:a="http://schemas.openxmlformats.org/drawingml/2006/main">
            <a:off x="2651760" y="1508760"/>
            <a:ext cx="2286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65736D"/>
                </a:solidFill>
                <a:latin typeface="Calibri"/>
                <a:ea typeface="Calibri"/>
                <a:cs typeface="Calibri"/>
              </a:rPr>
              <a:t>Iteración documental hecha</a:t>
            </a:r>
            <a:endParaRPr sz="1200"/>
          </a:p>
        </p:txBody>
      </p:sp>
      <p:sp>
        <p:nvSpPr>
          <p:cNvPr id="10" name="Text 7">
            <a:extLst xmlns:a="http://schemas.openxmlformats.org/drawingml/2006/main">
              <a:ext uri="{FF2B5EF4-FFF2-40B4-BE49-F238E27FC236}">
                <a16:creationId xmlns:a16="http://schemas.microsoft.com/office/drawing/2014/main" id="{7A00BF78-E5EE-40FD-B06A-6FDE12A2FBF3}"/>
              </a:ext>
            </a:extLst>
          </p:cNvPr>
          <p:cNvSpPr>
            <a:spLocks xmlns:a="http://schemas.openxmlformats.org/drawingml/2006/main" noGrp="1"/>
          </p:cNvSpPr>
          <p:nvPr/>
        </p:nvSpPr>
        <p:spPr>
          <a:xfrm xmlns:a="http://schemas.openxmlformats.org/drawingml/2006/main">
            <a:off x="5212080" y="1764792"/>
            <a:ext cx="1051560" cy="274320"/>
          </a:xfrm>
          <a:prstGeom xmlns:a="http://schemas.openxmlformats.org/drawingml/2006/main" prst="roundRect">
            <a:avLst>
              <a:gd name="adj" fmla="val 50000"/>
            </a:avLst>
          </a:prstGeom>
          <a:solidFill xmlns:a="http://schemas.openxmlformats.org/drawingml/2006/main">
            <a:srgbClr val="E5F2E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76B4B"/>
                </a:solidFill>
                <a:latin typeface="Calibri"/>
                <a:ea typeface="Calibri"/>
                <a:cs typeface="Calibri"/>
              </a:rPr>
              <a:t>Hecho</a:t>
            </a:r>
            <a:endParaRPr sz="1100"/>
          </a:p>
        </p:txBody>
      </p:sp>
      <p:sp>
        <p:nvSpPr>
          <p:cNvPr id="11" name="Shape 8">
            <a:extLst xmlns:a="http://schemas.openxmlformats.org/drawingml/2006/main">
              <a:ext uri="{FF2B5EF4-FFF2-40B4-BE49-F238E27FC236}">
                <a16:creationId xmlns:a16="http://schemas.microsoft.com/office/drawing/2014/main" id="{F7FF88FA-526B-415F-A1DC-58D8674A014B}"/>
              </a:ext>
            </a:extLst>
          </p:cNvPr>
          <p:cNvSpPr>
            <a:spLocks xmlns:a="http://schemas.openxmlformats.org/drawingml/2006/main" noGrp="1"/>
          </p:cNvSpPr>
          <p:nvPr/>
        </p:nvSpPr>
        <p:spPr>
          <a:xfrm xmlns:a="http://schemas.openxmlformats.org/drawingml/2006/main">
            <a:off x="548640" y="2404872"/>
            <a:ext cx="585216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2" name="Text 9">
            <a:extLst xmlns:a="http://schemas.openxmlformats.org/drawingml/2006/main">
              <a:ext uri="{FF2B5EF4-FFF2-40B4-BE49-F238E27FC236}">
                <a16:creationId xmlns:a16="http://schemas.microsoft.com/office/drawing/2014/main" id="{65D7B353-4D9E-4764-964E-6DB60AA25E40}"/>
              </a:ext>
            </a:extLst>
          </p:cNvPr>
          <p:cNvSpPr>
            <a:spLocks xmlns:a="http://schemas.openxmlformats.org/drawingml/2006/main" noGrp="1"/>
          </p:cNvSpPr>
          <p:nvPr/>
        </p:nvSpPr>
        <p:spPr>
          <a:xfrm xmlns:a="http://schemas.openxmlformats.org/drawingml/2006/main">
            <a:off x="777240" y="2404872"/>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925"/>
                </a:solidFill>
                <a:latin typeface="Cambria"/>
                <a:ea typeface="Cambria"/>
                <a:cs typeface="Cambria"/>
              </a:rPr>
              <a:t>Diseño</a:t>
            </a:r>
            <a:endParaRPr sz="1600"/>
          </a:p>
        </p:txBody>
      </p:sp>
      <p:sp>
        <p:nvSpPr>
          <p:cNvPr id="13" name="Text 10">
            <a:extLst xmlns:a="http://schemas.openxmlformats.org/drawingml/2006/main">
              <a:ext uri="{FF2B5EF4-FFF2-40B4-BE49-F238E27FC236}">
                <a16:creationId xmlns:a16="http://schemas.microsoft.com/office/drawing/2014/main" id="{1B1E58F1-73F4-4C54-94F7-55FAC4EDC4A5}"/>
              </a:ext>
            </a:extLst>
          </p:cNvPr>
          <p:cNvSpPr>
            <a:spLocks xmlns:a="http://schemas.openxmlformats.org/drawingml/2006/main" noGrp="1"/>
          </p:cNvSpPr>
          <p:nvPr/>
        </p:nvSpPr>
        <p:spPr>
          <a:xfrm xmlns:a="http://schemas.openxmlformats.org/drawingml/2006/main">
            <a:off x="2651760" y="2404872"/>
            <a:ext cx="2286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65736D"/>
                </a:solidFill>
                <a:latin typeface="Calibri"/>
                <a:ea typeface="Calibri"/>
                <a:cs typeface="Calibri"/>
              </a:rPr>
              <a:t>Primera propuesta hecha</a:t>
            </a:r>
            <a:endParaRPr sz="1200"/>
          </a:p>
        </p:txBody>
      </p:sp>
      <p:sp>
        <p:nvSpPr>
          <p:cNvPr id="14" name="Text 11">
            <a:extLst xmlns:a="http://schemas.openxmlformats.org/drawingml/2006/main">
              <a:ext uri="{FF2B5EF4-FFF2-40B4-BE49-F238E27FC236}">
                <a16:creationId xmlns:a16="http://schemas.microsoft.com/office/drawing/2014/main" id="{949E1AC2-8512-429E-95B2-BE90E81C6C70}"/>
              </a:ext>
            </a:extLst>
          </p:cNvPr>
          <p:cNvSpPr>
            <a:spLocks xmlns:a="http://schemas.openxmlformats.org/drawingml/2006/main" noGrp="1"/>
          </p:cNvSpPr>
          <p:nvPr/>
        </p:nvSpPr>
        <p:spPr>
          <a:xfrm xmlns:a="http://schemas.openxmlformats.org/drawingml/2006/main">
            <a:off x="5212080" y="2660904"/>
            <a:ext cx="1051560" cy="274320"/>
          </a:xfrm>
          <a:prstGeom xmlns:a="http://schemas.openxmlformats.org/drawingml/2006/main" prst="roundRect">
            <a:avLst>
              <a:gd name="adj" fmla="val 50000"/>
            </a:avLst>
          </a:prstGeom>
          <a:solidFill xmlns:a="http://schemas.openxmlformats.org/drawingml/2006/main">
            <a:srgbClr val="E5F2E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76B4B"/>
                </a:solidFill>
                <a:latin typeface="Calibri"/>
                <a:ea typeface="Calibri"/>
                <a:cs typeface="Calibri"/>
              </a:rPr>
              <a:t>Hecho</a:t>
            </a:r>
            <a:endParaRPr sz="1100"/>
          </a:p>
        </p:txBody>
      </p:sp>
      <p:sp>
        <p:nvSpPr>
          <p:cNvPr id="15" name="Shape 12">
            <a:extLst xmlns:a="http://schemas.openxmlformats.org/drawingml/2006/main">
              <a:ext uri="{FF2B5EF4-FFF2-40B4-BE49-F238E27FC236}">
                <a16:creationId xmlns:a16="http://schemas.microsoft.com/office/drawing/2014/main" id="{1F68848A-2A4F-4157-83B7-E417D9B4AC3F}"/>
              </a:ext>
            </a:extLst>
          </p:cNvPr>
          <p:cNvSpPr>
            <a:spLocks xmlns:a="http://schemas.openxmlformats.org/drawingml/2006/main" noGrp="1"/>
          </p:cNvSpPr>
          <p:nvPr/>
        </p:nvSpPr>
        <p:spPr>
          <a:xfrm xmlns:a="http://schemas.openxmlformats.org/drawingml/2006/main">
            <a:off x="548640" y="3300984"/>
            <a:ext cx="585216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16" name="Text 13">
            <a:extLst xmlns:a="http://schemas.openxmlformats.org/drawingml/2006/main">
              <a:ext uri="{FF2B5EF4-FFF2-40B4-BE49-F238E27FC236}">
                <a16:creationId xmlns:a16="http://schemas.microsoft.com/office/drawing/2014/main" id="{39AEEA0E-E762-451F-87B9-796B4126CEF4}"/>
              </a:ext>
            </a:extLst>
          </p:cNvPr>
          <p:cNvSpPr>
            <a:spLocks xmlns:a="http://schemas.openxmlformats.org/drawingml/2006/main" noGrp="1"/>
          </p:cNvSpPr>
          <p:nvPr/>
        </p:nvSpPr>
        <p:spPr>
          <a:xfrm xmlns:a="http://schemas.openxmlformats.org/drawingml/2006/main">
            <a:off x="777240" y="3300984"/>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925"/>
                </a:solidFill>
                <a:latin typeface="Cambria"/>
                <a:ea typeface="Cambria"/>
                <a:cs typeface="Cambria"/>
              </a:rPr>
              <a:t>Prototipado</a:t>
            </a:r>
            <a:endParaRPr sz="1600"/>
          </a:p>
        </p:txBody>
      </p:sp>
      <p:sp>
        <p:nvSpPr>
          <p:cNvPr id="17" name="Text 14">
            <a:extLst xmlns:a="http://schemas.openxmlformats.org/drawingml/2006/main">
              <a:ext uri="{FF2B5EF4-FFF2-40B4-BE49-F238E27FC236}">
                <a16:creationId xmlns:a16="http://schemas.microsoft.com/office/drawing/2014/main" id="{31C42FF5-BA5B-4390-9743-537D3794CEC0}"/>
              </a:ext>
            </a:extLst>
          </p:cNvPr>
          <p:cNvSpPr>
            <a:spLocks xmlns:a="http://schemas.openxmlformats.org/drawingml/2006/main" noGrp="1"/>
          </p:cNvSpPr>
          <p:nvPr/>
        </p:nvSpPr>
        <p:spPr>
          <a:xfrm xmlns:a="http://schemas.openxmlformats.org/drawingml/2006/main">
            <a:off x="2651760" y="3300984"/>
            <a:ext cx="2286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65736D"/>
                </a:solidFill>
                <a:latin typeface="Calibri"/>
                <a:ea typeface="Calibri"/>
                <a:cs typeface="Calibri"/>
              </a:rPr>
              <a:t>10 pantallas, datos simulados</a:t>
            </a:r>
            <a:endParaRPr sz="1200"/>
          </a:p>
        </p:txBody>
      </p:sp>
      <p:sp>
        <p:nvSpPr>
          <p:cNvPr id="18" name="Text 15">
            <a:extLst xmlns:a="http://schemas.openxmlformats.org/drawingml/2006/main">
              <a:ext uri="{FF2B5EF4-FFF2-40B4-BE49-F238E27FC236}">
                <a16:creationId xmlns:a16="http://schemas.microsoft.com/office/drawing/2014/main" id="{E1A73F83-0FC2-4BA7-BC4A-A7AF5874649E}"/>
              </a:ext>
            </a:extLst>
          </p:cNvPr>
          <p:cNvSpPr>
            <a:spLocks xmlns:a="http://schemas.openxmlformats.org/drawingml/2006/main" noGrp="1"/>
          </p:cNvSpPr>
          <p:nvPr/>
        </p:nvSpPr>
        <p:spPr>
          <a:xfrm xmlns:a="http://schemas.openxmlformats.org/drawingml/2006/main">
            <a:off x="5212080" y="3557016"/>
            <a:ext cx="1051560" cy="274320"/>
          </a:xfrm>
          <a:prstGeom xmlns:a="http://schemas.openxmlformats.org/drawingml/2006/main" prst="roundRect">
            <a:avLst>
              <a:gd name="adj" fmla="val 50000"/>
            </a:avLst>
          </a:prstGeom>
          <a:solidFill xmlns:a="http://schemas.openxmlformats.org/drawingml/2006/main">
            <a:srgbClr val="E5F2E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76B4B"/>
                </a:solidFill>
                <a:latin typeface="Calibri"/>
                <a:ea typeface="Calibri"/>
                <a:cs typeface="Calibri"/>
              </a:rPr>
              <a:t>Hecho</a:t>
            </a:r>
            <a:endParaRPr sz="1100"/>
          </a:p>
        </p:txBody>
      </p:sp>
      <p:sp>
        <p:nvSpPr>
          <p:cNvPr id="19" name="Shape 16">
            <a:extLst xmlns:a="http://schemas.openxmlformats.org/drawingml/2006/main">
              <a:ext uri="{FF2B5EF4-FFF2-40B4-BE49-F238E27FC236}">
                <a16:creationId xmlns:a16="http://schemas.microsoft.com/office/drawing/2014/main" id="{7C03C732-7FA8-4F78-BD8C-12AE28F80005}"/>
              </a:ext>
            </a:extLst>
          </p:cNvPr>
          <p:cNvSpPr>
            <a:spLocks xmlns:a="http://schemas.openxmlformats.org/drawingml/2006/main" noGrp="1"/>
          </p:cNvSpPr>
          <p:nvPr/>
        </p:nvSpPr>
        <p:spPr>
          <a:xfrm xmlns:a="http://schemas.openxmlformats.org/drawingml/2006/main">
            <a:off x="548640" y="4197096"/>
            <a:ext cx="585216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0" name="Text 17">
            <a:extLst xmlns:a="http://schemas.openxmlformats.org/drawingml/2006/main">
              <a:ext uri="{FF2B5EF4-FFF2-40B4-BE49-F238E27FC236}">
                <a16:creationId xmlns:a16="http://schemas.microsoft.com/office/drawing/2014/main" id="{334C0C8A-5609-4E49-ABC3-2577189C0E8F}"/>
              </a:ext>
            </a:extLst>
          </p:cNvPr>
          <p:cNvSpPr>
            <a:spLocks xmlns:a="http://schemas.openxmlformats.org/drawingml/2006/main" noGrp="1"/>
          </p:cNvSpPr>
          <p:nvPr/>
        </p:nvSpPr>
        <p:spPr>
          <a:xfrm xmlns:a="http://schemas.openxmlformats.org/drawingml/2006/main">
            <a:off x="777240" y="4197096"/>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925"/>
                </a:solidFill>
                <a:latin typeface="Cambria"/>
                <a:ea typeface="Cambria"/>
                <a:cs typeface="Cambria"/>
              </a:rPr>
              <a:t>Implementación</a:t>
            </a:r>
            <a:endParaRPr sz="1600"/>
          </a:p>
        </p:txBody>
      </p:sp>
      <p:sp>
        <p:nvSpPr>
          <p:cNvPr id="21" name="Text 18">
            <a:extLst xmlns:a="http://schemas.openxmlformats.org/drawingml/2006/main">
              <a:ext uri="{FF2B5EF4-FFF2-40B4-BE49-F238E27FC236}">
                <a16:creationId xmlns:a16="http://schemas.microsoft.com/office/drawing/2014/main" id="{A8CEC8A0-08AF-40F9-9774-242C78BBAA44}"/>
              </a:ext>
            </a:extLst>
          </p:cNvPr>
          <p:cNvSpPr>
            <a:spLocks xmlns:a="http://schemas.openxmlformats.org/drawingml/2006/main" noGrp="1"/>
          </p:cNvSpPr>
          <p:nvPr/>
        </p:nvSpPr>
        <p:spPr>
          <a:xfrm xmlns:a="http://schemas.openxmlformats.org/drawingml/2006/main">
            <a:off x="2651760" y="4197096"/>
            <a:ext cx="2286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65736D"/>
                </a:solidFill>
                <a:latin typeface="Calibri"/>
                <a:ea typeface="Calibri"/>
                <a:cs typeface="Calibri"/>
              </a:rPr>
              <a:t>Solo Tkinter; prototipo no conectado</a:t>
            </a:r>
            <a:endParaRPr sz="1200"/>
          </a:p>
        </p:txBody>
      </p:sp>
      <p:sp>
        <p:nvSpPr>
          <p:cNvPr id="22" name="Text 19">
            <a:extLst xmlns:a="http://schemas.openxmlformats.org/drawingml/2006/main">
              <a:ext uri="{FF2B5EF4-FFF2-40B4-BE49-F238E27FC236}">
                <a16:creationId xmlns:a16="http://schemas.microsoft.com/office/drawing/2014/main" id="{CB31B2B2-B33D-4EAC-B131-28691F70E04C}"/>
              </a:ext>
            </a:extLst>
          </p:cNvPr>
          <p:cNvSpPr>
            <a:spLocks xmlns:a="http://schemas.openxmlformats.org/drawingml/2006/main" noGrp="1"/>
          </p:cNvSpPr>
          <p:nvPr/>
        </p:nvSpPr>
        <p:spPr>
          <a:xfrm xmlns:a="http://schemas.openxmlformats.org/drawingml/2006/main">
            <a:off x="5212080" y="4453128"/>
            <a:ext cx="105156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Pendiente</a:t>
            </a:r>
            <a:endParaRPr sz="1100"/>
          </a:p>
        </p:txBody>
      </p:sp>
      <p:sp>
        <p:nvSpPr>
          <p:cNvPr id="23" name="Shape 20">
            <a:extLst xmlns:a="http://schemas.openxmlformats.org/drawingml/2006/main">
              <a:ext uri="{FF2B5EF4-FFF2-40B4-BE49-F238E27FC236}">
                <a16:creationId xmlns:a16="http://schemas.microsoft.com/office/drawing/2014/main" id="{89DCA030-CE1F-49DF-A354-0E25BA3D4313}"/>
              </a:ext>
            </a:extLst>
          </p:cNvPr>
          <p:cNvSpPr>
            <a:spLocks xmlns:a="http://schemas.openxmlformats.org/drawingml/2006/main" noGrp="1"/>
          </p:cNvSpPr>
          <p:nvPr/>
        </p:nvSpPr>
        <p:spPr>
          <a:xfrm xmlns:a="http://schemas.openxmlformats.org/drawingml/2006/main">
            <a:off x="548640" y="5093208"/>
            <a:ext cx="585216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4" name="Text 21">
            <a:extLst xmlns:a="http://schemas.openxmlformats.org/drawingml/2006/main">
              <a:ext uri="{FF2B5EF4-FFF2-40B4-BE49-F238E27FC236}">
                <a16:creationId xmlns:a16="http://schemas.microsoft.com/office/drawing/2014/main" id="{3073DB05-8B40-4D01-AC8A-8EBF94F88DA2}"/>
              </a:ext>
            </a:extLst>
          </p:cNvPr>
          <p:cNvSpPr>
            <a:spLocks xmlns:a="http://schemas.openxmlformats.org/drawingml/2006/main" noGrp="1"/>
          </p:cNvSpPr>
          <p:nvPr/>
        </p:nvSpPr>
        <p:spPr>
          <a:xfrm xmlns:a="http://schemas.openxmlformats.org/drawingml/2006/main">
            <a:off x="777240" y="5093208"/>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925"/>
                </a:solidFill>
                <a:latin typeface="Cambria"/>
                <a:ea typeface="Cambria"/>
                <a:cs typeface="Cambria"/>
              </a:rPr>
              <a:t>Verificación</a:t>
            </a:r>
            <a:endParaRPr sz="1600"/>
          </a:p>
        </p:txBody>
      </p:sp>
      <p:sp>
        <p:nvSpPr>
          <p:cNvPr id="25" name="Text 22">
            <a:extLst xmlns:a="http://schemas.openxmlformats.org/drawingml/2006/main">
              <a:ext uri="{FF2B5EF4-FFF2-40B4-BE49-F238E27FC236}">
                <a16:creationId xmlns:a16="http://schemas.microsoft.com/office/drawing/2014/main" id="{E41053F3-3792-4CC8-A482-1D6E0AF74365}"/>
              </a:ext>
            </a:extLst>
          </p:cNvPr>
          <p:cNvSpPr>
            <a:spLocks xmlns:a="http://schemas.openxmlformats.org/drawingml/2006/main" noGrp="1"/>
          </p:cNvSpPr>
          <p:nvPr/>
        </p:nvSpPr>
        <p:spPr>
          <a:xfrm xmlns:a="http://schemas.openxmlformats.org/drawingml/2006/main">
            <a:off x="2651760" y="5093208"/>
            <a:ext cx="2286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65736D"/>
                </a:solidFill>
                <a:latin typeface="Calibri"/>
                <a:ea typeface="Calibri"/>
                <a:cs typeface="Calibri"/>
              </a:rPr>
              <a:t>Heurística hecha; prueba pendiente</a:t>
            </a:r>
            <a:endParaRPr sz="1200"/>
          </a:p>
        </p:txBody>
      </p:sp>
      <p:sp>
        <p:nvSpPr>
          <p:cNvPr id="26" name="Text 23">
            <a:extLst xmlns:a="http://schemas.openxmlformats.org/drawingml/2006/main">
              <a:ext uri="{FF2B5EF4-FFF2-40B4-BE49-F238E27FC236}">
                <a16:creationId xmlns:a16="http://schemas.microsoft.com/office/drawing/2014/main" id="{DC50888D-D5C8-46A8-8B27-46277542AB0B}"/>
              </a:ext>
            </a:extLst>
          </p:cNvPr>
          <p:cNvSpPr>
            <a:spLocks xmlns:a="http://schemas.openxmlformats.org/drawingml/2006/main" noGrp="1"/>
          </p:cNvSpPr>
          <p:nvPr/>
        </p:nvSpPr>
        <p:spPr>
          <a:xfrm xmlns:a="http://schemas.openxmlformats.org/drawingml/2006/main">
            <a:off x="5212080" y="5349240"/>
            <a:ext cx="1051560" cy="274320"/>
          </a:xfrm>
          <a:prstGeom xmlns:a="http://schemas.openxmlformats.org/drawingml/2006/main" prst="roundRect">
            <a:avLst>
              <a:gd name="adj" fmla="val 50000"/>
            </a:avLst>
          </a:prstGeom>
          <a:solidFill xmlns:a="http://schemas.openxmlformats.org/drawingml/2006/main">
            <a:srgbClr val="FFF0E6"/>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A65022"/>
                </a:solidFill>
                <a:latin typeface="Calibri"/>
                <a:ea typeface="Calibri"/>
                <a:cs typeface="Calibri"/>
              </a:rPr>
              <a:t>Pendiente</a:t>
            </a:r>
            <a:endParaRPr sz="1100"/>
          </a:p>
        </p:txBody>
      </p:sp>
      <p:sp>
        <p:nvSpPr>
          <p:cNvPr id="27" name="Shape 24">
            <a:extLst xmlns:a="http://schemas.openxmlformats.org/drawingml/2006/main">
              <a:ext uri="{FF2B5EF4-FFF2-40B4-BE49-F238E27FC236}">
                <a16:creationId xmlns:a16="http://schemas.microsoft.com/office/drawing/2014/main" id="{E420A4C2-841E-4212-B2BB-CD869D5A29F5}"/>
              </a:ext>
            </a:extLst>
          </p:cNvPr>
          <p:cNvSpPr>
            <a:spLocks xmlns:a="http://schemas.openxmlformats.org/drawingml/2006/main" noGrp="1"/>
          </p:cNvSpPr>
          <p:nvPr/>
        </p:nvSpPr>
        <p:spPr>
          <a:xfrm xmlns:a="http://schemas.openxmlformats.org/drawingml/2006/main">
            <a:off x="6675120" y="1508760"/>
            <a:ext cx="4937760" cy="4343400"/>
          </a:xfrm>
          <a:prstGeom xmlns:a="http://schemas.openxmlformats.org/drawingml/2006/main" prst="roundRect">
            <a:avLst>
              <a:gd name="adj" fmla="val 1684"/>
            </a:avLst>
          </a:prstGeom>
          <a:solidFill xmlns:a="http://schemas.openxmlformats.org/drawingml/2006/main">
            <a:srgbClr val="18392D"/>
          </a:solidFill>
          <a:ln xmlns:a="http://schemas.openxmlformats.org/drawingml/2006/main" w="9525">
            <a:solidFill>
              <a:srgbClr val="D9E1DC"/>
            </a:solidFill>
            <a:prstDash val="solid"/>
          </a:ln>
          <a:effectLst xmlns:a="http://schemas.openxmlformats.org/drawingml/2006/main">
            <a:outerShdw blurRad="76200" dist="25400" dir="5400000" sx="100000" sy="100000" kx="0" ky="0" algn="bl" rotWithShape="0">
              <a:srgbClr val="000000">
                <a:alpha val="10000"/>
              </a:srgbClr>
            </a:outerShdw>
          </a:effectLst>
        </p:spPr>
      </p:sp>
      <p:sp>
        <p:nvSpPr>
          <p:cNvPr id="28" name="Text 25">
            <a:extLst xmlns:a="http://schemas.openxmlformats.org/drawingml/2006/main">
              <a:ext uri="{FF2B5EF4-FFF2-40B4-BE49-F238E27FC236}">
                <a16:creationId xmlns:a16="http://schemas.microsoft.com/office/drawing/2014/main" id="{BE29848E-16C6-4415-A12B-3EA41C5B97CC}"/>
              </a:ext>
            </a:extLst>
          </p:cNvPr>
          <p:cNvSpPr>
            <a:spLocks xmlns:a="http://schemas.openxmlformats.org/drawingml/2006/main" noGrp="1"/>
          </p:cNvSpPr>
          <p:nvPr/>
        </p:nvSpPr>
        <p:spPr>
          <a:xfrm xmlns:a="http://schemas.openxmlformats.org/drawingml/2006/main">
            <a:off x="6949440" y="1691640"/>
            <a:ext cx="4389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D6A64A"/>
                </a:solidFill>
                <a:latin typeface="Cambria"/>
                <a:ea typeface="Cambria"/>
                <a:cs typeface="Cambria"/>
              </a:rPr>
              <a:t>Hoja de ruta</a:t>
            </a:r>
            <a:endParaRPr sz="2000"/>
          </a:p>
        </p:txBody>
      </p:sp>
      <p:sp>
        <p:nvSpPr>
          <p:cNvPr id="29" name="Text 26">
            <a:extLst xmlns:a="http://schemas.openxmlformats.org/drawingml/2006/main">
              <a:ext uri="{FF2B5EF4-FFF2-40B4-BE49-F238E27FC236}">
                <a16:creationId xmlns:a16="http://schemas.microsoft.com/office/drawing/2014/main" id="{C0E5F73F-5C03-47C7-A375-F1892DCAC04F}"/>
              </a:ext>
            </a:extLst>
          </p:cNvPr>
          <p:cNvSpPr>
            <a:spLocks xmlns:a="http://schemas.openxmlformats.org/drawingml/2006/main" noGrp="1"/>
          </p:cNvSpPr>
          <p:nvPr/>
        </p:nvSpPr>
        <p:spPr>
          <a:xfrm xmlns:a="http://schemas.openxmlformats.org/drawingml/2006/main">
            <a:off x="6949440" y="2286000"/>
            <a:ext cx="438912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200"/>
              </a:spcAft>
              <a:buNone/>
            </a:pPr>
            <a:r>
              <a:rPr sz="1600">
                <a:solidFill>
                  <a:srgbClr val="FFFFFF"/>
                </a:solidFill>
                <a:latin typeface="Calibri"/>
                <a:ea typeface="Calibri"/>
                <a:cs typeface="Calibri"/>
              </a:rPr>
              <a:t>1. Entrevistar a tres personas voluntarias</a:t>
            </a:r>
            <a:endParaRPr sz="1600"/>
          </a:p>
          <a:p xmlns:a="http://schemas.openxmlformats.org/drawingml/2006/main">
            <a:pPr marL="0" indent="0">
              <a:spcAft>
                <a:spcPts val="1200"/>
              </a:spcAft>
              <a:buNone/>
            </a:pPr>
            <a:r>
              <a:rPr sz="1600">
                <a:solidFill>
                  <a:srgbClr val="FFFFFF"/>
                </a:solidFill>
                <a:latin typeface="Calibri"/>
                <a:ea typeface="Calibri"/>
                <a:cs typeface="Calibri"/>
              </a:rPr>
              <a:t>2. Ejecutar la prueba moderada con T1, T2 y T3</a:t>
            </a:r>
            <a:endParaRPr sz="1600"/>
          </a:p>
          <a:p xmlns:a="http://schemas.openxmlformats.org/drawingml/2006/main">
            <a:pPr marL="0" indent="0">
              <a:spcAft>
                <a:spcPts val="1200"/>
              </a:spcAft>
              <a:buNone/>
            </a:pPr>
            <a:r>
              <a:rPr sz="1600">
                <a:solidFill>
                  <a:srgbClr val="FFFFFF"/>
                </a:solidFill>
                <a:latin typeface="Calibri"/>
                <a:ea typeface="Calibri"/>
                <a:cs typeface="Calibri"/>
              </a:rPr>
              <a:t>3. Iterar M4, M5 y M6 y revalidar con el mismo guion</a:t>
            </a:r>
            <a:endParaRPr sz="1600"/>
          </a:p>
          <a:p xmlns:a="http://schemas.openxmlformats.org/drawingml/2006/main">
            <a:pPr marL="0" indent="0">
              <a:spcAft>
                <a:spcPts val="1200"/>
              </a:spcAft>
              <a:buNone/>
            </a:pPr>
            <a:r>
              <a:rPr sz="1600">
                <a:solidFill>
                  <a:srgbClr val="FFFFFF"/>
                </a:solidFill>
                <a:latin typeface="Calibri"/>
                <a:ea typeface="Calibri"/>
                <a:cs typeface="Calibri"/>
              </a:rPr>
              <a:t>4. Decidir integración con Tkinter o una interfaz cliente</a:t>
            </a:r>
            <a:endParaRPr sz="1600"/>
          </a:p>
          <a:p xmlns:a="http://schemas.openxmlformats.org/drawingml/2006/main">
            <a:pPr marL="0" indent="0">
              <a:spcAft>
                <a:spcPts val="1200"/>
              </a:spcAft>
              <a:buNone/>
            </a:pPr>
            <a:r>
              <a:rPr sz="1600">
                <a:solidFill>
                  <a:srgbClr val="FFFFFF"/>
                </a:solidFill>
                <a:latin typeface="Calibri"/>
                <a:ea typeface="Calibri"/>
                <a:cs typeface="Calibri"/>
              </a:rPr>
              <a:t>5. Publicar el prototipo y exportar el informe a PDF</a:t>
            </a:r>
            <a:endParaRPr sz="1600"/>
          </a:p>
        </p:txBody>
      </p:sp>
    </p:spTree>
    <p:extLst>
      <p:ext uri="{BB962C8B-B14F-4D97-AF65-F5344CB8AC3E}">
        <p14:creationId xmlns:p14="http://schemas.microsoft.com/office/powerpoint/2010/main" val="286145702"/>
      </p:ext>
    </p:extLst>
  </p:cSld>
</p:sld>
</file>

<file path=ppt/slides/slide13.xml><?xml version="1.0" encoding="utf-8"?>
<p:sld xmlns:p="http://schemas.openxmlformats.org/presentationml/2006/main">
  <p:cSld>
    <p:bg>
      <p:bgPr>
        <a:solidFill xmlns:a="http://schemas.openxmlformats.org/drawingml/2006/main">
          <a:srgbClr val="18392D"/>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B9E31C-FEBD-4E9B-80C0-607AE0E09EF7}"/>
              </a:ext>
            </a:extLst>
          </p:cNvPr>
          <p:cNvSpPr>
            <a:spLocks xmlns:a="http://schemas.openxmlformats.org/drawingml/2006/main" noGrp="1"/>
          </p:cNvSpPr>
          <p:nvPr/>
        </p:nvSpPr>
        <p:spPr>
          <a:xfrm xmlns:a="http://schemas.openxmlformats.org/drawingml/2006/main">
            <a:off x="640080" y="4572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D6A64A"/>
                </a:solidFill>
                <a:latin typeface="Calibri"/>
                <a:ea typeface="Calibri"/>
                <a:cs typeface="Calibri"/>
              </a:rPr>
              <a:t>CONCLUSIONES</a:t>
            </a:r>
            <a:endParaRPr sz="1200"/>
          </a:p>
        </p:txBody>
      </p:sp>
      <p:sp>
        <p:nvSpPr>
          <p:cNvPr id="3" name="Text 1">
            <a:extLst xmlns:a="http://schemas.openxmlformats.org/drawingml/2006/main">
              <a:ext uri="{FF2B5EF4-FFF2-40B4-BE49-F238E27FC236}">
                <a16:creationId xmlns:a16="http://schemas.microsoft.com/office/drawing/2014/main" id="{8B4F8EA6-88D2-45F6-874C-3501D198308E}"/>
              </a:ext>
            </a:extLst>
          </p:cNvPr>
          <p:cNvSpPr>
            <a:spLocks xmlns:a="http://schemas.openxmlformats.org/drawingml/2006/main" noGrp="1"/>
          </p:cNvSpPr>
          <p:nvPr/>
        </p:nvSpPr>
        <p:spPr>
          <a:xfrm xmlns:a="http://schemas.openxmlformats.org/drawingml/2006/main">
            <a:off x="640080" y="7772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Cambria"/>
                <a:ea typeface="Cambria"/>
                <a:cs typeface="Cambria"/>
              </a:rPr>
              <a:t>Lo que aprendimos y lo que falta</a:t>
            </a:r>
            <a:endParaRPr sz="3400"/>
          </a:p>
        </p:txBody>
      </p:sp>
      <p:sp>
        <p:nvSpPr>
          <p:cNvPr id="4" name="Shape 2">
            <a:extLst xmlns:a="http://schemas.openxmlformats.org/drawingml/2006/main">
              <a:ext uri="{FF2B5EF4-FFF2-40B4-BE49-F238E27FC236}">
                <a16:creationId xmlns:a16="http://schemas.microsoft.com/office/drawing/2014/main" id="{A0A9361C-45B0-4B69-A6CF-18BB13B6ECCF}"/>
              </a:ext>
            </a:extLst>
          </p:cNvPr>
          <p:cNvSpPr>
            <a:spLocks xmlns:a="http://schemas.openxmlformats.org/drawingml/2006/main" noGrp="1"/>
          </p:cNvSpPr>
          <p:nvPr/>
        </p:nvSpPr>
        <p:spPr>
          <a:xfrm xmlns:a="http://schemas.openxmlformats.org/drawingml/2006/main">
            <a:off x="640080" y="1828800"/>
            <a:ext cx="3520440" cy="2926080"/>
          </a:xfrm>
          <a:prstGeom xmlns:a="http://schemas.openxmlformats.org/drawingml/2006/main" prst="roundRect">
            <a:avLst>
              <a:gd name="adj" fmla="val 3125"/>
            </a:avLst>
          </a:prstGeom>
          <a:solidFill xmlns:a="http://schemas.openxmlformats.org/drawingml/2006/main">
            <a:srgbClr val="22483A"/>
          </a:solidFill>
          <a:ln xmlns:a="http://schemas.openxmlformats.org/drawingml/2006/main" w="9525">
            <a:solidFill>
              <a:srgbClr val="416151"/>
            </a:solidFill>
            <a:prstDash val="solid"/>
          </a:ln>
        </p:spPr>
      </p:sp>
      <p:sp>
        <p:nvSpPr>
          <p:cNvPr id="5" name="Text 3">
            <a:extLst xmlns:a="http://schemas.openxmlformats.org/drawingml/2006/main">
              <a:ext uri="{FF2B5EF4-FFF2-40B4-BE49-F238E27FC236}">
                <a16:creationId xmlns:a16="http://schemas.microsoft.com/office/drawing/2014/main" id="{EEAFA248-DF75-4195-A7EB-64B73AF2423F}"/>
              </a:ext>
            </a:extLst>
          </p:cNvPr>
          <p:cNvSpPr>
            <a:spLocks xmlns:a="http://schemas.openxmlformats.org/drawingml/2006/main" noGrp="1"/>
          </p:cNvSpPr>
          <p:nvPr/>
        </p:nvSpPr>
        <p:spPr>
          <a:xfrm xmlns:a="http://schemas.openxmlformats.org/drawingml/2006/main">
            <a:off x="914400" y="2057400"/>
            <a:ext cx="3017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D6A64A"/>
                </a:solidFill>
                <a:latin typeface="Cambria"/>
                <a:ea typeface="Cambria"/>
                <a:cs typeface="Cambria"/>
              </a:rPr>
              <a:t>Aprendimos del sistema</a:t>
            </a:r>
            <a:endParaRPr sz="1900"/>
          </a:p>
        </p:txBody>
      </p:sp>
      <p:sp>
        <p:nvSpPr>
          <p:cNvPr id="6" name="Text 4">
            <a:extLst xmlns:a="http://schemas.openxmlformats.org/drawingml/2006/main">
              <a:ext uri="{FF2B5EF4-FFF2-40B4-BE49-F238E27FC236}">
                <a16:creationId xmlns:a16="http://schemas.microsoft.com/office/drawing/2014/main" id="{57B2EC06-5A0A-47E9-855E-BB0FF7CD05F7}"/>
              </a:ext>
            </a:extLst>
          </p:cNvPr>
          <p:cNvSpPr>
            <a:spLocks xmlns:a="http://schemas.openxmlformats.org/drawingml/2006/main" noGrp="1"/>
          </p:cNvSpPr>
          <p:nvPr/>
        </p:nvSpPr>
        <p:spPr>
          <a:xfrm xmlns:a="http://schemas.openxmlformats.org/drawingml/2006/main">
            <a:off x="914400" y="2788920"/>
            <a:ext cx="301752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DBE8E0"/>
                </a:solidFill>
                <a:latin typeface="Calibri"/>
                <a:ea typeface="Calibri"/>
                <a:cs typeface="Calibri"/>
              </a:rPr>
              <a:t>El flujo real exige seis campos y cuatro etapas de control; los ejemplos de la interfaz deben coincidir con lo que el cargador admite.</a:t>
            </a:r>
            <a:endParaRPr sz="1500"/>
          </a:p>
        </p:txBody>
      </p:sp>
      <p:sp>
        <p:nvSpPr>
          <p:cNvPr id="7" name="Shape 5">
            <a:extLst xmlns:a="http://schemas.openxmlformats.org/drawingml/2006/main">
              <a:ext uri="{FF2B5EF4-FFF2-40B4-BE49-F238E27FC236}">
                <a16:creationId xmlns:a16="http://schemas.microsoft.com/office/drawing/2014/main" id="{BB4657C3-FBEF-457B-88D2-EDA725BB49AA}"/>
              </a:ext>
            </a:extLst>
          </p:cNvPr>
          <p:cNvSpPr>
            <a:spLocks xmlns:a="http://schemas.openxmlformats.org/drawingml/2006/main" noGrp="1"/>
          </p:cNvSpPr>
          <p:nvPr/>
        </p:nvSpPr>
        <p:spPr>
          <a:xfrm xmlns:a="http://schemas.openxmlformats.org/drawingml/2006/main">
            <a:off x="4343400" y="1828800"/>
            <a:ext cx="3520440" cy="2926080"/>
          </a:xfrm>
          <a:prstGeom xmlns:a="http://schemas.openxmlformats.org/drawingml/2006/main" prst="roundRect">
            <a:avLst>
              <a:gd name="adj" fmla="val 3125"/>
            </a:avLst>
          </a:prstGeom>
          <a:solidFill xmlns:a="http://schemas.openxmlformats.org/drawingml/2006/main">
            <a:srgbClr val="22483A"/>
          </a:solidFill>
          <a:ln xmlns:a="http://schemas.openxmlformats.org/drawingml/2006/main" w="9525">
            <a:solidFill>
              <a:srgbClr val="416151"/>
            </a:solidFill>
            <a:prstDash val="solid"/>
          </a:ln>
        </p:spPr>
      </p:sp>
      <p:sp>
        <p:nvSpPr>
          <p:cNvPr id="8" name="Text 6">
            <a:extLst xmlns:a="http://schemas.openxmlformats.org/drawingml/2006/main">
              <a:ext uri="{FF2B5EF4-FFF2-40B4-BE49-F238E27FC236}">
                <a16:creationId xmlns:a16="http://schemas.microsoft.com/office/drawing/2014/main" id="{FE422AF8-B0C8-4822-B363-EB41E92D9F4A}"/>
              </a:ext>
            </a:extLst>
          </p:cNvPr>
          <p:cNvSpPr>
            <a:spLocks xmlns:a="http://schemas.openxmlformats.org/drawingml/2006/main" noGrp="1"/>
          </p:cNvSpPr>
          <p:nvPr/>
        </p:nvSpPr>
        <p:spPr>
          <a:xfrm xmlns:a="http://schemas.openxmlformats.org/drawingml/2006/main">
            <a:off x="4617720" y="2057400"/>
            <a:ext cx="3017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D6A64A"/>
                </a:solidFill>
                <a:latin typeface="Cambria"/>
                <a:ea typeface="Cambria"/>
                <a:cs typeface="Cambria"/>
              </a:rPr>
              <a:t>Corregimos supuestos</a:t>
            </a:r>
            <a:endParaRPr sz="1900"/>
          </a:p>
        </p:txBody>
      </p:sp>
      <p:sp>
        <p:nvSpPr>
          <p:cNvPr id="9" name="Text 7">
            <a:extLst xmlns:a="http://schemas.openxmlformats.org/drawingml/2006/main">
              <a:ext uri="{FF2B5EF4-FFF2-40B4-BE49-F238E27FC236}">
                <a16:creationId xmlns:a16="http://schemas.microsoft.com/office/drawing/2014/main" id="{2B357874-8992-4379-80CD-4716924C9EFC}"/>
              </a:ext>
            </a:extLst>
          </p:cNvPr>
          <p:cNvSpPr>
            <a:spLocks xmlns:a="http://schemas.openxmlformats.org/drawingml/2006/main" noGrp="1"/>
          </p:cNvSpPr>
          <p:nvPr/>
        </p:nvSpPr>
        <p:spPr>
          <a:xfrm xmlns:a="http://schemas.openxmlformats.org/drawingml/2006/main">
            <a:off x="4617720" y="2788920"/>
            <a:ext cx="301752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DBE8E0"/>
                </a:solidFill>
                <a:latin typeface="Calibri"/>
                <a:ea typeface="Calibri"/>
                <a:cs typeface="Calibri"/>
              </a:rPr>
              <a:t>El primer borrador omitía baños, usaba alias no reconocidos y sugería validar contenido cuando solo se revisaba el formato.</a:t>
            </a:r>
            <a:endParaRPr sz="1500"/>
          </a:p>
        </p:txBody>
      </p:sp>
      <p:sp>
        <p:nvSpPr>
          <p:cNvPr id="10" name="Shape 8">
            <a:extLst xmlns:a="http://schemas.openxmlformats.org/drawingml/2006/main">
              <a:ext uri="{FF2B5EF4-FFF2-40B4-BE49-F238E27FC236}">
                <a16:creationId xmlns:a16="http://schemas.microsoft.com/office/drawing/2014/main" id="{807DE558-7F29-4F94-A535-687FF238970F}"/>
              </a:ext>
            </a:extLst>
          </p:cNvPr>
          <p:cNvSpPr>
            <a:spLocks xmlns:a="http://schemas.openxmlformats.org/drawingml/2006/main" noGrp="1"/>
          </p:cNvSpPr>
          <p:nvPr/>
        </p:nvSpPr>
        <p:spPr>
          <a:xfrm xmlns:a="http://schemas.openxmlformats.org/drawingml/2006/main">
            <a:off x="8046720" y="1828800"/>
            <a:ext cx="3520440" cy="2926080"/>
          </a:xfrm>
          <a:prstGeom xmlns:a="http://schemas.openxmlformats.org/drawingml/2006/main" prst="roundRect">
            <a:avLst>
              <a:gd name="adj" fmla="val 3125"/>
            </a:avLst>
          </a:prstGeom>
          <a:solidFill xmlns:a="http://schemas.openxmlformats.org/drawingml/2006/main">
            <a:srgbClr val="22483A"/>
          </a:solidFill>
          <a:ln xmlns:a="http://schemas.openxmlformats.org/drawingml/2006/main" w="9525">
            <a:solidFill>
              <a:srgbClr val="416151"/>
            </a:solidFill>
            <a:prstDash val="solid"/>
          </a:ln>
        </p:spPr>
      </p:sp>
      <p:sp>
        <p:nvSpPr>
          <p:cNvPr id="11" name="Text 9">
            <a:extLst xmlns:a="http://schemas.openxmlformats.org/drawingml/2006/main">
              <a:ext uri="{FF2B5EF4-FFF2-40B4-BE49-F238E27FC236}">
                <a16:creationId xmlns:a16="http://schemas.microsoft.com/office/drawing/2014/main" id="{DFC3F5E9-B652-43C9-86DD-826AF8F4D93F}"/>
              </a:ext>
            </a:extLst>
          </p:cNvPr>
          <p:cNvSpPr>
            <a:spLocks xmlns:a="http://schemas.openxmlformats.org/drawingml/2006/main" noGrp="1"/>
          </p:cNvSpPr>
          <p:nvPr/>
        </p:nvSpPr>
        <p:spPr>
          <a:xfrm xmlns:a="http://schemas.openxmlformats.org/drawingml/2006/main">
            <a:off x="8321040" y="2057400"/>
            <a:ext cx="3017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b="1">
                <a:solidFill>
                  <a:srgbClr val="D6A64A"/>
                </a:solidFill>
                <a:latin typeface="Cambria"/>
                <a:ea typeface="Cambria"/>
                <a:cs typeface="Cambria"/>
              </a:rPr>
              <a:t>Falta la voz de las personas</a:t>
            </a:r>
            <a:endParaRPr sz="1900"/>
          </a:p>
        </p:txBody>
      </p:sp>
      <p:sp>
        <p:nvSpPr>
          <p:cNvPr id="12" name="Text 10">
            <a:extLst xmlns:a="http://schemas.openxmlformats.org/drawingml/2006/main">
              <a:ext uri="{FF2B5EF4-FFF2-40B4-BE49-F238E27FC236}">
                <a16:creationId xmlns:a16="http://schemas.microsoft.com/office/drawing/2014/main" id="{02BD11BF-B38E-47FB-B0AE-9839F70E1E53}"/>
              </a:ext>
            </a:extLst>
          </p:cNvPr>
          <p:cNvSpPr>
            <a:spLocks xmlns:a="http://schemas.openxmlformats.org/drawingml/2006/main" noGrp="1"/>
          </p:cNvSpPr>
          <p:nvPr/>
        </p:nvSpPr>
        <p:spPr>
          <a:xfrm xmlns:a="http://schemas.openxmlformats.org/drawingml/2006/main">
            <a:off x="8321040" y="2788920"/>
            <a:ext cx="301752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DBE8E0"/>
                </a:solidFill>
                <a:latin typeface="Calibri"/>
                <a:ea typeface="Calibri"/>
                <a:cs typeface="Calibri"/>
              </a:rPr>
              <a:t>Entrevistas y prueba con tres voluntarios definirán qué necesidades son compartidas y qué mejoras funcionan.</a:t>
            </a:r>
            <a:endParaRPr sz="1500"/>
          </a:p>
        </p:txBody>
      </p:sp>
      <p:sp>
        <p:nvSpPr>
          <p:cNvPr id="13" name="Text 11">
            <a:extLst xmlns:a="http://schemas.openxmlformats.org/drawingml/2006/main">
              <a:ext uri="{FF2B5EF4-FFF2-40B4-BE49-F238E27FC236}">
                <a16:creationId xmlns:a16="http://schemas.microsoft.com/office/drawing/2014/main" id="{23B6B5D0-F6B4-4A04-8EA4-C4377435E855}"/>
              </a:ext>
            </a:extLst>
          </p:cNvPr>
          <p:cNvSpPr>
            <a:spLocks xmlns:a="http://schemas.openxmlformats.org/drawingml/2006/main" noGrp="1"/>
          </p:cNvSpPr>
          <p:nvPr/>
        </p:nvSpPr>
        <p:spPr>
          <a:xfrm xmlns:a="http://schemas.openxmlformats.org/drawingml/2006/main">
            <a:off x="640080" y="5212080"/>
            <a:ext cx="7315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FFFFFF"/>
                </a:solidFill>
                <a:latin typeface="Cambria"/>
                <a:ea typeface="Cambria"/>
                <a:cs typeface="Cambria"/>
              </a:rPr>
              <a:t>¿Preguntas o comentarios?</a:t>
            </a:r>
            <a:endParaRPr sz="3000"/>
          </a:p>
        </p:txBody>
      </p:sp>
      <p:sp>
        <p:nvSpPr>
          <p:cNvPr id="14" name="Text 12">
            <a:extLst xmlns:a="http://schemas.openxmlformats.org/drawingml/2006/main">
              <a:ext uri="{FF2B5EF4-FFF2-40B4-BE49-F238E27FC236}">
                <a16:creationId xmlns:a16="http://schemas.microsoft.com/office/drawing/2014/main" id="{6CAA34D3-6695-426C-8C10-9290B85FAE3E}"/>
              </a:ext>
            </a:extLst>
          </p:cNvPr>
          <p:cNvSpPr>
            <a:spLocks xmlns:a="http://schemas.openxmlformats.org/drawingml/2006/main" noGrp="1"/>
          </p:cNvSpPr>
          <p:nvPr/>
        </p:nvSpPr>
        <p:spPr>
          <a:xfrm xmlns:a="http://schemas.openxmlformats.org/drawingml/2006/main">
            <a:off x="640080" y="59436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B7C9BF"/>
                </a:solidFill>
                <a:latin typeface="Calibri"/>
                <a:ea typeface="Calibri"/>
                <a:cs typeface="Calibri"/>
              </a:rPr>
              <a:t>Adán Y. Sánchez Cubillos · Sara Sofía Crespo Lerma</a:t>
            </a:r>
            <a:endParaRPr sz="1400"/>
          </a:p>
        </p:txBody>
      </p:sp>
    </p:spTree>
    <p:extLst>
      <p:ext uri="{BB962C8B-B14F-4D97-AF65-F5344CB8AC3E}">
        <p14:creationId xmlns:p14="http://schemas.microsoft.com/office/powerpoint/2010/main" val="556410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2026-09-30T14:19:28.8350000Z</dcterms:created>
  <dcterms:modified xsi:type="dcterms:W3CDTF">2026-09-30T14:19:28.8350000Z</dcterms:modified>
</coreProperties>
</file>